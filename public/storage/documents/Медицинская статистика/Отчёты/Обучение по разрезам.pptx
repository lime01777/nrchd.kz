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9"/>
  </p:notesMasterIdLst>
  <p:sldIdLst>
    <p:sldId id="256" r:id="rId3"/>
    <p:sldId id="521" r:id="rId4"/>
    <p:sldId id="522" r:id="rId5"/>
    <p:sldId id="517" r:id="rId6"/>
    <p:sldId id="518" r:id="rId7"/>
    <p:sldId id="519" r:id="rId8"/>
    <p:sldId id="520" r:id="rId9"/>
    <p:sldId id="527" r:id="rId10"/>
    <p:sldId id="525" r:id="rId11"/>
    <p:sldId id="528" r:id="rId12"/>
    <p:sldId id="526" r:id="rId13"/>
    <p:sldId id="523" r:id="rId14"/>
    <p:sldId id="531" r:id="rId15"/>
    <p:sldId id="529" r:id="rId16"/>
    <p:sldId id="530" r:id="rId17"/>
    <p:sldId id="282" r:id="rId1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A676D3-AA70-4EAC-B793-01C971B12291}">
  <a:tblStyle styleId="{A4A676D3-AA70-4EAC-B793-01C971B122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FCE09A8-1ABB-4BF1-940A-B03786C99DA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80993" autoAdjust="0"/>
  </p:normalViewPr>
  <p:slideViewPr>
    <p:cSldViewPr snapToGrid="0">
      <p:cViewPr varScale="1">
        <p:scale>
          <a:sx n="118" d="100"/>
          <a:sy n="118" d="100"/>
        </p:scale>
        <p:origin x="142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c7e4bc483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g2ac7e4bc483_1_82:notes"/>
          <p:cNvSpPr txBox="1">
            <a:spLocks noGrp="1"/>
          </p:cNvSpPr>
          <p:nvPr>
            <p:ph type="body" idx="1"/>
          </p:nvPr>
        </p:nvSpPr>
        <p:spPr>
          <a:xfrm>
            <a:off x="686458" y="4343507"/>
            <a:ext cx="5486181" cy="411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25" tIns="46000" rIns="92025" bIns="4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2ac7e4bc483_1_82:notes"/>
          <p:cNvSpPr txBox="1">
            <a:spLocks noGrp="1"/>
          </p:cNvSpPr>
          <p:nvPr>
            <p:ph type="sldNum" idx="12"/>
          </p:nvPr>
        </p:nvSpPr>
        <p:spPr>
          <a:xfrm>
            <a:off x="3885177" y="8684879"/>
            <a:ext cx="2971727" cy="45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25" tIns="46000" rIns="92025" bIns="46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2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2124778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3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103570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4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6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2676540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7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365108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8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71639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9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3250873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10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1370393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11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2247473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12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2072637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13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2594874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14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367392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ID4096" sz="1200" b="1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B53E-132C-4166-AEED-3BE508638F2D}" type="slidenum">
              <a:rPr lang="ru-RU" altLang="ru-RU" sz="1200" smtClean="0"/>
              <a:pPr/>
              <a:t>15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1017388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acd4a7fb11_2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2" name="Google Shape;862;g2acd4a7fb11_23_0:notes"/>
          <p:cNvSpPr txBox="1">
            <a:spLocks noGrp="1"/>
          </p:cNvSpPr>
          <p:nvPr>
            <p:ph type="body" idx="1"/>
          </p:nvPr>
        </p:nvSpPr>
        <p:spPr>
          <a:xfrm>
            <a:off x="686458" y="4343507"/>
            <a:ext cx="5486181" cy="411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25" tIns="46000" rIns="92025" bIns="4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3" name="Google Shape;863;g2acd4a7fb11_23_0:notes"/>
          <p:cNvSpPr txBox="1">
            <a:spLocks noGrp="1"/>
          </p:cNvSpPr>
          <p:nvPr>
            <p:ph type="sldNum" idx="12"/>
          </p:nvPr>
        </p:nvSpPr>
        <p:spPr>
          <a:xfrm>
            <a:off x="3885177" y="8684879"/>
            <a:ext cx="2971727" cy="45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25" tIns="46000" rIns="92025" bIns="46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457201" y="1151334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457201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45026" y="1151334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1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963" y="-1217612"/>
            <a:ext cx="3394075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текст и объект" type="txAndObj">
  <p:cSld name="TEXT_AND_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/>
          <p:nvPr/>
        </p:nvSpPr>
        <p:spPr>
          <a:xfrm>
            <a:off x="200025" y="1781950"/>
            <a:ext cx="874395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449263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Arial"/>
              <a:buNone/>
            </a:pPr>
            <a:r>
              <a:rPr lang="ru-RU" sz="2800" dirty="0">
                <a:solidFill>
                  <a:srgbClr val="17365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РАЗРЕЗЫ ПО ГОДОВЫМ ФОРМАМ</a:t>
            </a:r>
            <a:endParaRPr sz="2800" b="0" i="0" u="none" strike="noStrike" cap="none" dirty="0">
              <a:solidFill>
                <a:srgbClr val="17365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7308304" y="4637881"/>
            <a:ext cx="1931641" cy="30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Астана, 2024</a:t>
            </a:r>
            <a:endParaRPr/>
          </a:p>
        </p:txBody>
      </p:sp>
      <p:sp>
        <p:nvSpPr>
          <p:cNvPr id="139" name="Google Shape;139;p26"/>
          <p:cNvSpPr/>
          <p:nvPr/>
        </p:nvSpPr>
        <p:spPr>
          <a:xfrm>
            <a:off x="5364088" y="3507854"/>
            <a:ext cx="365983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F7A8D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140" name="Google Shape;140;p26"/>
          <p:cNvSpPr/>
          <p:nvPr/>
        </p:nvSpPr>
        <p:spPr>
          <a:xfrm>
            <a:off x="4499992" y="304840"/>
            <a:ext cx="24487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000"/>
              <a:buFont typeface="Arial"/>
              <a:buNone/>
            </a:pPr>
            <a:r>
              <a:rPr lang="ru" sz="1000" b="0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МИНИСТЕРСТВО ЗДРАВООХРАНЕНИЯ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000"/>
              <a:buFont typeface="Arial"/>
              <a:buNone/>
            </a:pPr>
            <a:r>
              <a:rPr lang="ru" sz="1000" b="0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РЕСПУБЛИКИ КАЗАХСТАН</a:t>
            </a:r>
            <a:endParaRPr sz="1000" b="0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9838" y="268288"/>
            <a:ext cx="647700" cy="5905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3" y="47791"/>
            <a:ext cx="6171621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Приложения 5, 10-14, 24 </a:t>
            </a:r>
            <a:b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(формы 6, 7, 8, 9, 10, 11, 45 и 41)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14693" y="1403910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3738066" y="1403909"/>
            <a:ext cx="1845644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14693" y="3732139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3763826" y="3700301"/>
            <a:ext cx="1845644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14693" y="2533466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3774459" y="2496680"/>
            <a:ext cx="1845644" cy="83774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4504160" y="3367328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6EAF4-A415-39B5-B7CD-F91F7E9E5725}"/>
              </a:ext>
            </a:extLst>
          </p:cNvPr>
          <p:cNvSpPr txBox="1"/>
          <p:nvPr/>
        </p:nvSpPr>
        <p:spPr>
          <a:xfrm>
            <a:off x="2498715" y="8020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в одном разрезе </a:t>
            </a:r>
            <a:r>
              <a:rPr lang="ru-RU" b="1" dirty="0">
                <a:solidFill>
                  <a:schemeClr val="tx1"/>
                </a:solidFill>
                <a:latin typeface="Century Gothic" panose="020B0502020202020204" pitchFamily="34" charset="0"/>
              </a:rPr>
              <a:t>«</a:t>
            </a:r>
            <a:r>
              <a:rPr lang="ru-RU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система здравоохранения»</a:t>
            </a:r>
          </a:p>
        </p:txBody>
      </p:sp>
      <p:sp>
        <p:nvSpPr>
          <p:cNvPr id="3" name="Стрелка: штриховая вправо 2">
            <a:extLst>
              <a:ext uri="{FF2B5EF4-FFF2-40B4-BE49-F238E27FC236}">
                <a16:creationId xmlns:a16="http://schemas.microsoft.com/office/drawing/2014/main" id="{DF976A41-FE8E-5A8E-FFED-B6CB6A2178A9}"/>
              </a:ext>
            </a:extLst>
          </p:cNvPr>
          <p:cNvSpPr/>
          <p:nvPr/>
        </p:nvSpPr>
        <p:spPr>
          <a:xfrm rot="16200000">
            <a:off x="4482207" y="213257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313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6 (21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1945760" y="796636"/>
            <a:ext cx="3077386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Первый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ГОБМП + ОСМС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(государственные МО и частные МО, выполняющие государственный заказ)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5430981" y="796635"/>
            <a:ext cx="3277083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медицинские организации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вне зависимости от источника финансирования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1932674" y="3816927"/>
            <a:ext cx="906605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3082416" y="3816928"/>
            <a:ext cx="906605" cy="11776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  <a:p>
            <a:pPr algn="ctr"/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или при желании Село ЦРБ, Село РБ) 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821408"/>
            <a:ext cx="1406236" cy="83778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5473414" y="3816927"/>
            <a:ext cx="146359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7194402" y="3816927"/>
            <a:ext cx="1504898" cy="11239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12F7DE0-6CD5-1672-16F0-2604212DA1C4}"/>
              </a:ext>
            </a:extLst>
          </p:cNvPr>
          <p:cNvSpPr/>
          <p:nvPr/>
        </p:nvSpPr>
        <p:spPr>
          <a:xfrm>
            <a:off x="1945760" y="1825732"/>
            <a:ext cx="3077386" cy="83778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ГОБМП + ОСМС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1932675" y="2837578"/>
            <a:ext cx="906605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3061445" y="2838780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5473414" y="2877316"/>
            <a:ext cx="146359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7194401" y="2873923"/>
            <a:ext cx="1504898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2213377" y="3601232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3366253" y="3615848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6010277" y="3615848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7790122" y="3653031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9" name="Стрелка: шеврон 48">
            <a:extLst>
              <a:ext uri="{FF2B5EF4-FFF2-40B4-BE49-F238E27FC236}">
                <a16:creationId xmlns:a16="http://schemas.microsoft.com/office/drawing/2014/main" id="{DA101073-A6E6-B927-545A-795589CD05E8}"/>
              </a:ext>
            </a:extLst>
          </p:cNvPr>
          <p:cNvSpPr/>
          <p:nvPr/>
        </p:nvSpPr>
        <p:spPr>
          <a:xfrm rot="16200000">
            <a:off x="2758555" y="2497230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E03A751-284F-D71E-8635-381610C11C60}"/>
              </a:ext>
            </a:extLst>
          </p:cNvPr>
          <p:cNvSpPr/>
          <p:nvPr/>
        </p:nvSpPr>
        <p:spPr>
          <a:xfrm>
            <a:off x="5442674" y="1825731"/>
            <a:ext cx="3265390" cy="83345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свод (</a:t>
            </a:r>
            <a:r>
              <a:rPr lang="ru-RU" sz="105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город+село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B9C407BD-F239-637A-8F2E-D7FB9D08E2E8}"/>
              </a:ext>
            </a:extLst>
          </p:cNvPr>
          <p:cNvSpPr/>
          <p:nvPr/>
        </p:nvSpPr>
        <p:spPr>
          <a:xfrm rot="16200000">
            <a:off x="6907818" y="2515501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BA2B8C0A-BE5F-46E4-E1A3-5D9F428F9929}"/>
              </a:ext>
            </a:extLst>
          </p:cNvPr>
          <p:cNvSpPr/>
          <p:nvPr/>
        </p:nvSpPr>
        <p:spPr>
          <a:xfrm rot="16200000">
            <a:off x="6864523" y="1402348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AF1A47-6FE4-56A3-4F8F-1B8993EDC4DF}"/>
              </a:ext>
            </a:extLst>
          </p:cNvPr>
          <p:cNvSpPr/>
          <p:nvPr/>
        </p:nvSpPr>
        <p:spPr>
          <a:xfrm>
            <a:off x="4116541" y="2837578"/>
            <a:ext cx="906605" cy="79331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(гос. заказ)</a:t>
            </a:r>
            <a:endParaRPr lang="ru-RU" sz="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986AE3D-AAF7-ABD2-F299-2D4E974954A4}"/>
              </a:ext>
            </a:extLst>
          </p:cNvPr>
          <p:cNvSpPr/>
          <p:nvPr/>
        </p:nvSpPr>
        <p:spPr>
          <a:xfrm>
            <a:off x="4123801" y="3804956"/>
            <a:ext cx="906605" cy="11776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</a:t>
            </a:r>
            <a:r>
              <a:rPr lang="ru-RU" sz="9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гос.заказ</a:t>
            </a:r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  <a:endParaRPr lang="ru-RU" sz="7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Стрелка: штриховая вправо 15">
            <a:extLst>
              <a:ext uri="{FF2B5EF4-FFF2-40B4-BE49-F238E27FC236}">
                <a16:creationId xmlns:a16="http://schemas.microsoft.com/office/drawing/2014/main" id="{BB1838EC-1CF3-84BD-A145-768E24E3E382}"/>
              </a:ext>
            </a:extLst>
          </p:cNvPr>
          <p:cNvSpPr/>
          <p:nvPr/>
        </p:nvSpPr>
        <p:spPr>
          <a:xfrm rot="16200000">
            <a:off x="4379027" y="3602137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7" name="Стрелка: шеврон 16">
            <a:extLst>
              <a:ext uri="{FF2B5EF4-FFF2-40B4-BE49-F238E27FC236}">
                <a16:creationId xmlns:a16="http://schemas.microsoft.com/office/drawing/2014/main" id="{BC798588-0764-5F07-D8B3-F4A15DE23820}"/>
              </a:ext>
            </a:extLst>
          </p:cNvPr>
          <p:cNvSpPr/>
          <p:nvPr/>
        </p:nvSpPr>
        <p:spPr>
          <a:xfrm rot="16200000">
            <a:off x="3921179" y="2497231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18" name="Стрелка: шеврон 17">
            <a:extLst>
              <a:ext uri="{FF2B5EF4-FFF2-40B4-BE49-F238E27FC236}">
                <a16:creationId xmlns:a16="http://schemas.microsoft.com/office/drawing/2014/main" id="{15E76BE1-71FA-8EBA-5238-85DD9CB56467}"/>
              </a:ext>
            </a:extLst>
          </p:cNvPr>
          <p:cNvSpPr/>
          <p:nvPr/>
        </p:nvSpPr>
        <p:spPr>
          <a:xfrm rot="16200000">
            <a:off x="3205082" y="1435530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762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Приложения 15 (12ф), 28 (59ф)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6ABBE6-1B98-7758-FAAF-5D4FB64E160D}"/>
              </a:ext>
            </a:extLst>
          </p:cNvPr>
          <p:cNvSpPr/>
          <p:nvPr/>
        </p:nvSpPr>
        <p:spPr>
          <a:xfrm>
            <a:off x="1884218" y="796636"/>
            <a:ext cx="1406236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Город + село (свод)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3463635" y="796636"/>
            <a:ext cx="1884219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, включая частные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5430982" y="796635"/>
            <a:ext cx="1898072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третий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село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, включая частные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A44701-8281-BE56-F364-93DBE4A5EDE5}"/>
              </a:ext>
            </a:extLst>
          </p:cNvPr>
          <p:cNvSpPr/>
          <p:nvPr/>
        </p:nvSpPr>
        <p:spPr>
          <a:xfrm>
            <a:off x="7412181" y="796636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четвертый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другим ведомствам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3463636" y="3816928"/>
            <a:ext cx="906605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pPr algn="ctr"/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(при желании Город ВА, Город СВА, Город ПМСП)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5443102" y="3816928"/>
            <a:ext cx="906605" cy="11776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600" dirty="0">
                <a:solidFill>
                  <a:schemeClr val="tx1"/>
                </a:solidFill>
                <a:latin typeface="Century Gothic" panose="020B0502020202020204" pitchFamily="34" charset="0"/>
              </a:rPr>
              <a:t>или при желании Село ЦРБ, Село РБ, Село ВА, Село СВА, Село ФАП, Село МП, Село СБ, Село ПМСП)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434CC3B-A0F0-37CB-5AD0-9255FFF1C28C}"/>
              </a:ext>
            </a:extLst>
          </p:cNvPr>
          <p:cNvSpPr/>
          <p:nvPr/>
        </p:nvSpPr>
        <p:spPr>
          <a:xfrm>
            <a:off x="7412181" y="3816927"/>
            <a:ext cx="1406236" cy="11776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930958"/>
            <a:ext cx="1406236" cy="7282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4453369" y="3816927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6410330" y="3816926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12F7DE0-6CD5-1672-16F0-2604212DA1C4}"/>
              </a:ext>
            </a:extLst>
          </p:cNvPr>
          <p:cNvSpPr/>
          <p:nvPr/>
        </p:nvSpPr>
        <p:spPr>
          <a:xfrm>
            <a:off x="3463635" y="1972066"/>
            <a:ext cx="1884219" cy="69144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Город + частный сектор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3463636" y="2809849"/>
            <a:ext cx="906605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5443102" y="2809849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436CDE74-BC46-B2E2-F760-D4048F7A07D2}"/>
              </a:ext>
            </a:extLst>
          </p:cNvPr>
          <p:cNvSpPr/>
          <p:nvPr/>
        </p:nvSpPr>
        <p:spPr>
          <a:xfrm>
            <a:off x="7412181" y="2809849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4453369" y="2809848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6410330" y="2809847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3760210" y="359004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4738691" y="3590042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5750928" y="3576180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6706904" y="3576181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6" name="Стрелка: штриховая вправо 45">
            <a:extLst>
              <a:ext uri="{FF2B5EF4-FFF2-40B4-BE49-F238E27FC236}">
                <a16:creationId xmlns:a16="http://schemas.microsoft.com/office/drawing/2014/main" id="{A05F066A-170B-6BC9-0B98-ACA5313246BF}"/>
              </a:ext>
            </a:extLst>
          </p:cNvPr>
          <p:cNvSpPr/>
          <p:nvPr/>
        </p:nvSpPr>
        <p:spPr>
          <a:xfrm rot="16200000">
            <a:off x="7914844" y="359004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9" name="Стрелка: шеврон 48">
            <a:extLst>
              <a:ext uri="{FF2B5EF4-FFF2-40B4-BE49-F238E27FC236}">
                <a16:creationId xmlns:a16="http://schemas.microsoft.com/office/drawing/2014/main" id="{DA101073-A6E6-B927-545A-795589CD05E8}"/>
              </a:ext>
            </a:extLst>
          </p:cNvPr>
          <p:cNvSpPr/>
          <p:nvPr/>
        </p:nvSpPr>
        <p:spPr>
          <a:xfrm rot="16200000">
            <a:off x="4252914" y="2538845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1C10DA82-5093-4ED8-6E60-5DA0BE4322F0}"/>
              </a:ext>
            </a:extLst>
          </p:cNvPr>
          <p:cNvCxnSpPr>
            <a:stCxn id="32" idx="1"/>
            <a:endCxn id="3" idx="2"/>
          </p:cNvCxnSpPr>
          <p:nvPr/>
        </p:nvCxnSpPr>
        <p:spPr>
          <a:xfrm rot="10800000">
            <a:off x="2587337" y="1461656"/>
            <a:ext cx="876299" cy="85613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98A18282-CCE8-28A4-4DE7-336F0DEFB9A4}"/>
              </a:ext>
            </a:extLst>
          </p:cNvPr>
          <p:cNvCxnSpPr>
            <a:cxnSpLocks/>
          </p:cNvCxnSpPr>
          <p:nvPr/>
        </p:nvCxnSpPr>
        <p:spPr>
          <a:xfrm rot="10800000">
            <a:off x="2790284" y="1461656"/>
            <a:ext cx="2652390" cy="364074"/>
          </a:xfrm>
          <a:prstGeom prst="bentConnector3">
            <a:avLst>
              <a:gd name="adj1" fmla="val 100406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E03A751-284F-D71E-8635-381610C11C60}"/>
              </a:ext>
            </a:extLst>
          </p:cNvPr>
          <p:cNvSpPr/>
          <p:nvPr/>
        </p:nvSpPr>
        <p:spPr>
          <a:xfrm>
            <a:off x="5442674" y="1651527"/>
            <a:ext cx="1884219" cy="100766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Село + частный сектор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B9C407BD-F239-637A-8F2E-D7FB9D08E2E8}"/>
              </a:ext>
            </a:extLst>
          </p:cNvPr>
          <p:cNvSpPr/>
          <p:nvPr/>
        </p:nvSpPr>
        <p:spPr>
          <a:xfrm rot="16200000">
            <a:off x="6218315" y="2533649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4" name="Стрелка: штриховая вправо 3">
            <a:extLst>
              <a:ext uri="{FF2B5EF4-FFF2-40B4-BE49-F238E27FC236}">
                <a16:creationId xmlns:a16="http://schemas.microsoft.com/office/drawing/2014/main" id="{D1AD9002-7B64-4680-F141-14B51EC26FB2}"/>
              </a:ext>
            </a:extLst>
          </p:cNvPr>
          <p:cNvSpPr/>
          <p:nvPr/>
        </p:nvSpPr>
        <p:spPr>
          <a:xfrm rot="16200000">
            <a:off x="7385953" y="2085795"/>
            <a:ext cx="1371242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7">
            <a:extLst>
              <a:ext uri="{FF2B5EF4-FFF2-40B4-BE49-F238E27FC236}">
                <a16:creationId xmlns:a16="http://schemas.microsoft.com/office/drawing/2014/main" id="{E92E9892-7E92-41FC-EB81-4404499B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Скрины по 15 и 28 приложениям в </a:t>
            </a:r>
            <a:r>
              <a:rPr lang="ru-RU" sz="1800" dirty="0" err="1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Медстат</a:t>
            </a:r>
            <a:endParaRPr lang="ru-RU" sz="1800" dirty="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F826651D-9BAB-40DC-9E71-D04D448A5DD4}"/>
              </a:ext>
            </a:extLst>
          </p:cNvPr>
          <p:cNvSpPr txBox="1">
            <a:spLocks/>
          </p:cNvSpPr>
          <p:nvPr/>
        </p:nvSpPr>
        <p:spPr>
          <a:xfrm>
            <a:off x="729756" y="823645"/>
            <a:ext cx="2685389" cy="48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defRPr/>
            </a:pPr>
            <a:r>
              <a:rPr lang="ru-RU" sz="14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Сведение форм на уровне филиала</a:t>
            </a:r>
          </a:p>
        </p:txBody>
      </p:sp>
      <p:sp>
        <p:nvSpPr>
          <p:cNvPr id="6" name="Заголовок 7">
            <a:extLst>
              <a:ext uri="{FF2B5EF4-FFF2-40B4-BE49-F238E27FC236}">
                <a16:creationId xmlns:a16="http://schemas.microsoft.com/office/drawing/2014/main" id="{500843B9-46D2-065A-581C-E54CCB4790D2}"/>
              </a:ext>
            </a:extLst>
          </p:cNvPr>
          <p:cNvSpPr txBox="1">
            <a:spLocks/>
          </p:cNvSpPr>
          <p:nvPr/>
        </p:nvSpPr>
        <p:spPr>
          <a:xfrm>
            <a:off x="5474938" y="823644"/>
            <a:ext cx="2939306" cy="48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defRPr/>
            </a:pPr>
            <a:r>
              <a:rPr lang="ru-RU" sz="14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Слияние форм по разрезам на уровне филиала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117911-B0D8-B265-9F36-0361C1FFD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46" y="1304076"/>
            <a:ext cx="3752553" cy="3545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E58633C-B552-CBE5-A84D-86E75A188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91" y="1304075"/>
            <a:ext cx="4041000" cy="3545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344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16 (14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6ABBE6-1B98-7758-FAAF-5D4FB64E160D}"/>
              </a:ext>
            </a:extLst>
          </p:cNvPr>
          <p:cNvSpPr/>
          <p:nvPr/>
        </p:nvSpPr>
        <p:spPr>
          <a:xfrm>
            <a:off x="1775847" y="796635"/>
            <a:ext cx="1898072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по государственным МО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3745046" y="796636"/>
            <a:ext cx="1602808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село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5430982" y="796635"/>
            <a:ext cx="1898072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третий разрез - по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частным МО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A44701-8281-BE56-F364-93DBE4A5EDE5}"/>
              </a:ext>
            </a:extLst>
          </p:cNvPr>
          <p:cNvSpPr/>
          <p:nvPr/>
        </p:nvSpPr>
        <p:spPr>
          <a:xfrm>
            <a:off x="7412181" y="796636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четвертый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другим ведомствам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1803905" y="3816763"/>
            <a:ext cx="1907798" cy="116700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– </a:t>
            </a:r>
          </a:p>
          <a:p>
            <a:pPr algn="ctr"/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Город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3837571" y="3816763"/>
            <a:ext cx="1464802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  <a:p>
            <a:pPr algn="ctr"/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800" dirty="0">
                <a:solidFill>
                  <a:schemeClr val="tx1"/>
                </a:solidFill>
                <a:latin typeface="Century Gothic" panose="020B0502020202020204" pitchFamily="34" charset="0"/>
              </a:rPr>
              <a:t>или при желании Село ЦРБ, Село РБ, Село СБ)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434CC3B-A0F0-37CB-5AD0-9255FFF1C28C}"/>
              </a:ext>
            </a:extLst>
          </p:cNvPr>
          <p:cNvSpPr/>
          <p:nvPr/>
        </p:nvSpPr>
        <p:spPr>
          <a:xfrm>
            <a:off x="7412181" y="3816927"/>
            <a:ext cx="1406236" cy="11776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841159"/>
            <a:ext cx="1406236" cy="8180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5397619" y="3816764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6410330" y="3816926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1803905" y="2837578"/>
            <a:ext cx="1897422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3821953" y="2843808"/>
            <a:ext cx="1515722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436CDE74-BC46-B2E2-F760-D4048F7A07D2}"/>
              </a:ext>
            </a:extLst>
          </p:cNvPr>
          <p:cNvSpPr/>
          <p:nvPr/>
        </p:nvSpPr>
        <p:spPr>
          <a:xfrm>
            <a:off x="7412181" y="2809849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5432921" y="2809847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6410330" y="2809847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2568203" y="3576180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5705054" y="3602570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4423086" y="3590044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6706904" y="3576181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6" name="Стрелка: штриховая вправо 45">
            <a:extLst>
              <a:ext uri="{FF2B5EF4-FFF2-40B4-BE49-F238E27FC236}">
                <a16:creationId xmlns:a16="http://schemas.microsoft.com/office/drawing/2014/main" id="{A05F066A-170B-6BC9-0B98-ACA5313246BF}"/>
              </a:ext>
            </a:extLst>
          </p:cNvPr>
          <p:cNvSpPr/>
          <p:nvPr/>
        </p:nvSpPr>
        <p:spPr>
          <a:xfrm rot="16200000">
            <a:off x="7914844" y="359004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51" name="Стрелка: штриховая вправо 50">
            <a:extLst>
              <a:ext uri="{FF2B5EF4-FFF2-40B4-BE49-F238E27FC236}">
                <a16:creationId xmlns:a16="http://schemas.microsoft.com/office/drawing/2014/main" id="{5968F0E0-A573-C97F-284C-F51080C6683F}"/>
              </a:ext>
            </a:extLst>
          </p:cNvPr>
          <p:cNvSpPr/>
          <p:nvPr/>
        </p:nvSpPr>
        <p:spPr>
          <a:xfrm rot="16200000">
            <a:off x="7392053" y="2081862"/>
            <a:ext cx="1359039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C9A7878-1A20-2E9F-19C9-2D3FC48970DF}"/>
              </a:ext>
            </a:extLst>
          </p:cNvPr>
          <p:cNvSpPr/>
          <p:nvPr/>
        </p:nvSpPr>
        <p:spPr>
          <a:xfrm>
            <a:off x="5495100" y="1825731"/>
            <a:ext cx="1839161" cy="85317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</a:t>
            </a:r>
            <a:r>
              <a:rPr lang="ru-RU" sz="105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город+село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B9C407BD-F239-637A-8F2E-D7FB9D08E2E8}"/>
              </a:ext>
            </a:extLst>
          </p:cNvPr>
          <p:cNvSpPr/>
          <p:nvPr/>
        </p:nvSpPr>
        <p:spPr>
          <a:xfrm rot="16200000">
            <a:off x="6218315" y="2533649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16" name="Стрелка: шеврон 15">
            <a:extLst>
              <a:ext uri="{FF2B5EF4-FFF2-40B4-BE49-F238E27FC236}">
                <a16:creationId xmlns:a16="http://schemas.microsoft.com/office/drawing/2014/main" id="{939F1E19-0F67-A88A-BC1B-DCB643C556F2}"/>
              </a:ext>
            </a:extLst>
          </p:cNvPr>
          <p:cNvSpPr/>
          <p:nvPr/>
        </p:nvSpPr>
        <p:spPr>
          <a:xfrm rot="16200000">
            <a:off x="6208315" y="1425724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18" name="Стрелка: шеврон 17">
            <a:extLst>
              <a:ext uri="{FF2B5EF4-FFF2-40B4-BE49-F238E27FC236}">
                <a16:creationId xmlns:a16="http://schemas.microsoft.com/office/drawing/2014/main" id="{9432B51E-59C7-5938-BC6B-381B595633A0}"/>
              </a:ext>
            </a:extLst>
          </p:cNvPr>
          <p:cNvSpPr/>
          <p:nvPr/>
        </p:nvSpPr>
        <p:spPr>
          <a:xfrm rot="16200000">
            <a:off x="3597534" y="2672193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D4A17F8D-57A1-16C3-C406-CDC9D259DFD0}"/>
              </a:ext>
            </a:extLst>
          </p:cNvPr>
          <p:cNvSpPr/>
          <p:nvPr/>
        </p:nvSpPr>
        <p:spPr>
          <a:xfrm>
            <a:off x="1819364" y="1848571"/>
            <a:ext cx="3062252" cy="83774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56" name="Стрелка: штриховая вправо 55">
            <a:extLst>
              <a:ext uri="{FF2B5EF4-FFF2-40B4-BE49-F238E27FC236}">
                <a16:creationId xmlns:a16="http://schemas.microsoft.com/office/drawing/2014/main" id="{EDB4091B-6272-E3E5-2B28-2E7F24642053}"/>
              </a:ext>
            </a:extLst>
          </p:cNvPr>
          <p:cNvSpPr/>
          <p:nvPr/>
        </p:nvSpPr>
        <p:spPr>
          <a:xfrm rot="16200000">
            <a:off x="2568155" y="155907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57" name="Стрелка: штриховая вправо 56">
            <a:extLst>
              <a:ext uri="{FF2B5EF4-FFF2-40B4-BE49-F238E27FC236}">
                <a16:creationId xmlns:a16="http://schemas.microsoft.com/office/drawing/2014/main" id="{FF487D4A-52DA-AD4B-3254-2C26C38EC221}"/>
              </a:ext>
            </a:extLst>
          </p:cNvPr>
          <p:cNvSpPr/>
          <p:nvPr/>
        </p:nvSpPr>
        <p:spPr>
          <a:xfrm rot="16200000">
            <a:off x="4531155" y="2059470"/>
            <a:ext cx="1314253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084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17 (17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6ABBE6-1B98-7758-FAAF-5D4FB64E160D}"/>
              </a:ext>
            </a:extLst>
          </p:cNvPr>
          <p:cNvSpPr/>
          <p:nvPr/>
        </p:nvSpPr>
        <p:spPr>
          <a:xfrm>
            <a:off x="1775847" y="796635"/>
            <a:ext cx="1335947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  <a:latin typeface="Century Gothic" panose="020B0502020202020204" pitchFamily="34" charset="0"/>
              </a:rPr>
              <a:t>все ведомства </a:t>
            </a:r>
          </a:p>
          <a:p>
            <a:pPr algn="ctr"/>
            <a:r>
              <a:rPr lang="ru-RU" sz="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(Свод здравоохранения + Ведомства + частные</a:t>
            </a:r>
            <a:r>
              <a:rPr lang="ru-RU" sz="70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  <a:endParaRPr lang="ru-RU" sz="8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3226779" y="796636"/>
            <a:ext cx="2363911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по государственным МО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5706180" y="796635"/>
            <a:ext cx="1898072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третий разрез - по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частным МО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A44701-8281-BE56-F364-93DBE4A5EDE5}"/>
              </a:ext>
            </a:extLst>
          </p:cNvPr>
          <p:cNvSpPr/>
          <p:nvPr/>
        </p:nvSpPr>
        <p:spPr>
          <a:xfrm>
            <a:off x="7719237" y="796636"/>
            <a:ext cx="1099180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четвертый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другим ведомствам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3231186" y="3838630"/>
            <a:ext cx="1122682" cy="116700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–</a:t>
            </a:r>
          </a:p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Город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pPr algn="ctr"/>
            <a:r>
              <a:rPr lang="ru-RU" sz="6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при желании Город ВА, Город СВА, Город ПМСП) </a:t>
            </a:r>
            <a:endParaRPr lang="ru-RU" sz="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4428983" y="3816763"/>
            <a:ext cx="1161708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– </a:t>
            </a:r>
          </a:p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Село (свод)</a:t>
            </a:r>
          </a:p>
          <a:p>
            <a:pPr algn="ctr"/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или при желании Село ЦРБ, Село РБ, Село ВА, Село СВА, Село ФАП, Село МП, Село СБ)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434CC3B-A0F0-37CB-5AD0-9255FFF1C28C}"/>
              </a:ext>
            </a:extLst>
          </p:cNvPr>
          <p:cNvSpPr/>
          <p:nvPr/>
        </p:nvSpPr>
        <p:spPr>
          <a:xfrm>
            <a:off x="7752517" y="3816927"/>
            <a:ext cx="1065900" cy="11776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841159"/>
            <a:ext cx="1406236" cy="8180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5727442" y="3827999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6709161" y="3816763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3240392" y="2853405"/>
            <a:ext cx="1103194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4442906" y="2868128"/>
            <a:ext cx="1149902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5728782" y="2809847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6697646" y="2809847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3679529" y="3643710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6024017" y="359273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4861129" y="3619100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6970275" y="3589835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51" name="Стрелка: штриховая вправо 50">
            <a:extLst>
              <a:ext uri="{FF2B5EF4-FFF2-40B4-BE49-F238E27FC236}">
                <a16:creationId xmlns:a16="http://schemas.microsoft.com/office/drawing/2014/main" id="{5968F0E0-A573-C97F-284C-F51080C6683F}"/>
              </a:ext>
            </a:extLst>
          </p:cNvPr>
          <p:cNvSpPr/>
          <p:nvPr/>
        </p:nvSpPr>
        <p:spPr>
          <a:xfrm rot="16200000">
            <a:off x="7618082" y="2058947"/>
            <a:ext cx="1320370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C9A7878-1A20-2E9F-19C9-2D3FC48970DF}"/>
              </a:ext>
            </a:extLst>
          </p:cNvPr>
          <p:cNvSpPr/>
          <p:nvPr/>
        </p:nvSpPr>
        <p:spPr>
          <a:xfrm>
            <a:off x="5724084" y="1995355"/>
            <a:ext cx="1880167" cy="68354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</a:t>
            </a:r>
            <a:r>
              <a:rPr lang="ru-RU" sz="105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город+село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B9C407BD-F239-637A-8F2E-D7FB9D08E2E8}"/>
              </a:ext>
            </a:extLst>
          </p:cNvPr>
          <p:cNvSpPr/>
          <p:nvPr/>
        </p:nvSpPr>
        <p:spPr>
          <a:xfrm rot="16200000">
            <a:off x="6493846" y="2506214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D719F3B1-DE3B-FE46-A4E3-8BD52B4E6F2A}"/>
              </a:ext>
            </a:extLst>
          </p:cNvPr>
          <p:cNvCxnSpPr>
            <a:cxnSpLocks/>
          </p:cNvCxnSpPr>
          <p:nvPr/>
        </p:nvCxnSpPr>
        <p:spPr>
          <a:xfrm rot="10800000">
            <a:off x="2250056" y="1470011"/>
            <a:ext cx="3474029" cy="633845"/>
          </a:xfrm>
          <a:prstGeom prst="bentConnector3">
            <a:avLst>
              <a:gd name="adj1" fmla="val 99990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B4F291C3-706D-593C-B8C7-D68604173DE2}"/>
              </a:ext>
            </a:extLst>
          </p:cNvPr>
          <p:cNvCxnSpPr>
            <a:cxnSpLocks/>
          </p:cNvCxnSpPr>
          <p:nvPr/>
        </p:nvCxnSpPr>
        <p:spPr>
          <a:xfrm>
            <a:off x="2397496" y="1751712"/>
            <a:ext cx="5655464" cy="1080576"/>
          </a:xfrm>
          <a:prstGeom prst="bentConnector3">
            <a:avLst>
              <a:gd name="adj1" fmla="val 99633"/>
            </a:avLst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A9672692-A063-7934-FFBC-4526EA10C8C1}"/>
              </a:ext>
            </a:extLst>
          </p:cNvPr>
          <p:cNvCxnSpPr/>
          <p:nvPr/>
        </p:nvCxnSpPr>
        <p:spPr>
          <a:xfrm flipV="1">
            <a:off x="2397496" y="1470011"/>
            <a:ext cx="0" cy="291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9" name="Соединитель: уступ 78">
            <a:extLst>
              <a:ext uri="{FF2B5EF4-FFF2-40B4-BE49-F238E27FC236}">
                <a16:creationId xmlns:a16="http://schemas.microsoft.com/office/drawing/2014/main" id="{4CDF76C7-CCB0-A549-C91E-B7A26059EBC2}"/>
              </a:ext>
            </a:extLst>
          </p:cNvPr>
          <p:cNvCxnSpPr>
            <a:cxnSpLocks/>
          </p:cNvCxnSpPr>
          <p:nvPr/>
        </p:nvCxnSpPr>
        <p:spPr>
          <a:xfrm rot="10800000">
            <a:off x="2134158" y="1473752"/>
            <a:ext cx="1085311" cy="1035940"/>
          </a:xfrm>
          <a:prstGeom prst="bentConnector3">
            <a:avLst>
              <a:gd name="adj1" fmla="val 100943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BC83EB8-993F-3696-5188-48DA4120EDBE}"/>
              </a:ext>
            </a:extLst>
          </p:cNvPr>
          <p:cNvSpPr/>
          <p:nvPr/>
        </p:nvSpPr>
        <p:spPr>
          <a:xfrm>
            <a:off x="3226779" y="2219057"/>
            <a:ext cx="2386474" cy="45984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49" name="Стрелка: шеврон 48">
            <a:extLst>
              <a:ext uri="{FF2B5EF4-FFF2-40B4-BE49-F238E27FC236}">
                <a16:creationId xmlns:a16="http://schemas.microsoft.com/office/drawing/2014/main" id="{DA101073-A6E6-B927-545A-795589CD05E8}"/>
              </a:ext>
            </a:extLst>
          </p:cNvPr>
          <p:cNvSpPr/>
          <p:nvPr/>
        </p:nvSpPr>
        <p:spPr>
          <a:xfrm rot="16200000">
            <a:off x="4218943" y="2520440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53" name="Стрелка: штриховая вправо 52">
            <a:extLst>
              <a:ext uri="{FF2B5EF4-FFF2-40B4-BE49-F238E27FC236}">
                <a16:creationId xmlns:a16="http://schemas.microsoft.com/office/drawing/2014/main" id="{14E3E9DF-A54C-7EFC-FFAD-69BD50B1A462}"/>
              </a:ext>
            </a:extLst>
          </p:cNvPr>
          <p:cNvSpPr/>
          <p:nvPr/>
        </p:nvSpPr>
        <p:spPr>
          <a:xfrm rot="16200000">
            <a:off x="4008218" y="1717171"/>
            <a:ext cx="741972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436CDE74-BC46-B2E2-F760-D4048F7A07D2}"/>
              </a:ext>
            </a:extLst>
          </p:cNvPr>
          <p:cNvSpPr/>
          <p:nvPr/>
        </p:nvSpPr>
        <p:spPr>
          <a:xfrm>
            <a:off x="7728769" y="2809849"/>
            <a:ext cx="1089648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58" name="Стрелка: штриховая вправо 57">
            <a:extLst>
              <a:ext uri="{FF2B5EF4-FFF2-40B4-BE49-F238E27FC236}">
                <a16:creationId xmlns:a16="http://schemas.microsoft.com/office/drawing/2014/main" id="{2C380FD4-40C4-ED63-91F2-104DD1E81578}"/>
              </a:ext>
            </a:extLst>
          </p:cNvPr>
          <p:cNvSpPr/>
          <p:nvPr/>
        </p:nvSpPr>
        <p:spPr>
          <a:xfrm rot="16200000">
            <a:off x="6347245" y="1631799"/>
            <a:ext cx="633846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6" name="Стрелка: штриховая вправо 45">
            <a:extLst>
              <a:ext uri="{FF2B5EF4-FFF2-40B4-BE49-F238E27FC236}">
                <a16:creationId xmlns:a16="http://schemas.microsoft.com/office/drawing/2014/main" id="{A05F066A-170B-6BC9-0B98-ACA5313246BF}"/>
              </a:ext>
            </a:extLst>
          </p:cNvPr>
          <p:cNvSpPr/>
          <p:nvPr/>
        </p:nvSpPr>
        <p:spPr>
          <a:xfrm rot="16200000">
            <a:off x="8108051" y="359004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56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19 (30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6ABBE6-1B98-7758-FAAF-5D4FB64E160D}"/>
              </a:ext>
            </a:extLst>
          </p:cNvPr>
          <p:cNvSpPr/>
          <p:nvPr/>
        </p:nvSpPr>
        <p:spPr>
          <a:xfrm>
            <a:off x="1775847" y="796635"/>
            <a:ext cx="1898072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по государственным МО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3745046" y="796636"/>
            <a:ext cx="1602808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село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5430982" y="796635"/>
            <a:ext cx="1898072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третий разрез – </a:t>
            </a:r>
          </a:p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частным МО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A44701-8281-BE56-F364-93DBE4A5EDE5}"/>
              </a:ext>
            </a:extLst>
          </p:cNvPr>
          <p:cNvSpPr/>
          <p:nvPr/>
        </p:nvSpPr>
        <p:spPr>
          <a:xfrm>
            <a:off x="7412181" y="796636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четвертый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другим ведомствам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1803905" y="3816763"/>
            <a:ext cx="1907798" cy="116700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pPr algn="ctr"/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800" dirty="0">
                <a:solidFill>
                  <a:schemeClr val="tx1"/>
                </a:solidFill>
                <a:latin typeface="Century Gothic" panose="020B0502020202020204" pitchFamily="34" charset="0"/>
              </a:rPr>
              <a:t>при желании Город ВА, Город СВА, Город ПМСП) </a:t>
            </a:r>
            <a:endParaRPr lang="ru-RU" sz="7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3837571" y="3816763"/>
            <a:ext cx="1464802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  <a:p>
            <a:pPr algn="ctr"/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800" dirty="0">
                <a:solidFill>
                  <a:schemeClr val="tx1"/>
                </a:solidFill>
                <a:latin typeface="Century Gothic" panose="020B0502020202020204" pitchFamily="34" charset="0"/>
              </a:rPr>
              <a:t>или при желании Село ЦРБ, Село РБ, Село ВА, Село СВА, Село ФАП, Село МП, СБ(село))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434CC3B-A0F0-37CB-5AD0-9255FFF1C28C}"/>
              </a:ext>
            </a:extLst>
          </p:cNvPr>
          <p:cNvSpPr/>
          <p:nvPr/>
        </p:nvSpPr>
        <p:spPr>
          <a:xfrm>
            <a:off x="7412181" y="3816927"/>
            <a:ext cx="1406236" cy="11776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841159"/>
            <a:ext cx="1406236" cy="8180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5397619" y="3816764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6410330" y="3816926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1803905" y="2837578"/>
            <a:ext cx="1897422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3821953" y="2843808"/>
            <a:ext cx="1515722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436CDE74-BC46-B2E2-F760-D4048F7A07D2}"/>
              </a:ext>
            </a:extLst>
          </p:cNvPr>
          <p:cNvSpPr/>
          <p:nvPr/>
        </p:nvSpPr>
        <p:spPr>
          <a:xfrm>
            <a:off x="7412181" y="2809849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5432921" y="2809847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6410330" y="2809847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2568203" y="3576180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5705054" y="3602570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4423086" y="3590044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6706904" y="3576181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6" name="Стрелка: штриховая вправо 45">
            <a:extLst>
              <a:ext uri="{FF2B5EF4-FFF2-40B4-BE49-F238E27FC236}">
                <a16:creationId xmlns:a16="http://schemas.microsoft.com/office/drawing/2014/main" id="{A05F066A-170B-6BC9-0B98-ACA5313246BF}"/>
              </a:ext>
            </a:extLst>
          </p:cNvPr>
          <p:cNvSpPr/>
          <p:nvPr/>
        </p:nvSpPr>
        <p:spPr>
          <a:xfrm rot="16200000">
            <a:off x="7914844" y="359004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51" name="Стрелка: штриховая вправо 50">
            <a:extLst>
              <a:ext uri="{FF2B5EF4-FFF2-40B4-BE49-F238E27FC236}">
                <a16:creationId xmlns:a16="http://schemas.microsoft.com/office/drawing/2014/main" id="{5968F0E0-A573-C97F-284C-F51080C6683F}"/>
              </a:ext>
            </a:extLst>
          </p:cNvPr>
          <p:cNvSpPr/>
          <p:nvPr/>
        </p:nvSpPr>
        <p:spPr>
          <a:xfrm rot="16200000">
            <a:off x="7367485" y="2057294"/>
            <a:ext cx="1408176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C9A7878-1A20-2E9F-19C9-2D3FC48970DF}"/>
              </a:ext>
            </a:extLst>
          </p:cNvPr>
          <p:cNvSpPr/>
          <p:nvPr/>
        </p:nvSpPr>
        <p:spPr>
          <a:xfrm>
            <a:off x="5495100" y="1825731"/>
            <a:ext cx="1839161" cy="85317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</a:t>
            </a:r>
            <a:r>
              <a:rPr lang="ru-RU" sz="105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город+село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B9C407BD-F239-637A-8F2E-D7FB9D08E2E8}"/>
              </a:ext>
            </a:extLst>
          </p:cNvPr>
          <p:cNvSpPr/>
          <p:nvPr/>
        </p:nvSpPr>
        <p:spPr>
          <a:xfrm rot="16200000">
            <a:off x="6218315" y="2533649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29BDAE-30A6-73C3-BF5D-B80ECFB8183D}"/>
              </a:ext>
            </a:extLst>
          </p:cNvPr>
          <p:cNvSpPr/>
          <p:nvPr/>
        </p:nvSpPr>
        <p:spPr>
          <a:xfrm>
            <a:off x="1803904" y="2159975"/>
            <a:ext cx="3058645" cy="45984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5" name="Стрелка: штриховая вправо 4">
            <a:extLst>
              <a:ext uri="{FF2B5EF4-FFF2-40B4-BE49-F238E27FC236}">
                <a16:creationId xmlns:a16="http://schemas.microsoft.com/office/drawing/2014/main" id="{7A3E497E-E8D7-0810-B6AB-32DC9647DDAC}"/>
              </a:ext>
            </a:extLst>
          </p:cNvPr>
          <p:cNvSpPr/>
          <p:nvPr/>
        </p:nvSpPr>
        <p:spPr>
          <a:xfrm rot="16200000">
            <a:off x="4421720" y="2032507"/>
            <a:ext cx="1358600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9" name="Стрелка: шеврон 48">
            <a:extLst>
              <a:ext uri="{FF2B5EF4-FFF2-40B4-BE49-F238E27FC236}">
                <a16:creationId xmlns:a16="http://schemas.microsoft.com/office/drawing/2014/main" id="{DA101073-A6E6-B927-545A-795589CD05E8}"/>
              </a:ext>
            </a:extLst>
          </p:cNvPr>
          <p:cNvSpPr/>
          <p:nvPr/>
        </p:nvSpPr>
        <p:spPr>
          <a:xfrm rot="16200000">
            <a:off x="3599936" y="2550596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6" name="Стрелка: штриховая вправо 5">
            <a:extLst>
              <a:ext uri="{FF2B5EF4-FFF2-40B4-BE49-F238E27FC236}">
                <a16:creationId xmlns:a16="http://schemas.microsoft.com/office/drawing/2014/main" id="{761FDD9A-9F0E-CDCE-208B-295BD14EE60A}"/>
              </a:ext>
            </a:extLst>
          </p:cNvPr>
          <p:cNvSpPr/>
          <p:nvPr/>
        </p:nvSpPr>
        <p:spPr>
          <a:xfrm rot="16200000">
            <a:off x="2432598" y="1700936"/>
            <a:ext cx="695459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2" name="Стрелка: штриховая вправо 11">
            <a:extLst>
              <a:ext uri="{FF2B5EF4-FFF2-40B4-BE49-F238E27FC236}">
                <a16:creationId xmlns:a16="http://schemas.microsoft.com/office/drawing/2014/main" id="{895A95A0-5E5F-2F57-107D-0C5B1417693D}"/>
              </a:ext>
            </a:extLst>
          </p:cNvPr>
          <p:cNvSpPr/>
          <p:nvPr/>
        </p:nvSpPr>
        <p:spPr>
          <a:xfrm rot="16200000">
            <a:off x="6267286" y="1494555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1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20 (31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6ABBE6-1B98-7758-FAAF-5D4FB64E160D}"/>
              </a:ext>
            </a:extLst>
          </p:cNvPr>
          <p:cNvSpPr/>
          <p:nvPr/>
        </p:nvSpPr>
        <p:spPr>
          <a:xfrm>
            <a:off x="1884217" y="796636"/>
            <a:ext cx="2486023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первый разрез –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всего, по государственным медицинским организациям*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4965559" y="796636"/>
            <a:ext cx="2351375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село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1946133" y="3816925"/>
            <a:ext cx="994433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pPr algn="ctr"/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(при желании Город ВА, Город СВА, Город ПМСП)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5007808" y="3832337"/>
            <a:ext cx="1023675" cy="11776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  <a:p>
            <a:pPr algn="ctr"/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или при желании Село ЦРБ, Село РБ, Село ВА, Село СВА, Село ФАП, Село МП, Село СБ) 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930958"/>
            <a:ext cx="1406236" cy="7282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3222943" y="3814041"/>
            <a:ext cx="1124794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6286504" y="3816926"/>
            <a:ext cx="1030431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12F7DE0-6CD5-1672-16F0-2604212DA1C4}"/>
              </a:ext>
            </a:extLst>
          </p:cNvPr>
          <p:cNvSpPr/>
          <p:nvPr/>
        </p:nvSpPr>
        <p:spPr>
          <a:xfrm>
            <a:off x="1900004" y="1949350"/>
            <a:ext cx="2486023" cy="69144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Город + частный сектор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1929188" y="2837578"/>
            <a:ext cx="1011378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5001051" y="2837578"/>
            <a:ext cx="1030432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3197959" y="2837578"/>
            <a:ext cx="1172281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6286504" y="2837578"/>
            <a:ext cx="1030432" cy="77323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2303330" y="3590042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3667997" y="3604879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5361487" y="3567751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6613801" y="3590041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9" name="Стрелка: шеврон 48">
            <a:extLst>
              <a:ext uri="{FF2B5EF4-FFF2-40B4-BE49-F238E27FC236}">
                <a16:creationId xmlns:a16="http://schemas.microsoft.com/office/drawing/2014/main" id="{DA101073-A6E6-B927-545A-795589CD05E8}"/>
              </a:ext>
            </a:extLst>
          </p:cNvPr>
          <p:cNvSpPr/>
          <p:nvPr/>
        </p:nvSpPr>
        <p:spPr>
          <a:xfrm rot="16200000">
            <a:off x="2914593" y="2501775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E03A751-284F-D71E-8635-381610C11C60}"/>
              </a:ext>
            </a:extLst>
          </p:cNvPr>
          <p:cNvSpPr/>
          <p:nvPr/>
        </p:nvSpPr>
        <p:spPr>
          <a:xfrm>
            <a:off x="4965559" y="1915894"/>
            <a:ext cx="2351374" cy="7282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Село + частный сектор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B9C407BD-F239-637A-8F2E-D7FB9D08E2E8}"/>
              </a:ext>
            </a:extLst>
          </p:cNvPr>
          <p:cNvSpPr/>
          <p:nvPr/>
        </p:nvSpPr>
        <p:spPr>
          <a:xfrm rot="16200000">
            <a:off x="6039640" y="2475525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09775372-498B-BF98-ED90-C4828102F4DE}"/>
              </a:ext>
            </a:extLst>
          </p:cNvPr>
          <p:cNvCxnSpPr>
            <a:cxnSpLocks/>
            <a:stCxn id="32" idx="0"/>
            <a:endCxn id="3" idx="2"/>
          </p:cNvCxnSpPr>
          <p:nvPr/>
        </p:nvCxnSpPr>
        <p:spPr>
          <a:xfrm flipH="1" flipV="1">
            <a:off x="3127229" y="1461655"/>
            <a:ext cx="15787" cy="4876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2AD5F601-67F4-B639-3483-5BF54D5A1972}"/>
              </a:ext>
            </a:extLst>
          </p:cNvPr>
          <p:cNvCxnSpPr>
            <a:cxnSpLocks/>
          </p:cNvCxnSpPr>
          <p:nvPr/>
        </p:nvCxnSpPr>
        <p:spPr>
          <a:xfrm>
            <a:off x="3289312" y="1738539"/>
            <a:ext cx="2352730" cy="187558"/>
          </a:xfrm>
          <a:prstGeom prst="bentConnector3">
            <a:avLst>
              <a:gd name="adj1" fmla="val 99546"/>
            </a:avLst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4F2DA13D-CB89-6E3F-4C63-8EFDC2EC3583}"/>
              </a:ext>
            </a:extLst>
          </p:cNvPr>
          <p:cNvCxnSpPr>
            <a:cxnSpLocks/>
          </p:cNvCxnSpPr>
          <p:nvPr/>
        </p:nvCxnSpPr>
        <p:spPr>
          <a:xfrm flipV="1">
            <a:off x="3289312" y="1461654"/>
            <a:ext cx="0" cy="2768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Стрелка: штриховая вправо 6">
            <a:extLst>
              <a:ext uri="{FF2B5EF4-FFF2-40B4-BE49-F238E27FC236}">
                <a16:creationId xmlns:a16="http://schemas.microsoft.com/office/drawing/2014/main" id="{442DE7BB-C0DE-CBC0-2388-37F785852C2F}"/>
              </a:ext>
            </a:extLst>
          </p:cNvPr>
          <p:cNvSpPr/>
          <p:nvPr/>
        </p:nvSpPr>
        <p:spPr>
          <a:xfrm rot="16200000">
            <a:off x="5941433" y="1559074"/>
            <a:ext cx="442492" cy="247652"/>
          </a:xfrm>
          <a:prstGeom prst="stripedRightArrow">
            <a:avLst>
              <a:gd name="adj1" fmla="val 50000"/>
              <a:gd name="adj2" fmla="val 58455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B9C5A-D1C0-4CA6-40F4-D129E305E1A5}"/>
              </a:ext>
            </a:extLst>
          </p:cNvPr>
          <p:cNvSpPr txBox="1"/>
          <p:nvPr/>
        </p:nvSpPr>
        <p:spPr>
          <a:xfrm>
            <a:off x="7551698" y="1468294"/>
            <a:ext cx="14414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i="1" dirty="0">
                <a:solidFill>
                  <a:schemeClr val="tx1"/>
                </a:solidFill>
                <a:latin typeface="Century Gothic" panose="020B0502020202020204" pitchFamily="34" charset="0"/>
              </a:rPr>
              <a:t>* Подразумевается не только «</a:t>
            </a:r>
            <a:r>
              <a:rPr lang="ru-RU" sz="1200" b="1" i="1" dirty="0">
                <a:solidFill>
                  <a:schemeClr val="tx1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государственные МО</a:t>
            </a:r>
            <a:r>
              <a:rPr lang="ru-RU" sz="1200" b="1" i="1" dirty="0">
                <a:solidFill>
                  <a:schemeClr val="tx1"/>
                </a:solidFill>
                <a:latin typeface="Century Gothic" panose="020B0502020202020204" pitchFamily="34" charset="0"/>
              </a:rPr>
              <a:t>». Включаем данные по </a:t>
            </a:r>
            <a:r>
              <a:rPr lang="ru-RU" sz="1200" b="1" i="1" dirty="0">
                <a:solidFill>
                  <a:schemeClr val="tx1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частным</a:t>
            </a:r>
            <a:r>
              <a:rPr lang="ru-RU" sz="1200" b="1" i="1" dirty="0">
                <a:solidFill>
                  <a:schemeClr val="tx1"/>
                </a:solidFill>
                <a:latin typeface="Century Gothic" panose="020B0502020202020204" pitchFamily="34" charset="0"/>
              </a:rPr>
              <a:t> МО, имеющих прикрепленное население</a:t>
            </a:r>
            <a:endParaRPr lang="ru-RU" sz="1200" i="1" dirty="0"/>
          </a:p>
        </p:txBody>
      </p:sp>
    </p:spTree>
    <p:extLst>
      <p:ext uri="{BB962C8B-B14F-4D97-AF65-F5344CB8AC3E}">
        <p14:creationId xmlns:p14="http://schemas.microsoft.com/office/powerpoint/2010/main" val="1507964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8CFCE7-15D3-513A-4172-D5F7F25956B4}"/>
              </a:ext>
            </a:extLst>
          </p:cNvPr>
          <p:cNvSpPr/>
          <p:nvPr/>
        </p:nvSpPr>
        <p:spPr>
          <a:xfrm>
            <a:off x="3583712" y="2065084"/>
            <a:ext cx="2831048" cy="6212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21 (32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6ABBE6-1B98-7758-FAAF-5D4FB64E160D}"/>
              </a:ext>
            </a:extLst>
          </p:cNvPr>
          <p:cNvSpPr/>
          <p:nvPr/>
        </p:nvSpPr>
        <p:spPr>
          <a:xfrm>
            <a:off x="1775847" y="796635"/>
            <a:ext cx="1679329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общий свод по всем ведомствам (</a:t>
            </a:r>
            <a:r>
              <a:rPr lang="ru-RU" sz="105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Сводздрав+частный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 сектор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3524977" y="796636"/>
            <a:ext cx="1945107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по государственным МО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6868565" y="828768"/>
            <a:ext cx="1987474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четвертый разрез - по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частным МО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3583712" y="3872478"/>
            <a:ext cx="1847574" cy="114151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pPr algn="ctr"/>
            <a:r>
              <a:rPr lang="ru-RU" sz="6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при желании Город ВА, Город СВА, Город ПМСП) </a:t>
            </a:r>
            <a:endParaRPr lang="ru-RU" sz="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5546812" y="3872479"/>
            <a:ext cx="1183596" cy="11219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  <a:p>
            <a:pPr algn="ctr"/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или при желании Село ЦРБ, Село РБ, Село ВА, Село СВА, Село ФАП, Село МП, Село СБ) 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841159"/>
            <a:ext cx="1406236" cy="8180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6859723" y="3816763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7949435" y="3827998"/>
            <a:ext cx="906605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3583712" y="2805415"/>
            <a:ext cx="1819340" cy="83705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5541209" y="2813774"/>
            <a:ext cx="1189199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6868565" y="2813774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7949434" y="2805415"/>
            <a:ext cx="90660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4432337" y="3649146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7156297" y="359192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8246008" y="3576788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9" name="Стрелка: шеврон 48">
            <a:extLst>
              <a:ext uri="{FF2B5EF4-FFF2-40B4-BE49-F238E27FC236}">
                <a16:creationId xmlns:a16="http://schemas.microsoft.com/office/drawing/2014/main" id="{DA101073-A6E6-B927-545A-795589CD05E8}"/>
              </a:ext>
            </a:extLst>
          </p:cNvPr>
          <p:cNvSpPr/>
          <p:nvPr/>
        </p:nvSpPr>
        <p:spPr>
          <a:xfrm rot="16200000">
            <a:off x="5318772" y="2466225"/>
            <a:ext cx="323409" cy="492815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C9A7878-1A20-2E9F-19C9-2D3FC48970DF}"/>
              </a:ext>
            </a:extLst>
          </p:cNvPr>
          <p:cNvSpPr/>
          <p:nvPr/>
        </p:nvSpPr>
        <p:spPr>
          <a:xfrm>
            <a:off x="6859537" y="1823721"/>
            <a:ext cx="1987474" cy="85317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</a:t>
            </a:r>
            <a:r>
              <a:rPr lang="ru-RU" sz="105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город+село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B9C407BD-F239-637A-8F2E-D7FB9D08E2E8}"/>
              </a:ext>
            </a:extLst>
          </p:cNvPr>
          <p:cNvSpPr/>
          <p:nvPr/>
        </p:nvSpPr>
        <p:spPr>
          <a:xfrm rot="16200000">
            <a:off x="7700599" y="2463881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57308E1-A9ED-40EA-FC5E-6B3088496936}"/>
              </a:ext>
            </a:extLst>
          </p:cNvPr>
          <p:cNvSpPr/>
          <p:nvPr/>
        </p:nvSpPr>
        <p:spPr>
          <a:xfrm>
            <a:off x="5541210" y="803716"/>
            <a:ext cx="1189199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третий разрез - по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село</a:t>
            </a:r>
          </a:p>
        </p:txBody>
      </p:sp>
      <p:sp>
        <p:nvSpPr>
          <p:cNvPr id="25" name="Стрелка: штриховая вправо 24">
            <a:extLst>
              <a:ext uri="{FF2B5EF4-FFF2-40B4-BE49-F238E27FC236}">
                <a16:creationId xmlns:a16="http://schemas.microsoft.com/office/drawing/2014/main" id="{67632D36-5DAC-24F0-8615-EC18BF56B706}"/>
              </a:ext>
            </a:extLst>
          </p:cNvPr>
          <p:cNvSpPr/>
          <p:nvPr/>
        </p:nvSpPr>
        <p:spPr>
          <a:xfrm rot="16200000">
            <a:off x="5993197" y="3629586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0" name="Стрелка: штриховая вправо 9">
            <a:extLst>
              <a:ext uri="{FF2B5EF4-FFF2-40B4-BE49-F238E27FC236}">
                <a16:creationId xmlns:a16="http://schemas.microsoft.com/office/drawing/2014/main" id="{165B39ED-7FD6-F2D7-AB97-49344414633B}"/>
              </a:ext>
            </a:extLst>
          </p:cNvPr>
          <p:cNvSpPr/>
          <p:nvPr/>
        </p:nvSpPr>
        <p:spPr>
          <a:xfrm rot="16200000">
            <a:off x="4317128" y="1640842"/>
            <a:ext cx="54167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5" name="Стрелка: штриховая вправо 14">
            <a:extLst>
              <a:ext uri="{FF2B5EF4-FFF2-40B4-BE49-F238E27FC236}">
                <a16:creationId xmlns:a16="http://schemas.microsoft.com/office/drawing/2014/main" id="{8121B905-13A4-EB73-94CB-FAB3BCAC8695}"/>
              </a:ext>
            </a:extLst>
          </p:cNvPr>
          <p:cNvSpPr/>
          <p:nvPr/>
        </p:nvSpPr>
        <p:spPr>
          <a:xfrm rot="16200000">
            <a:off x="5926456" y="2028620"/>
            <a:ext cx="132924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7" name="Стрелка: штриховая вправо 16">
            <a:extLst>
              <a:ext uri="{FF2B5EF4-FFF2-40B4-BE49-F238E27FC236}">
                <a16:creationId xmlns:a16="http://schemas.microsoft.com/office/drawing/2014/main" id="{23360875-D6B2-85F9-75DE-50B83E2C1E10}"/>
              </a:ext>
            </a:extLst>
          </p:cNvPr>
          <p:cNvSpPr/>
          <p:nvPr/>
        </p:nvSpPr>
        <p:spPr>
          <a:xfrm rot="16200000">
            <a:off x="7696546" y="1538189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cxnSp>
        <p:nvCxnSpPr>
          <p:cNvPr id="28" name="Соединитель: уступ 27">
            <a:extLst>
              <a:ext uri="{FF2B5EF4-FFF2-40B4-BE49-F238E27FC236}">
                <a16:creationId xmlns:a16="http://schemas.microsoft.com/office/drawing/2014/main" id="{8E1F7CF8-C593-FFE5-5011-964B743C4B74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2134170" y="1473752"/>
            <a:ext cx="1449543" cy="901950"/>
          </a:xfrm>
          <a:prstGeom prst="bentConnector3">
            <a:avLst>
              <a:gd name="adj1" fmla="val 100080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6EEC30BE-1786-DF9B-E95F-4712D30EEFFD}"/>
              </a:ext>
            </a:extLst>
          </p:cNvPr>
          <p:cNvCxnSpPr>
            <a:cxnSpLocks/>
          </p:cNvCxnSpPr>
          <p:nvPr/>
        </p:nvCxnSpPr>
        <p:spPr>
          <a:xfrm rot="10800000">
            <a:off x="2255627" y="1466145"/>
            <a:ext cx="4603911" cy="536174"/>
          </a:xfrm>
          <a:prstGeom prst="bentConnector3">
            <a:avLst>
              <a:gd name="adj1" fmla="val 100032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882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22 (40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1945760" y="796636"/>
            <a:ext cx="2724114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Первый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государственным медицинским организациям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4885270" y="805830"/>
            <a:ext cx="2517381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частным медицинским организациям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1963610" y="3816926"/>
            <a:ext cx="1220524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3474180" y="3816928"/>
            <a:ext cx="1195696" cy="11776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821408"/>
            <a:ext cx="1406236" cy="83778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4964701" y="3816927"/>
            <a:ext cx="1174163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6344874" y="3803988"/>
            <a:ext cx="1045831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12F7DE0-6CD5-1672-16F0-2604212DA1C4}"/>
              </a:ext>
            </a:extLst>
          </p:cNvPr>
          <p:cNvSpPr/>
          <p:nvPr/>
        </p:nvSpPr>
        <p:spPr>
          <a:xfrm>
            <a:off x="1945760" y="1813869"/>
            <a:ext cx="2724114" cy="83778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1962519" y="2839752"/>
            <a:ext cx="1221615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3474180" y="2829998"/>
            <a:ext cx="1185335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4944137" y="2828106"/>
            <a:ext cx="1174163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6333592" y="2823457"/>
            <a:ext cx="1045832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2442975" y="3569115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3840328" y="3592978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5383293" y="3592978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6702128" y="3596421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9" name="Стрелка: шеврон 48">
            <a:extLst>
              <a:ext uri="{FF2B5EF4-FFF2-40B4-BE49-F238E27FC236}">
                <a16:creationId xmlns:a16="http://schemas.microsoft.com/office/drawing/2014/main" id="{DA101073-A6E6-B927-545A-795589CD05E8}"/>
              </a:ext>
            </a:extLst>
          </p:cNvPr>
          <p:cNvSpPr/>
          <p:nvPr/>
        </p:nvSpPr>
        <p:spPr>
          <a:xfrm rot="16200000">
            <a:off x="3173303" y="2515500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E03A751-284F-D71E-8635-381610C11C60}"/>
              </a:ext>
            </a:extLst>
          </p:cNvPr>
          <p:cNvSpPr/>
          <p:nvPr/>
        </p:nvSpPr>
        <p:spPr>
          <a:xfrm>
            <a:off x="4925264" y="1810428"/>
            <a:ext cx="2477387" cy="83345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свод (</a:t>
            </a:r>
            <a:r>
              <a:rPr lang="ru-RU" sz="105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город+село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B9C407BD-F239-637A-8F2E-D7FB9D08E2E8}"/>
              </a:ext>
            </a:extLst>
          </p:cNvPr>
          <p:cNvSpPr/>
          <p:nvPr/>
        </p:nvSpPr>
        <p:spPr>
          <a:xfrm rot="16200000">
            <a:off x="6025634" y="2471397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46D07CF-B1EE-0AEB-DC57-A0C8F880B0B0}"/>
              </a:ext>
            </a:extLst>
          </p:cNvPr>
          <p:cNvSpPr/>
          <p:nvPr/>
        </p:nvSpPr>
        <p:spPr>
          <a:xfrm>
            <a:off x="7525690" y="813914"/>
            <a:ext cx="1396638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третий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другим ведомствам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848608-5A12-7A8B-E258-024B51333F96}"/>
              </a:ext>
            </a:extLst>
          </p:cNvPr>
          <p:cNvSpPr/>
          <p:nvPr/>
        </p:nvSpPr>
        <p:spPr>
          <a:xfrm>
            <a:off x="7530949" y="2823536"/>
            <a:ext cx="1391378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40272E6-E2AC-7291-27E4-4A8206B9E27E}"/>
              </a:ext>
            </a:extLst>
          </p:cNvPr>
          <p:cNvSpPr/>
          <p:nvPr/>
        </p:nvSpPr>
        <p:spPr>
          <a:xfrm>
            <a:off x="7530949" y="3803987"/>
            <a:ext cx="1391378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</a:p>
        </p:txBody>
      </p:sp>
      <p:sp>
        <p:nvSpPr>
          <p:cNvPr id="12" name="Стрелка: штриховая вправо 11">
            <a:extLst>
              <a:ext uri="{FF2B5EF4-FFF2-40B4-BE49-F238E27FC236}">
                <a16:creationId xmlns:a16="http://schemas.microsoft.com/office/drawing/2014/main" id="{678123A1-EFF0-A8D8-4E46-C2D581861688}"/>
              </a:ext>
            </a:extLst>
          </p:cNvPr>
          <p:cNvSpPr/>
          <p:nvPr/>
        </p:nvSpPr>
        <p:spPr>
          <a:xfrm rot="16200000">
            <a:off x="8020963" y="3592978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5" name="Стрелка: штриховая вправо 14">
            <a:extLst>
              <a:ext uri="{FF2B5EF4-FFF2-40B4-BE49-F238E27FC236}">
                <a16:creationId xmlns:a16="http://schemas.microsoft.com/office/drawing/2014/main" id="{5764E6F0-4009-AA3B-074F-6FCAF9461371}"/>
              </a:ext>
            </a:extLst>
          </p:cNvPr>
          <p:cNvSpPr/>
          <p:nvPr/>
        </p:nvSpPr>
        <p:spPr>
          <a:xfrm rot="16200000">
            <a:off x="3163380" y="1521787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6" name="Стрелка: штриховая вправо 15">
            <a:extLst>
              <a:ext uri="{FF2B5EF4-FFF2-40B4-BE49-F238E27FC236}">
                <a16:creationId xmlns:a16="http://schemas.microsoft.com/office/drawing/2014/main" id="{96241759-F04C-E0B9-6248-2C16FDB94862}"/>
              </a:ext>
            </a:extLst>
          </p:cNvPr>
          <p:cNvSpPr/>
          <p:nvPr/>
        </p:nvSpPr>
        <p:spPr>
          <a:xfrm rot="16200000">
            <a:off x="6007229" y="1511834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7" name="Стрелка: штриховая вправо 16">
            <a:extLst>
              <a:ext uri="{FF2B5EF4-FFF2-40B4-BE49-F238E27FC236}">
                <a16:creationId xmlns:a16="http://schemas.microsoft.com/office/drawing/2014/main" id="{37063ABB-8A0B-A973-1DE8-DDB0B10F4FB9}"/>
              </a:ext>
            </a:extLst>
          </p:cNvPr>
          <p:cNvSpPr/>
          <p:nvPr/>
        </p:nvSpPr>
        <p:spPr>
          <a:xfrm rot="16200000">
            <a:off x="7561292" y="2039277"/>
            <a:ext cx="1240979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715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23 (43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1945760" y="796636"/>
            <a:ext cx="3077386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Первый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государственным медицинским организациям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5430981" y="796635"/>
            <a:ext cx="3277083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частным медицинским организациям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1965802" y="3831277"/>
            <a:ext cx="1332618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pPr algn="ctr"/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(при желании Город ФАП, Город МП, Город МРБП)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3647391" y="3830840"/>
            <a:ext cx="1375756" cy="11776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  <a:p>
            <a:pPr algn="ctr"/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или при желании Село ФАП, Село МП, Село МРБП) 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821408"/>
            <a:ext cx="1406236" cy="83778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5430981" y="3822596"/>
            <a:ext cx="1574283" cy="117196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7194402" y="3816927"/>
            <a:ext cx="1513662" cy="11239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12F7DE0-6CD5-1672-16F0-2604212DA1C4}"/>
              </a:ext>
            </a:extLst>
          </p:cNvPr>
          <p:cNvSpPr/>
          <p:nvPr/>
        </p:nvSpPr>
        <p:spPr>
          <a:xfrm>
            <a:off x="1945760" y="1825732"/>
            <a:ext cx="3077386" cy="83778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1951098" y="2847850"/>
            <a:ext cx="1347322" cy="83778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3647390" y="2847850"/>
            <a:ext cx="1375756" cy="8572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5451706" y="2837578"/>
            <a:ext cx="1574283" cy="86751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7194400" y="2873923"/>
            <a:ext cx="1513663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2456119" y="3582657"/>
            <a:ext cx="313457" cy="336824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4167674" y="3580062"/>
            <a:ext cx="313457" cy="375809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6061394" y="3587505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7864177" y="3587505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9" name="Стрелка: шеврон 48">
            <a:extLst>
              <a:ext uri="{FF2B5EF4-FFF2-40B4-BE49-F238E27FC236}">
                <a16:creationId xmlns:a16="http://schemas.microsoft.com/office/drawing/2014/main" id="{DA101073-A6E6-B927-545A-795589CD05E8}"/>
              </a:ext>
            </a:extLst>
          </p:cNvPr>
          <p:cNvSpPr/>
          <p:nvPr/>
        </p:nvSpPr>
        <p:spPr>
          <a:xfrm rot="16200000">
            <a:off x="3306494" y="2567316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E03A751-284F-D71E-8635-381610C11C60}"/>
              </a:ext>
            </a:extLst>
          </p:cNvPr>
          <p:cNvSpPr/>
          <p:nvPr/>
        </p:nvSpPr>
        <p:spPr>
          <a:xfrm>
            <a:off x="5430981" y="1834324"/>
            <a:ext cx="3277083" cy="83345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свод (</a:t>
            </a:r>
            <a:r>
              <a:rPr lang="ru-RU" sz="105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город+село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B9C407BD-F239-637A-8F2E-D7FB9D08E2E8}"/>
              </a:ext>
            </a:extLst>
          </p:cNvPr>
          <p:cNvSpPr/>
          <p:nvPr/>
        </p:nvSpPr>
        <p:spPr>
          <a:xfrm rot="16200000">
            <a:off x="6907818" y="2515501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3" name="Стрелка: штриховая вправо 2">
            <a:extLst>
              <a:ext uri="{FF2B5EF4-FFF2-40B4-BE49-F238E27FC236}">
                <a16:creationId xmlns:a16="http://schemas.microsoft.com/office/drawing/2014/main" id="{B89B8644-BBF8-D184-4FB8-416442F64451}"/>
              </a:ext>
            </a:extLst>
          </p:cNvPr>
          <p:cNvSpPr/>
          <p:nvPr/>
        </p:nvSpPr>
        <p:spPr>
          <a:xfrm rot="16200000">
            <a:off x="3328770" y="1470151"/>
            <a:ext cx="313457" cy="336824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" name="Стрелка: штриховая вправо 3">
            <a:extLst>
              <a:ext uri="{FF2B5EF4-FFF2-40B4-BE49-F238E27FC236}">
                <a16:creationId xmlns:a16="http://schemas.microsoft.com/office/drawing/2014/main" id="{59243C5E-C148-EC6F-440E-8929D17FC509}"/>
              </a:ext>
            </a:extLst>
          </p:cNvPr>
          <p:cNvSpPr/>
          <p:nvPr/>
        </p:nvSpPr>
        <p:spPr>
          <a:xfrm rot="16200000">
            <a:off x="6912794" y="1459771"/>
            <a:ext cx="313457" cy="336824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759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25 (46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967255"/>
            <a:ext cx="1406236" cy="49439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6ABBE6-1B98-7758-FAAF-5D4FB64E160D}"/>
              </a:ext>
            </a:extLst>
          </p:cNvPr>
          <p:cNvSpPr/>
          <p:nvPr/>
        </p:nvSpPr>
        <p:spPr>
          <a:xfrm>
            <a:off x="2240966" y="967257"/>
            <a:ext cx="3230864" cy="49439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в одном разрезе «система здравоохранения»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Объектов МЗ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2257911" y="3812709"/>
            <a:ext cx="154259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930958"/>
            <a:ext cx="1406236" cy="7282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4030349" y="2835525"/>
            <a:ext cx="1441481" cy="8204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2240966" y="2844182"/>
            <a:ext cx="1542596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4048228" y="3830078"/>
            <a:ext cx="1441481" cy="11776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2855536" y="3605100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4567551" y="3579542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66D221C-CFA7-89CD-F600-F974BDDD832C}"/>
              </a:ext>
            </a:extLst>
          </p:cNvPr>
          <p:cNvSpPr/>
          <p:nvPr/>
        </p:nvSpPr>
        <p:spPr>
          <a:xfrm>
            <a:off x="2240966" y="1930958"/>
            <a:ext cx="3230864" cy="7325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 + частный сектор </a:t>
            </a:r>
          </a:p>
        </p:txBody>
      </p:sp>
      <p:sp>
        <p:nvSpPr>
          <p:cNvPr id="10" name="Стрелка: шеврон 9">
            <a:extLst>
              <a:ext uri="{FF2B5EF4-FFF2-40B4-BE49-F238E27FC236}">
                <a16:creationId xmlns:a16="http://schemas.microsoft.com/office/drawing/2014/main" id="{1CF386F4-8296-A069-BE04-50A288F359DC}"/>
              </a:ext>
            </a:extLst>
          </p:cNvPr>
          <p:cNvSpPr/>
          <p:nvPr/>
        </p:nvSpPr>
        <p:spPr>
          <a:xfrm rot="16200000">
            <a:off x="3752198" y="2534282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12" name="Стрелка: штриховая вправо 11">
            <a:extLst>
              <a:ext uri="{FF2B5EF4-FFF2-40B4-BE49-F238E27FC236}">
                <a16:creationId xmlns:a16="http://schemas.microsoft.com/office/drawing/2014/main" id="{19BD1CAF-1381-B6CC-8771-C342E3176758}"/>
              </a:ext>
            </a:extLst>
          </p:cNvPr>
          <p:cNvSpPr/>
          <p:nvPr/>
        </p:nvSpPr>
        <p:spPr>
          <a:xfrm rot="16200000">
            <a:off x="3616401" y="1567134"/>
            <a:ext cx="479995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8B869A-72DB-95D9-9AA2-877C2C0141E5}"/>
              </a:ext>
            </a:extLst>
          </p:cNvPr>
          <p:cNvSpPr txBox="1"/>
          <p:nvPr/>
        </p:nvSpPr>
        <p:spPr>
          <a:xfrm>
            <a:off x="5586839" y="2909001"/>
            <a:ext cx="2711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i="1" dirty="0">
                <a:solidFill>
                  <a:schemeClr val="tx1"/>
                </a:solidFill>
                <a:latin typeface="Century Gothic" panose="020B0502020202020204" pitchFamily="34" charset="0"/>
              </a:rPr>
              <a:t>* «Частный сектор» для внесения данных по ЗОЖ</a:t>
            </a:r>
            <a:endParaRPr lang="ru-RU" sz="1200" i="1" dirty="0"/>
          </a:p>
        </p:txBody>
      </p:sp>
    </p:spTree>
    <p:extLst>
      <p:ext uri="{BB962C8B-B14F-4D97-AF65-F5344CB8AC3E}">
        <p14:creationId xmlns:p14="http://schemas.microsoft.com/office/powerpoint/2010/main" val="1758599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26 (47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796637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6ABBE6-1B98-7758-FAAF-5D4FB64E160D}"/>
              </a:ext>
            </a:extLst>
          </p:cNvPr>
          <p:cNvSpPr/>
          <p:nvPr/>
        </p:nvSpPr>
        <p:spPr>
          <a:xfrm>
            <a:off x="1775847" y="796635"/>
            <a:ext cx="1898072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по государственным МО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  <a:r>
              <a:rPr lang="ru-RU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5B9B8B-0EB3-0A06-F408-89DF6C540BEF}"/>
              </a:ext>
            </a:extLst>
          </p:cNvPr>
          <p:cNvSpPr/>
          <p:nvPr/>
        </p:nvSpPr>
        <p:spPr>
          <a:xfrm>
            <a:off x="3745046" y="796636"/>
            <a:ext cx="1602808" cy="6650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второй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село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12B5766-3977-31FF-A830-7BDB61448C0E}"/>
              </a:ext>
            </a:extLst>
          </p:cNvPr>
          <p:cNvSpPr/>
          <p:nvPr/>
        </p:nvSpPr>
        <p:spPr>
          <a:xfrm>
            <a:off x="5430982" y="796635"/>
            <a:ext cx="1898072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третий разрез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- по частным МО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A44701-8281-BE56-F364-93DBE4A5EDE5}"/>
              </a:ext>
            </a:extLst>
          </p:cNvPr>
          <p:cNvSpPr/>
          <p:nvPr/>
        </p:nvSpPr>
        <p:spPr>
          <a:xfrm>
            <a:off x="7412181" y="796636"/>
            <a:ext cx="1406236" cy="6650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четвертый разрез -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по другим ведомствам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841159"/>
            <a:ext cx="1406236" cy="8180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филиала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1780402" y="2837577"/>
            <a:ext cx="1897422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3821953" y="2843808"/>
            <a:ext cx="1515722" cy="80096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436CDE74-BC46-B2E2-F760-D4048F7A07D2}"/>
              </a:ext>
            </a:extLst>
          </p:cNvPr>
          <p:cNvSpPr/>
          <p:nvPr/>
        </p:nvSpPr>
        <p:spPr>
          <a:xfrm>
            <a:off x="7412181" y="2809847"/>
            <a:ext cx="1406236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Ведомства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endParaRPr lang="ru-RU" sz="105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C9A7878-1A20-2E9F-19C9-2D3FC48970DF}"/>
              </a:ext>
            </a:extLst>
          </p:cNvPr>
          <p:cNvSpPr/>
          <p:nvPr/>
        </p:nvSpPr>
        <p:spPr>
          <a:xfrm>
            <a:off x="5460436" y="2837577"/>
            <a:ext cx="1839161" cy="82869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</a:t>
            </a:r>
            <a:r>
              <a:rPr lang="ru-RU" sz="105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город+село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7" name="Стрелка: штриховая вправо 16">
            <a:extLst>
              <a:ext uri="{FF2B5EF4-FFF2-40B4-BE49-F238E27FC236}">
                <a16:creationId xmlns:a16="http://schemas.microsoft.com/office/drawing/2014/main" id="{E1125FAF-E9B7-AE7E-E451-4C0F3D6D0CDB}"/>
              </a:ext>
            </a:extLst>
          </p:cNvPr>
          <p:cNvSpPr/>
          <p:nvPr/>
        </p:nvSpPr>
        <p:spPr>
          <a:xfrm rot="16200000">
            <a:off x="7373453" y="2022101"/>
            <a:ext cx="1327838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060EFC-68E6-2530-E7F4-C797934D8D3C}"/>
              </a:ext>
            </a:extLst>
          </p:cNvPr>
          <p:cNvSpPr/>
          <p:nvPr/>
        </p:nvSpPr>
        <p:spPr>
          <a:xfrm>
            <a:off x="1804229" y="1825731"/>
            <a:ext cx="2841781" cy="8433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18C7E9AC-94EE-443F-F7DC-3736A33D4625}"/>
              </a:ext>
            </a:extLst>
          </p:cNvPr>
          <p:cNvSpPr/>
          <p:nvPr/>
        </p:nvSpPr>
        <p:spPr>
          <a:xfrm rot="16200000">
            <a:off x="3594833" y="2582544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6" name="Стрелка: штриховая вправо 5">
            <a:extLst>
              <a:ext uri="{FF2B5EF4-FFF2-40B4-BE49-F238E27FC236}">
                <a16:creationId xmlns:a16="http://schemas.microsoft.com/office/drawing/2014/main" id="{04B9AD0D-6078-DF2C-6A6F-968C3C64F193}"/>
              </a:ext>
            </a:extLst>
          </p:cNvPr>
          <p:cNvSpPr/>
          <p:nvPr/>
        </p:nvSpPr>
        <p:spPr>
          <a:xfrm rot="16200000">
            <a:off x="4367827" y="2027587"/>
            <a:ext cx="1348760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2" name="Стрелка: штриховая вправо 11">
            <a:extLst>
              <a:ext uri="{FF2B5EF4-FFF2-40B4-BE49-F238E27FC236}">
                <a16:creationId xmlns:a16="http://schemas.microsoft.com/office/drawing/2014/main" id="{42250457-F617-290C-97D2-FF5402F4B64E}"/>
              </a:ext>
            </a:extLst>
          </p:cNvPr>
          <p:cNvSpPr/>
          <p:nvPr/>
        </p:nvSpPr>
        <p:spPr>
          <a:xfrm rot="16200000">
            <a:off x="5716099" y="2022100"/>
            <a:ext cx="1327838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3" name="Стрелка: штриховая вправо 12">
            <a:extLst>
              <a:ext uri="{FF2B5EF4-FFF2-40B4-BE49-F238E27FC236}">
                <a16:creationId xmlns:a16="http://schemas.microsoft.com/office/drawing/2014/main" id="{E7BF19FE-B9AB-70A3-1CDF-05AE0C864AA3}"/>
              </a:ext>
            </a:extLst>
          </p:cNvPr>
          <p:cNvSpPr/>
          <p:nvPr/>
        </p:nvSpPr>
        <p:spPr>
          <a:xfrm rot="16200000">
            <a:off x="2588421" y="1475280"/>
            <a:ext cx="313457" cy="336824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105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442" y="47791"/>
            <a:ext cx="6135747" cy="480431"/>
          </a:xfrm>
        </p:spPr>
        <p:txBody>
          <a:bodyPr anchor="ctr"/>
          <a:lstStyle/>
          <a:p>
            <a:pPr>
              <a:defRPr/>
            </a:pPr>
            <a:r>
              <a:rPr lang="ru-RU" sz="1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Приложение 27 (52 ф)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4EBFB0-39CA-89A7-3330-93CB68CB6A92}"/>
              </a:ext>
            </a:extLst>
          </p:cNvPr>
          <p:cNvSpPr/>
          <p:nvPr/>
        </p:nvSpPr>
        <p:spPr>
          <a:xfrm>
            <a:off x="221673" y="967255"/>
            <a:ext cx="1406236" cy="49439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РК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6ABBE6-1B98-7758-FAAF-5D4FB64E160D}"/>
              </a:ext>
            </a:extLst>
          </p:cNvPr>
          <p:cNvSpPr/>
          <p:nvPr/>
        </p:nvSpPr>
        <p:spPr>
          <a:xfrm>
            <a:off x="1884217" y="967257"/>
            <a:ext cx="4858869" cy="49439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 + частный сектор 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44D403-6379-9B50-1F61-B3E4B618ECCB}"/>
              </a:ext>
            </a:extLst>
          </p:cNvPr>
          <p:cNvSpPr/>
          <p:nvPr/>
        </p:nvSpPr>
        <p:spPr>
          <a:xfrm>
            <a:off x="221673" y="3816927"/>
            <a:ext cx="1406236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МО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B6A6CD7-FE54-1630-8235-2779BE35B76C}"/>
              </a:ext>
            </a:extLst>
          </p:cNvPr>
          <p:cNvSpPr/>
          <p:nvPr/>
        </p:nvSpPr>
        <p:spPr>
          <a:xfrm>
            <a:off x="1946133" y="3816925"/>
            <a:ext cx="994433" cy="117763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pPr algn="ctr"/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(при желании Город ВА, Город СВА, Город ПМСП)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5C8E2-7A30-F039-69C6-3C18B7D15B1C}"/>
              </a:ext>
            </a:extLst>
          </p:cNvPr>
          <p:cNvSpPr/>
          <p:nvPr/>
        </p:nvSpPr>
        <p:spPr>
          <a:xfrm>
            <a:off x="3154793" y="3816925"/>
            <a:ext cx="1023675" cy="11776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  <a:p>
            <a:pPr algn="ctr"/>
            <a:r>
              <a:rPr lang="ru-RU" sz="900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ru-RU" sz="700" dirty="0">
                <a:solidFill>
                  <a:schemeClr val="tx1"/>
                </a:solidFill>
                <a:latin typeface="Century Gothic" panose="020B0502020202020204" pitchFamily="34" charset="0"/>
              </a:rPr>
              <a:t>или при желании Село ЦРБ, Село РБ, Село ВА, Село СВА, Село ФАП, Село МП, Село СБ) 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BABD984-6DF4-EAB4-510E-A83E2843606F}"/>
              </a:ext>
            </a:extLst>
          </p:cNvPr>
          <p:cNvSpPr/>
          <p:nvPr/>
        </p:nvSpPr>
        <p:spPr>
          <a:xfrm>
            <a:off x="228600" y="1930958"/>
            <a:ext cx="1406236" cy="7282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Уровень слияния форм по разрезам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C872C6-E9B6-BD4D-AA19-BF6EE780AC1F}"/>
              </a:ext>
            </a:extLst>
          </p:cNvPr>
          <p:cNvSpPr/>
          <p:nvPr/>
        </p:nvSpPr>
        <p:spPr>
          <a:xfrm>
            <a:off x="4403137" y="2837579"/>
            <a:ext cx="1030432" cy="8204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AC6FF3C-52E5-3FDD-BFE2-98E2F741632D}"/>
              </a:ext>
            </a:extLst>
          </p:cNvPr>
          <p:cNvSpPr/>
          <p:nvPr/>
        </p:nvSpPr>
        <p:spPr>
          <a:xfrm>
            <a:off x="5712655" y="3812708"/>
            <a:ext cx="1030431" cy="11776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A2B601B-37B6-F327-EF52-92ACBCDF540D}"/>
              </a:ext>
            </a:extLst>
          </p:cNvPr>
          <p:cNvSpPr/>
          <p:nvPr/>
        </p:nvSpPr>
        <p:spPr>
          <a:xfrm>
            <a:off x="221673" y="2837578"/>
            <a:ext cx="1406236" cy="80096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Уровень сведения форм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51FB77-2BBA-9335-959F-31FFF0FE8BBE}"/>
              </a:ext>
            </a:extLst>
          </p:cNvPr>
          <p:cNvSpPr/>
          <p:nvPr/>
        </p:nvSpPr>
        <p:spPr>
          <a:xfrm>
            <a:off x="1929188" y="2837578"/>
            <a:ext cx="1011378" cy="80096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Город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622DDDE-39BC-B787-A82E-F3BA577100A6}"/>
              </a:ext>
            </a:extLst>
          </p:cNvPr>
          <p:cNvSpPr/>
          <p:nvPr/>
        </p:nvSpPr>
        <p:spPr>
          <a:xfrm>
            <a:off x="3148036" y="2837579"/>
            <a:ext cx="1030432" cy="8204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Государственные - Село (свод)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9AFC2DB-1978-A6F3-1502-C168EDDD8A41}"/>
              </a:ext>
            </a:extLst>
          </p:cNvPr>
          <p:cNvSpPr/>
          <p:nvPr/>
        </p:nvSpPr>
        <p:spPr>
          <a:xfrm>
            <a:off x="4386028" y="3812709"/>
            <a:ext cx="1047542" cy="117763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(город)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C4888C3-7F86-324B-D14A-33DE55F45180}"/>
              </a:ext>
            </a:extLst>
          </p:cNvPr>
          <p:cNvSpPr/>
          <p:nvPr/>
        </p:nvSpPr>
        <p:spPr>
          <a:xfrm>
            <a:off x="5712655" y="2837578"/>
            <a:ext cx="1030432" cy="8204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Частные - </a:t>
            </a:r>
            <a:r>
              <a:rPr lang="ru-RU" sz="1050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(село)</a:t>
            </a:r>
          </a:p>
        </p:txBody>
      </p:sp>
      <p:sp>
        <p:nvSpPr>
          <p:cNvPr id="42" name="Стрелка: штриховая вправо 41">
            <a:extLst>
              <a:ext uri="{FF2B5EF4-FFF2-40B4-BE49-F238E27FC236}">
                <a16:creationId xmlns:a16="http://schemas.microsoft.com/office/drawing/2014/main" id="{23120B40-049D-4648-58FF-648F5B8DF27B}"/>
              </a:ext>
            </a:extLst>
          </p:cNvPr>
          <p:cNvSpPr/>
          <p:nvPr/>
        </p:nvSpPr>
        <p:spPr>
          <a:xfrm rot="16200000">
            <a:off x="2303330" y="3590042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3" name="Стрелка: штриховая вправо 42">
            <a:extLst>
              <a:ext uri="{FF2B5EF4-FFF2-40B4-BE49-F238E27FC236}">
                <a16:creationId xmlns:a16="http://schemas.microsoft.com/office/drawing/2014/main" id="{19A2D3D4-58D4-0AEF-46AB-B0E36EFE68CF}"/>
              </a:ext>
            </a:extLst>
          </p:cNvPr>
          <p:cNvSpPr/>
          <p:nvPr/>
        </p:nvSpPr>
        <p:spPr>
          <a:xfrm rot="16200000">
            <a:off x="3488605" y="3579543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4" name="Стрелка: штриховая вправо 43">
            <a:extLst>
              <a:ext uri="{FF2B5EF4-FFF2-40B4-BE49-F238E27FC236}">
                <a16:creationId xmlns:a16="http://schemas.microsoft.com/office/drawing/2014/main" id="{F52022D0-F100-DD4F-C633-D7D567BB9A44}"/>
              </a:ext>
            </a:extLst>
          </p:cNvPr>
          <p:cNvSpPr/>
          <p:nvPr/>
        </p:nvSpPr>
        <p:spPr>
          <a:xfrm rot="16200000">
            <a:off x="4734804" y="3631378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45" name="Стрелка: штриховая вправо 44">
            <a:extLst>
              <a:ext uri="{FF2B5EF4-FFF2-40B4-BE49-F238E27FC236}">
                <a16:creationId xmlns:a16="http://schemas.microsoft.com/office/drawing/2014/main" id="{2167C641-5F26-BAE5-EFDA-92DBC5E048E3}"/>
              </a:ext>
            </a:extLst>
          </p:cNvPr>
          <p:cNvSpPr/>
          <p:nvPr/>
        </p:nvSpPr>
        <p:spPr>
          <a:xfrm rot="16200000">
            <a:off x="6062740" y="3631378"/>
            <a:ext cx="313457" cy="247652"/>
          </a:xfrm>
          <a:prstGeom prst="striped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B9C5A-D1C0-4CA6-40F4-D129E305E1A5}"/>
              </a:ext>
            </a:extLst>
          </p:cNvPr>
          <p:cNvSpPr txBox="1"/>
          <p:nvPr/>
        </p:nvSpPr>
        <p:spPr>
          <a:xfrm>
            <a:off x="7116557" y="1422982"/>
            <a:ext cx="14414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i="1" dirty="0">
                <a:solidFill>
                  <a:schemeClr val="tx1"/>
                </a:solidFill>
                <a:latin typeface="Century Gothic" panose="020B0502020202020204" pitchFamily="34" charset="0"/>
              </a:rPr>
              <a:t>* Подразумевается не только «</a:t>
            </a:r>
            <a:r>
              <a:rPr lang="ru-RU" sz="1200" b="1" i="1" dirty="0">
                <a:solidFill>
                  <a:schemeClr val="tx1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государственные МО</a:t>
            </a:r>
            <a:r>
              <a:rPr lang="ru-RU" sz="1200" b="1" i="1" dirty="0">
                <a:solidFill>
                  <a:schemeClr val="tx1"/>
                </a:solidFill>
                <a:latin typeface="Century Gothic" panose="020B0502020202020204" pitchFamily="34" charset="0"/>
              </a:rPr>
              <a:t>». Включаем данные по </a:t>
            </a:r>
            <a:r>
              <a:rPr lang="ru-RU" sz="1200" b="1" i="1" dirty="0">
                <a:solidFill>
                  <a:schemeClr val="tx1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частным</a:t>
            </a:r>
            <a:r>
              <a:rPr lang="ru-RU" sz="1200" b="1" i="1" dirty="0">
                <a:solidFill>
                  <a:schemeClr val="tx1"/>
                </a:solidFill>
                <a:latin typeface="Century Gothic" panose="020B0502020202020204" pitchFamily="34" charset="0"/>
              </a:rPr>
              <a:t> МО, имеющих прикрепленное население</a:t>
            </a:r>
            <a:endParaRPr lang="ru-RU" sz="12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B1E04-76EE-653C-AD03-87ED4548A683}"/>
              </a:ext>
            </a:extLst>
          </p:cNvPr>
          <p:cNvSpPr txBox="1"/>
          <p:nvPr/>
        </p:nvSpPr>
        <p:spPr>
          <a:xfrm>
            <a:off x="2190581" y="60145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в одном разрезе </a:t>
            </a:r>
            <a:r>
              <a:rPr lang="ru-RU" b="1" dirty="0">
                <a:solidFill>
                  <a:schemeClr val="tx1"/>
                </a:solidFill>
                <a:latin typeface="Century Gothic" panose="020B0502020202020204" pitchFamily="34" charset="0"/>
              </a:rPr>
              <a:t>«</a:t>
            </a:r>
            <a:r>
              <a:rPr lang="ru-RU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система здравоохранения»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66D221C-CFA7-89CD-F600-F974BDDD832C}"/>
              </a:ext>
            </a:extLst>
          </p:cNvPr>
          <p:cNvSpPr/>
          <p:nvPr/>
        </p:nvSpPr>
        <p:spPr>
          <a:xfrm>
            <a:off x="1945760" y="1930958"/>
            <a:ext cx="2232708" cy="7325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Свод здравоохранения</a:t>
            </a:r>
          </a:p>
        </p:txBody>
      </p:sp>
      <p:sp>
        <p:nvSpPr>
          <p:cNvPr id="6" name="Стрелка: шеврон 5">
            <a:extLst>
              <a:ext uri="{FF2B5EF4-FFF2-40B4-BE49-F238E27FC236}">
                <a16:creationId xmlns:a16="http://schemas.microsoft.com/office/drawing/2014/main" id="{71092FF8-47EF-54C2-22DA-752CCF5A7E49}"/>
              </a:ext>
            </a:extLst>
          </p:cNvPr>
          <p:cNvSpPr/>
          <p:nvPr/>
        </p:nvSpPr>
        <p:spPr>
          <a:xfrm rot="16200000">
            <a:off x="2857597" y="2504557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723CF2-5ED8-D651-8E26-489584267D8B}"/>
              </a:ext>
            </a:extLst>
          </p:cNvPr>
          <p:cNvSpPr/>
          <p:nvPr/>
        </p:nvSpPr>
        <p:spPr>
          <a:xfrm>
            <a:off x="4313651" y="1926765"/>
            <a:ext cx="2429435" cy="7367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Частный сектор свод (</a:t>
            </a:r>
            <a:r>
              <a:rPr lang="ru-RU" sz="105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город+село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0" name="Стрелка: шеврон 9">
            <a:extLst>
              <a:ext uri="{FF2B5EF4-FFF2-40B4-BE49-F238E27FC236}">
                <a16:creationId xmlns:a16="http://schemas.microsoft.com/office/drawing/2014/main" id="{1CF386F4-8296-A069-BE04-50A288F359DC}"/>
              </a:ext>
            </a:extLst>
          </p:cNvPr>
          <p:cNvSpPr/>
          <p:nvPr/>
        </p:nvSpPr>
        <p:spPr>
          <a:xfrm rot="16200000">
            <a:off x="5411749" y="2504558"/>
            <a:ext cx="323409" cy="426028"/>
          </a:xfrm>
          <a:prstGeom prst="chevr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chemeClr val="tx1"/>
              </a:solidFill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C51F19F-1602-AD4A-E51F-847FE17579F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062114" y="1519682"/>
            <a:ext cx="1116354" cy="4112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18BEC704-50C5-31F7-C2E5-2705AB52A8D5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4486170" y="1504198"/>
            <a:ext cx="1042199" cy="4225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020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52"/>
          <p:cNvSpPr txBox="1">
            <a:spLocks noGrp="1"/>
          </p:cNvSpPr>
          <p:nvPr>
            <p:ph type="title"/>
          </p:nvPr>
        </p:nvSpPr>
        <p:spPr>
          <a:xfrm>
            <a:off x="827584" y="1491630"/>
            <a:ext cx="7488832" cy="187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 !</a:t>
            </a:r>
            <a:endParaRPr/>
          </a:p>
        </p:txBody>
      </p:sp>
      <p:sp>
        <p:nvSpPr>
          <p:cNvPr id="866" name="Google Shape;866;p52"/>
          <p:cNvSpPr txBox="1">
            <a:spLocks noGrp="1"/>
          </p:cNvSpPr>
          <p:nvPr>
            <p:ph type="sldNum" idx="12"/>
          </p:nvPr>
        </p:nvSpPr>
        <p:spPr>
          <a:xfrm>
            <a:off x="6553199" y="4767263"/>
            <a:ext cx="2528923" cy="37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16</a:t>
            </a:fld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1576</Words>
  <Application>Microsoft Office PowerPoint</Application>
  <PresentationFormat>Экран (16:9)</PresentationFormat>
  <Paragraphs>273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Century Gothic</vt:lpstr>
      <vt:lpstr>Arial</vt:lpstr>
      <vt:lpstr>Calibri</vt:lpstr>
      <vt:lpstr>Simple Light</vt:lpstr>
      <vt:lpstr>Тема Office</vt:lpstr>
      <vt:lpstr>Презентация PowerPoint</vt:lpstr>
      <vt:lpstr>Приложения 5, 10-14, 24  (формы 6, 7, 8, 9, 10, 11, 45 и 41)</vt:lpstr>
      <vt:lpstr>Приложение 6 (21 ф)</vt:lpstr>
      <vt:lpstr>Приложения 15 (12ф), 28 (59ф)</vt:lpstr>
      <vt:lpstr>Скрины по 15 и 28 приложениям в Медстат</vt:lpstr>
      <vt:lpstr>Приложение 16 (14 ф)</vt:lpstr>
      <vt:lpstr>Приложение 17 (17 ф)</vt:lpstr>
      <vt:lpstr>Приложение 19 (30 ф)</vt:lpstr>
      <vt:lpstr>Приложение 20 (31 ф)</vt:lpstr>
      <vt:lpstr>Приложение 21 (32 ф)</vt:lpstr>
      <vt:lpstr>Приложение 22 (40 ф)</vt:lpstr>
      <vt:lpstr>Приложение 23 (43 ф)</vt:lpstr>
      <vt:lpstr>Приложение 25 (46 ф)</vt:lpstr>
      <vt:lpstr>Приложение 26 (47 ф)</vt:lpstr>
      <vt:lpstr>Приложение 27 (52 ф)</vt:lpstr>
      <vt:lpstr>СПАСИБО ЗА ВНИМАНИЕ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Жадыра Карашутова</dc:creator>
  <cp:lastModifiedBy>Лариса Е. Минаева</cp:lastModifiedBy>
  <cp:revision>49</cp:revision>
  <dcterms:modified xsi:type="dcterms:W3CDTF">2024-01-09T09:56:43Z</dcterms:modified>
</cp:coreProperties>
</file>