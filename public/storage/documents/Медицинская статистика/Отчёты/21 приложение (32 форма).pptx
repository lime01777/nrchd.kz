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59" r:id="rId6"/>
    <p:sldId id="273" r:id="rId7"/>
    <p:sldId id="260" r:id="rId8"/>
    <p:sldId id="267" r:id="rId9"/>
    <p:sldId id="261" r:id="rId10"/>
    <p:sldId id="262" r:id="rId11"/>
    <p:sldId id="268" r:id="rId12"/>
    <p:sldId id="263" r:id="rId13"/>
    <p:sldId id="274" r:id="rId14"/>
    <p:sldId id="264" r:id="rId15"/>
    <p:sldId id="269" r:id="rId16"/>
    <p:sldId id="265" r:id="rId17"/>
    <p:sldId id="270" r:id="rId18"/>
    <p:sldId id="266" r:id="rId19"/>
  </p:sldIdLst>
  <p:sldSz cx="18288000" cy="10287000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3356" autoAdjust="0"/>
  </p:normalViewPr>
  <p:slideViewPr>
    <p:cSldViewPr>
      <p:cViewPr varScale="1">
        <p:scale>
          <a:sx n="70" d="100"/>
          <a:sy n="70" d="100"/>
        </p:scale>
        <p:origin x="73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3.svg"/><Relationship Id="rId18" Type="http://schemas.openxmlformats.org/officeDocument/2006/relationships/image" Target="../media/image10.png"/><Relationship Id="rId3" Type="http://schemas.openxmlformats.org/officeDocument/2006/relationships/image" Target="../media/image3.svg"/><Relationship Id="rId21" Type="http://schemas.openxmlformats.org/officeDocument/2006/relationships/image" Target="../media/image21.svg"/><Relationship Id="rId7" Type="http://schemas.openxmlformats.org/officeDocument/2006/relationships/image" Target="../media/image7.svg"/><Relationship Id="rId12" Type="http://schemas.openxmlformats.org/officeDocument/2006/relationships/image" Target="../media/image7.pn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24" Type="http://schemas.openxmlformats.org/officeDocument/2006/relationships/image" Target="../media/image13.pn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23" Type="http://schemas.openxmlformats.org/officeDocument/2006/relationships/image" Target="../media/image23.svg"/><Relationship Id="rId10" Type="http://schemas.openxmlformats.org/officeDocument/2006/relationships/image" Target="../media/image6.png"/><Relationship Id="rId19" Type="http://schemas.openxmlformats.org/officeDocument/2006/relationships/image" Target="../media/image19.svg"/><Relationship Id="rId4" Type="http://schemas.openxmlformats.org/officeDocument/2006/relationships/image" Target="../media/image3.png"/><Relationship Id="rId9" Type="http://schemas.openxmlformats.org/officeDocument/2006/relationships/image" Target="../media/image9.svg"/><Relationship Id="rId14" Type="http://schemas.openxmlformats.org/officeDocument/2006/relationships/image" Target="../media/image8.png"/><Relationship Id="rId22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3.svg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openxmlformats.org/officeDocument/2006/relationships/image" Target="../media/image3.svg"/><Relationship Id="rId21" Type="http://schemas.openxmlformats.org/officeDocument/2006/relationships/image" Target="../media/image21.svg"/><Relationship Id="rId7" Type="http://schemas.openxmlformats.org/officeDocument/2006/relationships/image" Target="../media/image7.svg"/><Relationship Id="rId12" Type="http://schemas.openxmlformats.org/officeDocument/2006/relationships/image" Target="../media/image7.pn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24" Type="http://schemas.openxmlformats.org/officeDocument/2006/relationships/image" Target="../media/image13.pn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23" Type="http://schemas.openxmlformats.org/officeDocument/2006/relationships/image" Target="../media/image23.svg"/><Relationship Id="rId10" Type="http://schemas.openxmlformats.org/officeDocument/2006/relationships/image" Target="../media/image6.png"/><Relationship Id="rId19" Type="http://schemas.openxmlformats.org/officeDocument/2006/relationships/image" Target="../media/image19.svg"/><Relationship Id="rId4" Type="http://schemas.openxmlformats.org/officeDocument/2006/relationships/image" Target="../media/image3.png"/><Relationship Id="rId9" Type="http://schemas.openxmlformats.org/officeDocument/2006/relationships/image" Target="../media/image9.svg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7.svg"/><Relationship Id="rId18" Type="http://schemas.openxmlformats.org/officeDocument/2006/relationships/image" Target="../media/image24.png"/><Relationship Id="rId3" Type="http://schemas.openxmlformats.org/officeDocument/2006/relationships/image" Target="../media/image27.svg"/><Relationship Id="rId21" Type="http://schemas.openxmlformats.org/officeDocument/2006/relationships/image" Target="../media/image45.svg"/><Relationship Id="rId7" Type="http://schemas.openxmlformats.org/officeDocument/2006/relationships/image" Target="../media/image31.svg"/><Relationship Id="rId12" Type="http://schemas.openxmlformats.org/officeDocument/2006/relationships/image" Target="../media/image21.png"/><Relationship Id="rId17" Type="http://schemas.openxmlformats.org/officeDocument/2006/relationships/image" Target="../media/image41.svg"/><Relationship Id="rId25" Type="http://schemas.openxmlformats.org/officeDocument/2006/relationships/image" Target="../media/image49.svg"/><Relationship Id="rId2" Type="http://schemas.openxmlformats.org/officeDocument/2006/relationships/image" Target="../media/image16.png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35.svg"/><Relationship Id="rId24" Type="http://schemas.openxmlformats.org/officeDocument/2006/relationships/image" Target="../media/image27.png"/><Relationship Id="rId5" Type="http://schemas.openxmlformats.org/officeDocument/2006/relationships/image" Target="../media/image29.svg"/><Relationship Id="rId15" Type="http://schemas.openxmlformats.org/officeDocument/2006/relationships/image" Target="../media/image39.svg"/><Relationship Id="rId23" Type="http://schemas.openxmlformats.org/officeDocument/2006/relationships/image" Target="../media/image47.svg"/><Relationship Id="rId10" Type="http://schemas.openxmlformats.org/officeDocument/2006/relationships/image" Target="../media/image20.png"/><Relationship Id="rId19" Type="http://schemas.openxmlformats.org/officeDocument/2006/relationships/image" Target="../media/image43.svg"/><Relationship Id="rId4" Type="http://schemas.openxmlformats.org/officeDocument/2006/relationships/image" Target="../media/image17.png"/><Relationship Id="rId9" Type="http://schemas.openxmlformats.org/officeDocument/2006/relationships/image" Target="../media/image33.svg"/><Relationship Id="rId14" Type="http://schemas.openxmlformats.org/officeDocument/2006/relationships/image" Target="../media/image22.png"/><Relationship Id="rId22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7.svg"/><Relationship Id="rId18" Type="http://schemas.openxmlformats.org/officeDocument/2006/relationships/image" Target="../media/image24.png"/><Relationship Id="rId26" Type="http://schemas.openxmlformats.org/officeDocument/2006/relationships/image" Target="../media/image28.png"/><Relationship Id="rId3" Type="http://schemas.openxmlformats.org/officeDocument/2006/relationships/image" Target="../media/image27.svg"/><Relationship Id="rId21" Type="http://schemas.openxmlformats.org/officeDocument/2006/relationships/image" Target="../media/image45.svg"/><Relationship Id="rId7" Type="http://schemas.openxmlformats.org/officeDocument/2006/relationships/image" Target="../media/image31.svg"/><Relationship Id="rId12" Type="http://schemas.openxmlformats.org/officeDocument/2006/relationships/image" Target="../media/image21.png"/><Relationship Id="rId17" Type="http://schemas.openxmlformats.org/officeDocument/2006/relationships/image" Target="../media/image41.svg"/><Relationship Id="rId25" Type="http://schemas.openxmlformats.org/officeDocument/2006/relationships/image" Target="../media/image49.svg"/><Relationship Id="rId2" Type="http://schemas.openxmlformats.org/officeDocument/2006/relationships/image" Target="../media/image16.png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35.svg"/><Relationship Id="rId24" Type="http://schemas.openxmlformats.org/officeDocument/2006/relationships/image" Target="../media/image27.png"/><Relationship Id="rId5" Type="http://schemas.openxmlformats.org/officeDocument/2006/relationships/image" Target="../media/image29.svg"/><Relationship Id="rId15" Type="http://schemas.openxmlformats.org/officeDocument/2006/relationships/image" Target="../media/image39.svg"/><Relationship Id="rId23" Type="http://schemas.openxmlformats.org/officeDocument/2006/relationships/image" Target="../media/image47.svg"/><Relationship Id="rId10" Type="http://schemas.openxmlformats.org/officeDocument/2006/relationships/image" Target="../media/image20.png"/><Relationship Id="rId19" Type="http://schemas.openxmlformats.org/officeDocument/2006/relationships/image" Target="../media/image43.svg"/><Relationship Id="rId4" Type="http://schemas.openxmlformats.org/officeDocument/2006/relationships/image" Target="../media/image17.png"/><Relationship Id="rId9" Type="http://schemas.openxmlformats.org/officeDocument/2006/relationships/image" Target="../media/image33.svg"/><Relationship Id="rId14" Type="http://schemas.openxmlformats.org/officeDocument/2006/relationships/image" Target="../media/image22.png"/><Relationship Id="rId22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7.svg"/><Relationship Id="rId18" Type="http://schemas.openxmlformats.org/officeDocument/2006/relationships/image" Target="../media/image24.png"/><Relationship Id="rId3" Type="http://schemas.openxmlformats.org/officeDocument/2006/relationships/image" Target="../media/image27.svg"/><Relationship Id="rId21" Type="http://schemas.openxmlformats.org/officeDocument/2006/relationships/image" Target="../media/image45.svg"/><Relationship Id="rId7" Type="http://schemas.openxmlformats.org/officeDocument/2006/relationships/image" Target="../media/image31.svg"/><Relationship Id="rId12" Type="http://schemas.openxmlformats.org/officeDocument/2006/relationships/image" Target="../media/image21.png"/><Relationship Id="rId17" Type="http://schemas.openxmlformats.org/officeDocument/2006/relationships/image" Target="../media/image41.svg"/><Relationship Id="rId25" Type="http://schemas.openxmlformats.org/officeDocument/2006/relationships/image" Target="../media/image49.svg"/><Relationship Id="rId2" Type="http://schemas.openxmlformats.org/officeDocument/2006/relationships/image" Target="../media/image16.png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35.svg"/><Relationship Id="rId24" Type="http://schemas.openxmlformats.org/officeDocument/2006/relationships/image" Target="../media/image27.png"/><Relationship Id="rId5" Type="http://schemas.openxmlformats.org/officeDocument/2006/relationships/image" Target="../media/image29.svg"/><Relationship Id="rId15" Type="http://schemas.openxmlformats.org/officeDocument/2006/relationships/image" Target="../media/image39.svg"/><Relationship Id="rId23" Type="http://schemas.openxmlformats.org/officeDocument/2006/relationships/image" Target="../media/image47.svg"/><Relationship Id="rId10" Type="http://schemas.openxmlformats.org/officeDocument/2006/relationships/image" Target="../media/image20.png"/><Relationship Id="rId19" Type="http://schemas.openxmlformats.org/officeDocument/2006/relationships/image" Target="../media/image43.svg"/><Relationship Id="rId4" Type="http://schemas.openxmlformats.org/officeDocument/2006/relationships/image" Target="../media/image17.png"/><Relationship Id="rId9" Type="http://schemas.openxmlformats.org/officeDocument/2006/relationships/image" Target="../media/image33.svg"/><Relationship Id="rId14" Type="http://schemas.openxmlformats.org/officeDocument/2006/relationships/image" Target="../media/image22.png"/><Relationship Id="rId22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7.svg"/><Relationship Id="rId18" Type="http://schemas.openxmlformats.org/officeDocument/2006/relationships/image" Target="../media/image24.png"/><Relationship Id="rId26" Type="http://schemas.openxmlformats.org/officeDocument/2006/relationships/image" Target="../media/image29.png"/><Relationship Id="rId3" Type="http://schemas.openxmlformats.org/officeDocument/2006/relationships/image" Target="../media/image27.svg"/><Relationship Id="rId21" Type="http://schemas.openxmlformats.org/officeDocument/2006/relationships/image" Target="../media/image45.svg"/><Relationship Id="rId7" Type="http://schemas.openxmlformats.org/officeDocument/2006/relationships/image" Target="../media/image31.svg"/><Relationship Id="rId12" Type="http://schemas.openxmlformats.org/officeDocument/2006/relationships/image" Target="../media/image21.png"/><Relationship Id="rId17" Type="http://schemas.openxmlformats.org/officeDocument/2006/relationships/image" Target="../media/image41.svg"/><Relationship Id="rId25" Type="http://schemas.openxmlformats.org/officeDocument/2006/relationships/image" Target="../media/image49.svg"/><Relationship Id="rId2" Type="http://schemas.openxmlformats.org/officeDocument/2006/relationships/image" Target="../media/image16.png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35.svg"/><Relationship Id="rId24" Type="http://schemas.openxmlformats.org/officeDocument/2006/relationships/image" Target="../media/image27.png"/><Relationship Id="rId5" Type="http://schemas.openxmlformats.org/officeDocument/2006/relationships/image" Target="../media/image29.svg"/><Relationship Id="rId15" Type="http://schemas.openxmlformats.org/officeDocument/2006/relationships/image" Target="../media/image39.svg"/><Relationship Id="rId23" Type="http://schemas.openxmlformats.org/officeDocument/2006/relationships/image" Target="../media/image47.svg"/><Relationship Id="rId10" Type="http://schemas.openxmlformats.org/officeDocument/2006/relationships/image" Target="../media/image20.png"/><Relationship Id="rId19" Type="http://schemas.openxmlformats.org/officeDocument/2006/relationships/image" Target="../media/image43.svg"/><Relationship Id="rId4" Type="http://schemas.openxmlformats.org/officeDocument/2006/relationships/image" Target="../media/image17.png"/><Relationship Id="rId9" Type="http://schemas.openxmlformats.org/officeDocument/2006/relationships/image" Target="../media/image33.svg"/><Relationship Id="rId14" Type="http://schemas.openxmlformats.org/officeDocument/2006/relationships/image" Target="../media/image22.png"/><Relationship Id="rId22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3.svg"/><Relationship Id="rId18" Type="http://schemas.openxmlformats.org/officeDocument/2006/relationships/image" Target="../media/image10.png"/><Relationship Id="rId3" Type="http://schemas.openxmlformats.org/officeDocument/2006/relationships/image" Target="../media/image3.svg"/><Relationship Id="rId21" Type="http://schemas.openxmlformats.org/officeDocument/2006/relationships/image" Target="../media/image21.svg"/><Relationship Id="rId7" Type="http://schemas.openxmlformats.org/officeDocument/2006/relationships/image" Target="../media/image7.svg"/><Relationship Id="rId12" Type="http://schemas.openxmlformats.org/officeDocument/2006/relationships/image" Target="../media/image7.pn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24" Type="http://schemas.openxmlformats.org/officeDocument/2006/relationships/image" Target="../media/image13.pn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23" Type="http://schemas.openxmlformats.org/officeDocument/2006/relationships/image" Target="../media/image23.svg"/><Relationship Id="rId10" Type="http://schemas.openxmlformats.org/officeDocument/2006/relationships/image" Target="../media/image6.png"/><Relationship Id="rId19" Type="http://schemas.openxmlformats.org/officeDocument/2006/relationships/image" Target="../media/image19.svg"/><Relationship Id="rId4" Type="http://schemas.openxmlformats.org/officeDocument/2006/relationships/image" Target="../media/image3.png"/><Relationship Id="rId9" Type="http://schemas.openxmlformats.org/officeDocument/2006/relationships/image" Target="../media/image9.svg"/><Relationship Id="rId14" Type="http://schemas.openxmlformats.org/officeDocument/2006/relationships/image" Target="../media/image8.png"/><Relationship Id="rId22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3.svg"/><Relationship Id="rId18" Type="http://schemas.openxmlformats.org/officeDocument/2006/relationships/image" Target="../media/image10.png"/><Relationship Id="rId26" Type="http://schemas.openxmlformats.org/officeDocument/2006/relationships/image" Target="../media/image30.png"/><Relationship Id="rId3" Type="http://schemas.openxmlformats.org/officeDocument/2006/relationships/image" Target="../media/image3.svg"/><Relationship Id="rId21" Type="http://schemas.openxmlformats.org/officeDocument/2006/relationships/image" Target="../media/image21.svg"/><Relationship Id="rId7" Type="http://schemas.openxmlformats.org/officeDocument/2006/relationships/image" Target="../media/image7.svg"/><Relationship Id="rId12" Type="http://schemas.openxmlformats.org/officeDocument/2006/relationships/image" Target="../media/image7.pn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24" Type="http://schemas.openxmlformats.org/officeDocument/2006/relationships/image" Target="../media/image13.pn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23" Type="http://schemas.openxmlformats.org/officeDocument/2006/relationships/image" Target="../media/image23.svg"/><Relationship Id="rId10" Type="http://schemas.openxmlformats.org/officeDocument/2006/relationships/image" Target="../media/image6.png"/><Relationship Id="rId19" Type="http://schemas.openxmlformats.org/officeDocument/2006/relationships/image" Target="../media/image19.svg"/><Relationship Id="rId4" Type="http://schemas.openxmlformats.org/officeDocument/2006/relationships/image" Target="../media/image3.png"/><Relationship Id="rId9" Type="http://schemas.openxmlformats.org/officeDocument/2006/relationships/image" Target="../media/image9.svg"/><Relationship Id="rId14" Type="http://schemas.openxmlformats.org/officeDocument/2006/relationships/image" Target="../media/image8.png"/><Relationship Id="rId22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7.svg"/><Relationship Id="rId18" Type="http://schemas.openxmlformats.org/officeDocument/2006/relationships/image" Target="../media/image24.png"/><Relationship Id="rId3" Type="http://schemas.openxmlformats.org/officeDocument/2006/relationships/image" Target="../media/image27.svg"/><Relationship Id="rId21" Type="http://schemas.openxmlformats.org/officeDocument/2006/relationships/image" Target="../media/image45.svg"/><Relationship Id="rId7" Type="http://schemas.openxmlformats.org/officeDocument/2006/relationships/image" Target="../media/image31.svg"/><Relationship Id="rId12" Type="http://schemas.openxmlformats.org/officeDocument/2006/relationships/image" Target="../media/image21.png"/><Relationship Id="rId17" Type="http://schemas.openxmlformats.org/officeDocument/2006/relationships/image" Target="../media/image41.svg"/><Relationship Id="rId25" Type="http://schemas.openxmlformats.org/officeDocument/2006/relationships/image" Target="../media/image49.svg"/><Relationship Id="rId2" Type="http://schemas.openxmlformats.org/officeDocument/2006/relationships/image" Target="../media/image16.png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35.svg"/><Relationship Id="rId24" Type="http://schemas.openxmlformats.org/officeDocument/2006/relationships/image" Target="../media/image27.png"/><Relationship Id="rId5" Type="http://schemas.openxmlformats.org/officeDocument/2006/relationships/image" Target="../media/image29.svg"/><Relationship Id="rId15" Type="http://schemas.openxmlformats.org/officeDocument/2006/relationships/image" Target="../media/image39.svg"/><Relationship Id="rId23" Type="http://schemas.openxmlformats.org/officeDocument/2006/relationships/image" Target="../media/image47.svg"/><Relationship Id="rId10" Type="http://schemas.openxmlformats.org/officeDocument/2006/relationships/image" Target="../media/image20.png"/><Relationship Id="rId19" Type="http://schemas.openxmlformats.org/officeDocument/2006/relationships/image" Target="../media/image43.svg"/><Relationship Id="rId4" Type="http://schemas.openxmlformats.org/officeDocument/2006/relationships/image" Target="../media/image17.png"/><Relationship Id="rId9" Type="http://schemas.openxmlformats.org/officeDocument/2006/relationships/image" Target="../media/image33.svg"/><Relationship Id="rId14" Type="http://schemas.openxmlformats.org/officeDocument/2006/relationships/image" Target="../media/image22.png"/><Relationship Id="rId22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7.svg"/><Relationship Id="rId18" Type="http://schemas.openxmlformats.org/officeDocument/2006/relationships/image" Target="../media/image24.png"/><Relationship Id="rId26" Type="http://schemas.openxmlformats.org/officeDocument/2006/relationships/image" Target="../media/image31.png"/><Relationship Id="rId3" Type="http://schemas.openxmlformats.org/officeDocument/2006/relationships/image" Target="../media/image27.svg"/><Relationship Id="rId21" Type="http://schemas.openxmlformats.org/officeDocument/2006/relationships/image" Target="../media/image45.svg"/><Relationship Id="rId7" Type="http://schemas.openxmlformats.org/officeDocument/2006/relationships/image" Target="../media/image31.svg"/><Relationship Id="rId12" Type="http://schemas.openxmlformats.org/officeDocument/2006/relationships/image" Target="../media/image21.png"/><Relationship Id="rId17" Type="http://schemas.openxmlformats.org/officeDocument/2006/relationships/image" Target="../media/image41.svg"/><Relationship Id="rId25" Type="http://schemas.openxmlformats.org/officeDocument/2006/relationships/image" Target="../media/image49.svg"/><Relationship Id="rId2" Type="http://schemas.openxmlformats.org/officeDocument/2006/relationships/image" Target="../media/image16.png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35.svg"/><Relationship Id="rId24" Type="http://schemas.openxmlformats.org/officeDocument/2006/relationships/image" Target="../media/image27.png"/><Relationship Id="rId5" Type="http://schemas.openxmlformats.org/officeDocument/2006/relationships/image" Target="../media/image29.svg"/><Relationship Id="rId15" Type="http://schemas.openxmlformats.org/officeDocument/2006/relationships/image" Target="../media/image39.svg"/><Relationship Id="rId23" Type="http://schemas.openxmlformats.org/officeDocument/2006/relationships/image" Target="../media/image47.svg"/><Relationship Id="rId10" Type="http://schemas.openxmlformats.org/officeDocument/2006/relationships/image" Target="../media/image20.png"/><Relationship Id="rId19" Type="http://schemas.openxmlformats.org/officeDocument/2006/relationships/image" Target="../media/image43.svg"/><Relationship Id="rId4" Type="http://schemas.openxmlformats.org/officeDocument/2006/relationships/image" Target="../media/image17.png"/><Relationship Id="rId9" Type="http://schemas.openxmlformats.org/officeDocument/2006/relationships/image" Target="../media/image33.svg"/><Relationship Id="rId14" Type="http://schemas.openxmlformats.org/officeDocument/2006/relationships/image" Target="../media/image22.png"/><Relationship Id="rId22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3.svg"/><Relationship Id="rId18" Type="http://schemas.openxmlformats.org/officeDocument/2006/relationships/image" Target="../media/image10.png"/><Relationship Id="rId3" Type="http://schemas.openxmlformats.org/officeDocument/2006/relationships/image" Target="../media/image3.svg"/><Relationship Id="rId21" Type="http://schemas.openxmlformats.org/officeDocument/2006/relationships/image" Target="../media/image21.svg"/><Relationship Id="rId7" Type="http://schemas.openxmlformats.org/officeDocument/2006/relationships/image" Target="../media/image7.svg"/><Relationship Id="rId12" Type="http://schemas.openxmlformats.org/officeDocument/2006/relationships/image" Target="../media/image7.pn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24" Type="http://schemas.openxmlformats.org/officeDocument/2006/relationships/image" Target="../media/image13.pn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23" Type="http://schemas.openxmlformats.org/officeDocument/2006/relationships/image" Target="../media/image23.svg"/><Relationship Id="rId10" Type="http://schemas.openxmlformats.org/officeDocument/2006/relationships/image" Target="../media/image6.png"/><Relationship Id="rId19" Type="http://schemas.openxmlformats.org/officeDocument/2006/relationships/image" Target="../media/image19.svg"/><Relationship Id="rId4" Type="http://schemas.openxmlformats.org/officeDocument/2006/relationships/image" Target="../media/image3.png"/><Relationship Id="rId9" Type="http://schemas.openxmlformats.org/officeDocument/2006/relationships/image" Target="../media/image9.svg"/><Relationship Id="rId14" Type="http://schemas.openxmlformats.org/officeDocument/2006/relationships/image" Target="../media/image8.png"/><Relationship Id="rId2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610600" y="1513715"/>
            <a:ext cx="9051358" cy="7181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ru-RU" sz="8000" dirty="0">
                <a:solidFill>
                  <a:schemeClr val="bg1"/>
                </a:solidFill>
                <a:latin typeface="Century Gothic" panose="020B0502020202020204" pitchFamily="34" charset="0"/>
              </a:rPr>
              <a:t>Отчет о медицинской помощи беременным, роженицам и родильницам</a:t>
            </a:r>
            <a:endParaRPr lang="en-US" sz="80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>
              <a:lnSpc>
                <a:spcPts val="8000"/>
              </a:lnSpc>
            </a:pPr>
            <a:r>
              <a:rPr lang="ru-RU" sz="8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Форма 32</a:t>
            </a:r>
            <a:r>
              <a:rPr lang="en-US" sz="8000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 </a:t>
            </a: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513714"/>
            <a:ext cx="6018604" cy="71814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177516"/>
              </p:ext>
            </p:extLst>
          </p:nvPr>
        </p:nvGraphicFramePr>
        <p:xfrm>
          <a:off x="1104900" y="227203"/>
          <a:ext cx="16078200" cy="9183497"/>
        </p:xfrm>
        <a:graphic>
          <a:graphicData uri="http://schemas.openxmlformats.org/drawingml/2006/table">
            <a:tbl>
              <a:tblPr/>
              <a:tblGrid>
                <a:gridCol w="1607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8349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4400" b="1" i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</a:rPr>
                        <a:t>Отчет по форме №32 составляют</a:t>
                      </a:r>
                      <a:r>
                        <a:rPr lang="ru-RU" sz="4400" i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</a:rPr>
                        <a:t>: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44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40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</a:rPr>
                        <a:t>1) родильные дома, все лечебно-профилактические организации всех форм собственности, имеющие женские консультации, акушерско-гинекологические кабинеты в составе поликлиник, родильные отделения, палаты, койки в стационаре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40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</a:rPr>
                        <a:t>2) районные и сельские участковые больницы, семейно-врачебные амбулатории, если они наблюдают беременных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40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</a:rPr>
                        <a:t>3) научно-исследовательские учреждения, имеющие в своем составе акушерско-гинекологический стационар или женскую консультацию</a:t>
                      </a:r>
                    </a:p>
                  </a:txBody>
                  <a:tcPr marL="190500" marR="190500" marT="190500" marB="190500" anchor="ctr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290297"/>
              </p:ext>
            </p:extLst>
          </p:nvPr>
        </p:nvGraphicFramePr>
        <p:xfrm>
          <a:off x="647701" y="495300"/>
          <a:ext cx="16992599" cy="8246679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{D113A9D2-9D6B-4929-AA2D-F23B5EE8CBE7}</a:tableStyleId>
              </a:tblPr>
              <a:tblGrid>
                <a:gridCol w="1485899">
                  <a:extLst>
                    <a:ext uri="{9D8B030D-6E8A-4147-A177-3AD203B41FA5}">
                      <a16:colId xmlns:a16="http://schemas.microsoft.com/office/drawing/2014/main" val="173093668"/>
                    </a:ext>
                  </a:extLst>
                </a:gridCol>
                <a:gridCol w="1267091">
                  <a:extLst>
                    <a:ext uri="{9D8B030D-6E8A-4147-A177-3AD203B41FA5}">
                      <a16:colId xmlns:a16="http://schemas.microsoft.com/office/drawing/2014/main" val="2233793282"/>
                    </a:ext>
                  </a:extLst>
                </a:gridCol>
                <a:gridCol w="1704709">
                  <a:extLst>
                    <a:ext uri="{9D8B030D-6E8A-4147-A177-3AD203B41FA5}">
                      <a16:colId xmlns:a16="http://schemas.microsoft.com/office/drawing/2014/main" val="3338379612"/>
                    </a:ext>
                  </a:extLst>
                </a:gridCol>
                <a:gridCol w="1147959">
                  <a:extLst>
                    <a:ext uri="{9D8B030D-6E8A-4147-A177-3AD203B41FA5}">
                      <a16:colId xmlns:a16="http://schemas.microsoft.com/office/drawing/2014/main" val="1158342551"/>
                    </a:ext>
                  </a:extLst>
                </a:gridCol>
                <a:gridCol w="1671441">
                  <a:extLst>
                    <a:ext uri="{9D8B030D-6E8A-4147-A177-3AD203B41FA5}">
                      <a16:colId xmlns:a16="http://schemas.microsoft.com/office/drawing/2014/main" val="1360465259"/>
                    </a:ext>
                  </a:extLst>
                </a:gridCol>
                <a:gridCol w="2753565">
                  <a:extLst>
                    <a:ext uri="{9D8B030D-6E8A-4147-A177-3AD203B41FA5}">
                      <a16:colId xmlns:a16="http://schemas.microsoft.com/office/drawing/2014/main" val="904529623"/>
                    </a:ext>
                  </a:extLst>
                </a:gridCol>
                <a:gridCol w="827835">
                  <a:extLst>
                    <a:ext uri="{9D8B030D-6E8A-4147-A177-3AD203B41FA5}">
                      <a16:colId xmlns:a16="http://schemas.microsoft.com/office/drawing/2014/main" val="309045538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97994284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9124984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39650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8407345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1211815359"/>
                    </a:ext>
                  </a:extLst>
                </a:gridCol>
              </a:tblGrid>
              <a:tr h="845127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i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2110</a:t>
                      </a:r>
                      <a:endParaRPr lang="ru-RU" sz="2000" b="1" i="1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 fontAlgn="b"/>
                      <a:r>
                        <a:rPr lang="ru-RU" sz="2000" b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КОНТИНГЕНТЫ БЕРЕМЕННЫХ, ПРОЖИВАЮЩИХ В РАЙОНЕ ОБСЛУЖИВАНИЯ ОРГАНИЗАЦИИ</a:t>
                      </a:r>
                      <a:endParaRPr lang="ru-RU" sz="2000" b="1" i="0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ru-RU" sz="2000" b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КОНТИНГЕНТЫ БЕРЕМЕННЫХ, ПРОЖИВАЮЩИХ В РАЙОНЕ ОБСЛУЖИВАНИЯ ОРГАНИЗАЦИИ</a:t>
                      </a:r>
                      <a:endParaRPr lang="ru-RU" sz="2000" b="1" i="0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</a:rPr>
                        <a:t>КОНТИНГЕНТЫ БЕРЕМЕННЫХ, ПРОЖИВАЮЩИХ В РАЙОНЕ ОБСЛУЖИВАНИЯ ОРГАНИЗАЦИИ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8371"/>
                  </a:ext>
                </a:extLst>
              </a:tr>
              <a:tr h="287721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Наименование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№ строки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Количество беременных на начало года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В отчетном году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</a:rPr>
                        <a:t>В отчетном году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816456"/>
                  </a:ext>
                </a:extLst>
              </a:tr>
              <a:tr h="112383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Поступили под наблюдение консультации</a:t>
                      </a:r>
                      <a:endParaRPr lang="ru-RU" b="1" dirty="0">
                        <a:latin typeface="Century Gothic" panose="020B0502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>
                          <a:effectLst/>
                        </a:rPr>
                        <a:t>Поступили под наблюдение консультации</a:t>
                      </a:r>
                      <a:endParaRPr lang="ru-RU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Кроме того, поступили из числа наблюдавшихся другими организациями</a:t>
                      </a:r>
                      <a:endParaRPr lang="ru-RU" b="1" dirty="0">
                        <a:latin typeface="Century Gothic" panose="020B0502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Закончили беременность (из числа состоявших под наблюдением 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Выбыло из под наблюдения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Количество беременных из числа наблюдавшихся на конец года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043851"/>
                  </a:ext>
                </a:extLst>
              </a:tr>
              <a:tr h="112383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Всего</a:t>
                      </a:r>
                      <a:endParaRPr lang="ru-RU" b="1" dirty="0">
                        <a:latin typeface="Century Gothic" panose="020B0502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в том числе со сроком беременности до 12 недель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на начало года и поступивших под наблюдение в отчетном году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782789"/>
                  </a:ext>
                </a:extLst>
              </a:tr>
              <a:tr h="2877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родами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абортами*)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878534"/>
                  </a:ext>
                </a:extLst>
              </a:tr>
              <a:tr h="193288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в срок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преждевременными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запоздалыми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917757"/>
                  </a:ext>
                </a:extLst>
              </a:tr>
              <a:tr h="28772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А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Б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  <a:endParaRPr lang="ru-RU" b="1" i="1" dirty="0">
                        <a:latin typeface="Century Gothic" panose="020B0502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9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10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861079"/>
                  </a:ext>
                </a:extLst>
              </a:tr>
              <a:tr h="56642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entury Gothic" panose="020B0502020202020204" pitchFamily="34" charset="0"/>
                        </a:rPr>
                        <a:t>Всего</a:t>
                      </a:r>
                      <a:endParaRPr lang="ru-RU" sz="1400" b="1" i="1" u="none" strike="noStrike" dirty="0">
                        <a:solidFill>
                          <a:sysClr val="windowText" lastClr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entury Gothic" panose="020B0502020202020204" pitchFamily="34" charset="0"/>
                        </a:rPr>
                        <a:t>01</a:t>
                      </a:r>
                      <a:endParaRPr lang="ru-RU" sz="14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entury Gothic" panose="020B0502020202020204" pitchFamily="34" charset="0"/>
                        </a:rPr>
                        <a:t>1000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  <a:endParaRPr lang="ru-RU" sz="14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  <a:endParaRPr lang="ru-RU" dirty="0">
                        <a:latin typeface="Century Gothic" panose="020B0502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  <a:endParaRPr lang="ru-RU" sz="14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  <a:endParaRPr lang="ru-RU" sz="14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  <a:endParaRPr lang="ru-RU" sz="14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  <a:endParaRPr lang="ru-RU" sz="14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  <a:endParaRPr lang="ru-RU" sz="14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  <a:endParaRPr lang="ru-RU" sz="14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178991"/>
                  </a:ext>
                </a:extLst>
              </a:tr>
              <a:tr h="478942">
                <a:tc gridSpan="6"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*) не включаются данные о женщинах, обратившихся за направлением на медицинский аборт до 12 недель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228094"/>
                  </a:ext>
                </a:extLst>
              </a:tr>
              <a:tr h="626679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i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2120</a:t>
                      </a:r>
                    </a:p>
                  </a:txBody>
                  <a:tcPr marL="6904" marR="6904" marT="690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 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31460425"/>
                  </a:ext>
                </a:extLst>
              </a:tr>
              <a:tr h="685800">
                <a:tc gridSpan="12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Из числа закончивших беременность (гр. 5+6+7+8) табл.2110   1) были осмотрены терапевтом  1 ___</a:t>
                      </a:r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1000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___, в том числе до 12 недель беременности 2 __</a:t>
                      </a:r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24242</a:t>
                      </a:r>
                      <a:r>
                        <a:rPr lang="ru-RU" sz="1400" u="none" strike="noStrike" dirty="0">
                          <a:effectLst/>
                          <a:latin typeface="Century Gothic" panose="020B0502020202020204" pitchFamily="34" charset="0"/>
                        </a:rPr>
                        <a:t>__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4" marR="6904" marT="69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44307"/>
                  </a:ext>
                </a:extLst>
              </a:tr>
            </a:tbl>
          </a:graphicData>
        </a:graphic>
      </p:graphicFrame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73DAF88-222B-50C8-2FA4-8CF6EE75F8D5}"/>
              </a:ext>
            </a:extLst>
          </p:cNvPr>
          <p:cNvGrpSpPr/>
          <p:nvPr/>
        </p:nvGrpSpPr>
        <p:grpSpPr>
          <a:xfrm>
            <a:off x="764210" y="9258300"/>
            <a:ext cx="16940154" cy="531354"/>
            <a:chOff x="764210" y="9258300"/>
            <a:chExt cx="16940154" cy="531354"/>
          </a:xfrm>
        </p:grpSpPr>
        <p:sp>
          <p:nvSpPr>
            <p:cNvPr id="3" name="Freeform 7">
              <a:extLst>
                <a:ext uri="{FF2B5EF4-FFF2-40B4-BE49-F238E27FC236}">
                  <a16:creationId xmlns:a16="http://schemas.microsoft.com/office/drawing/2014/main" id="{6EED8B41-791E-83F8-81C1-B4F88B383D96}"/>
                </a:ext>
              </a:extLst>
            </p:cNvPr>
            <p:cNvSpPr/>
            <p:nvPr/>
          </p:nvSpPr>
          <p:spPr>
            <a:xfrm>
              <a:off x="6454325" y="9365858"/>
              <a:ext cx="447698" cy="323157"/>
            </a:xfrm>
            <a:custGeom>
              <a:avLst/>
              <a:gdLst/>
              <a:ahLst/>
              <a:cxnLst/>
              <a:rect l="l" t="t" r="r" b="b"/>
              <a:pathLst>
                <a:path w="447698" h="323157">
                  <a:moveTo>
                    <a:pt x="0" y="0"/>
                  </a:moveTo>
                  <a:lnTo>
                    <a:pt x="447698" y="0"/>
                  </a:lnTo>
                  <a:lnTo>
                    <a:pt x="447698" y="323157"/>
                  </a:lnTo>
                  <a:lnTo>
                    <a:pt x="0" y="323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3A614F7D-A74C-6EE1-8EB7-BBA47F417D3D}"/>
                </a:ext>
              </a:extLst>
            </p:cNvPr>
            <p:cNvSpPr/>
            <p:nvPr/>
          </p:nvSpPr>
          <p:spPr>
            <a:xfrm>
              <a:off x="7553432" y="9294196"/>
              <a:ext cx="311270" cy="466481"/>
            </a:xfrm>
            <a:custGeom>
              <a:avLst/>
              <a:gdLst/>
              <a:ahLst/>
              <a:cxnLst/>
              <a:rect l="l" t="t" r="r" b="b"/>
              <a:pathLst>
                <a:path w="311270" h="466481">
                  <a:moveTo>
                    <a:pt x="0" y="0"/>
                  </a:moveTo>
                  <a:lnTo>
                    <a:pt x="311270" y="0"/>
                  </a:lnTo>
                  <a:lnTo>
                    <a:pt x="311270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0057D6DF-0972-FCBE-A0BF-ED7876F866CB}"/>
                </a:ext>
              </a:extLst>
            </p:cNvPr>
            <p:cNvSpPr/>
            <p:nvPr/>
          </p:nvSpPr>
          <p:spPr>
            <a:xfrm>
              <a:off x="8516111" y="9337485"/>
              <a:ext cx="379192" cy="400298"/>
            </a:xfrm>
            <a:custGeom>
              <a:avLst/>
              <a:gdLst/>
              <a:ahLst/>
              <a:cxnLst/>
              <a:rect l="l" t="t" r="r" b="b"/>
              <a:pathLst>
                <a:path w="379192" h="400298">
                  <a:moveTo>
                    <a:pt x="0" y="0"/>
                  </a:moveTo>
                  <a:lnTo>
                    <a:pt x="379191" y="0"/>
                  </a:lnTo>
                  <a:lnTo>
                    <a:pt x="379191" y="400298"/>
                  </a:lnTo>
                  <a:lnTo>
                    <a:pt x="0" y="400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7F20836C-F020-A409-E1BD-42982C8DB670}"/>
                </a:ext>
              </a:extLst>
            </p:cNvPr>
            <p:cNvSpPr/>
            <p:nvPr/>
          </p:nvSpPr>
          <p:spPr>
            <a:xfrm>
              <a:off x="1643316" y="9337485"/>
              <a:ext cx="451732" cy="351530"/>
            </a:xfrm>
            <a:custGeom>
              <a:avLst/>
              <a:gdLst/>
              <a:ahLst/>
              <a:cxnLst/>
              <a:rect l="l" t="t" r="r" b="b"/>
              <a:pathLst>
                <a:path w="451732" h="351530">
                  <a:moveTo>
                    <a:pt x="0" y="0"/>
                  </a:moveTo>
                  <a:lnTo>
                    <a:pt x="451732" y="0"/>
                  </a:lnTo>
                  <a:lnTo>
                    <a:pt x="451732" y="351530"/>
                  </a:lnTo>
                  <a:lnTo>
                    <a:pt x="0" y="351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70000"/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08B1CE4C-03A5-A3D0-DF6F-885C68576A2C}"/>
                </a:ext>
              </a:extLst>
            </p:cNvPr>
            <p:cNvSpPr/>
            <p:nvPr/>
          </p:nvSpPr>
          <p:spPr>
            <a:xfrm>
              <a:off x="2746457" y="9258300"/>
              <a:ext cx="186592" cy="466481"/>
            </a:xfrm>
            <a:custGeom>
              <a:avLst/>
              <a:gdLst/>
              <a:ahLst/>
              <a:cxnLst/>
              <a:rect l="l" t="t" r="r" b="b"/>
              <a:pathLst>
                <a:path w="186592" h="466481">
                  <a:moveTo>
                    <a:pt x="0" y="0"/>
                  </a:moveTo>
                  <a:lnTo>
                    <a:pt x="186592" y="0"/>
                  </a:lnTo>
                  <a:lnTo>
                    <a:pt x="186592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70000"/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322B3E3C-C921-5A87-8DB9-D631930FEE33}"/>
                </a:ext>
              </a:extLst>
            </p:cNvPr>
            <p:cNvSpPr/>
            <p:nvPr/>
          </p:nvSpPr>
          <p:spPr>
            <a:xfrm>
              <a:off x="4404956" y="9294066"/>
              <a:ext cx="397115" cy="394949"/>
            </a:xfrm>
            <a:custGeom>
              <a:avLst/>
              <a:gdLst/>
              <a:ahLst/>
              <a:cxnLst/>
              <a:rect l="l" t="t" r="r" b="b"/>
              <a:pathLst>
                <a:path w="397115" h="394949">
                  <a:moveTo>
                    <a:pt x="0" y="0"/>
                  </a:moveTo>
                  <a:lnTo>
                    <a:pt x="397115" y="0"/>
                  </a:lnTo>
                  <a:lnTo>
                    <a:pt x="397115" y="394949"/>
                  </a:lnTo>
                  <a:lnTo>
                    <a:pt x="0" y="394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70000"/>
                <a:extLs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3D1F7761-18DF-97E7-E628-06AA63AE8693}"/>
                </a:ext>
              </a:extLst>
            </p:cNvPr>
            <p:cNvSpPr/>
            <p:nvPr/>
          </p:nvSpPr>
          <p:spPr>
            <a:xfrm>
              <a:off x="3584458" y="9258300"/>
              <a:ext cx="170477" cy="466481"/>
            </a:xfrm>
            <a:custGeom>
              <a:avLst/>
              <a:gdLst/>
              <a:ahLst/>
              <a:cxnLst/>
              <a:rect l="l" t="t" r="r" b="b"/>
              <a:pathLst>
                <a:path w="170477" h="466481">
                  <a:moveTo>
                    <a:pt x="0" y="0"/>
                  </a:moveTo>
                  <a:lnTo>
                    <a:pt x="170478" y="0"/>
                  </a:lnTo>
                  <a:lnTo>
                    <a:pt x="170478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70000"/>
                <a:extLst>
                  <a:ext uri="{96DAC541-7B7A-43D3-8B79-37D633B846F1}">
                    <asvg:svgBlip xmlns:asvg="http://schemas.microsoft.com/office/drawing/2016/SVG/main" xmlns="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DC46849F-C4E9-B111-CF30-4BB2E5A80D58}"/>
                </a:ext>
              </a:extLst>
            </p:cNvPr>
            <p:cNvSpPr/>
            <p:nvPr/>
          </p:nvSpPr>
          <p:spPr>
            <a:xfrm>
              <a:off x="9546711" y="9315775"/>
              <a:ext cx="364703" cy="466481"/>
            </a:xfrm>
            <a:custGeom>
              <a:avLst/>
              <a:gdLst/>
              <a:ahLst/>
              <a:cxnLst/>
              <a:rect l="l" t="t" r="r" b="b"/>
              <a:pathLst>
                <a:path w="364703" h="466481">
                  <a:moveTo>
                    <a:pt x="0" y="0"/>
                  </a:moveTo>
                  <a:lnTo>
                    <a:pt x="364703" y="0"/>
                  </a:lnTo>
                  <a:lnTo>
                    <a:pt x="364703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70000"/>
                <a:extLst>
                  <a:ext uri="{96DAC541-7B7A-43D3-8B79-37D633B846F1}">
                    <asvg:svgBlip xmlns:asvg="http://schemas.microsoft.com/office/drawing/2016/SVG/main" xmlns="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155A0593-75DA-E52A-9CE6-822DFC997ECB}"/>
                </a:ext>
              </a:extLst>
            </p:cNvPr>
            <p:cNvSpPr/>
            <p:nvPr/>
          </p:nvSpPr>
          <p:spPr>
            <a:xfrm>
              <a:off x="10562823" y="9384996"/>
              <a:ext cx="462620" cy="328040"/>
            </a:xfrm>
            <a:custGeom>
              <a:avLst/>
              <a:gdLst/>
              <a:ahLst/>
              <a:cxnLst/>
              <a:rect l="l" t="t" r="r" b="b"/>
              <a:pathLst>
                <a:path w="462620" h="328040">
                  <a:moveTo>
                    <a:pt x="0" y="0"/>
                  </a:moveTo>
                  <a:lnTo>
                    <a:pt x="462621" y="0"/>
                  </a:lnTo>
                  <a:lnTo>
                    <a:pt x="462621" y="328040"/>
                  </a:lnTo>
                  <a:lnTo>
                    <a:pt x="0" y="328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7C739EC2-01C7-0329-F31C-BEFF4863C7EC}"/>
                </a:ext>
              </a:extLst>
            </p:cNvPr>
            <p:cNvSpPr/>
            <p:nvPr/>
          </p:nvSpPr>
          <p:spPr>
            <a:xfrm>
              <a:off x="764210" y="9305727"/>
              <a:ext cx="433615" cy="420212"/>
            </a:xfrm>
            <a:custGeom>
              <a:avLst/>
              <a:gdLst/>
              <a:ahLst/>
              <a:cxnLst/>
              <a:rect l="l" t="t" r="r" b="b"/>
              <a:pathLst>
                <a:path w="433615" h="420212">
                  <a:moveTo>
                    <a:pt x="0" y="0"/>
                  </a:moveTo>
                  <a:lnTo>
                    <a:pt x="433615" y="0"/>
                  </a:lnTo>
                  <a:lnTo>
                    <a:pt x="433615" y="420212"/>
                  </a:lnTo>
                  <a:lnTo>
                    <a:pt x="0" y="420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alphaModFix amt="70000"/>
                <a:extLst>
                  <a:ext uri="{96DAC541-7B7A-43D3-8B79-37D633B846F1}">
                    <asvg:svgBlip xmlns:asvg="http://schemas.microsoft.com/office/drawing/2016/SVG/main" xmlns="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17">
              <a:extLst>
                <a:ext uri="{FF2B5EF4-FFF2-40B4-BE49-F238E27FC236}">
                  <a16:creationId xmlns:a16="http://schemas.microsoft.com/office/drawing/2014/main" id="{028C1439-55E8-1773-3EBE-BB14ABD8FC87}"/>
                </a:ext>
              </a:extLst>
            </p:cNvPr>
            <p:cNvSpPr/>
            <p:nvPr/>
          </p:nvSpPr>
          <p:spPr>
            <a:xfrm>
              <a:off x="11676853" y="9304394"/>
              <a:ext cx="472494" cy="466481"/>
            </a:xfrm>
            <a:custGeom>
              <a:avLst/>
              <a:gdLst/>
              <a:ahLst/>
              <a:cxnLst/>
              <a:rect l="l" t="t" r="r" b="b"/>
              <a:pathLst>
                <a:path w="472494" h="466481">
                  <a:moveTo>
                    <a:pt x="0" y="0"/>
                  </a:moveTo>
                  <a:lnTo>
                    <a:pt x="472494" y="0"/>
                  </a:lnTo>
                  <a:lnTo>
                    <a:pt x="472494" y="466480"/>
                  </a:lnTo>
                  <a:lnTo>
                    <a:pt x="0" y="46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70000"/>
                <a:extLst>
                  <a:ext uri="{96DAC541-7B7A-43D3-8B79-37D633B846F1}">
                    <asvg:svgBlip xmlns:asvg="http://schemas.microsoft.com/office/drawing/2016/SVG/main" xmlns="" r:embed="rId2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18">
              <a:extLst>
                <a:ext uri="{FF2B5EF4-FFF2-40B4-BE49-F238E27FC236}">
                  <a16:creationId xmlns:a16="http://schemas.microsoft.com/office/drawing/2014/main" id="{B6922FCC-174E-C11A-6ED9-C0A80531CCFA}"/>
                </a:ext>
              </a:extLst>
            </p:cNvPr>
            <p:cNvSpPr/>
            <p:nvPr/>
          </p:nvSpPr>
          <p:spPr>
            <a:xfrm>
              <a:off x="5453480" y="9315775"/>
              <a:ext cx="349436" cy="466481"/>
            </a:xfrm>
            <a:custGeom>
              <a:avLst/>
              <a:gdLst/>
              <a:ahLst/>
              <a:cxnLst/>
              <a:rect l="l" t="t" r="r" b="b"/>
              <a:pathLst>
                <a:path w="349436" h="466481">
                  <a:moveTo>
                    <a:pt x="0" y="0"/>
                  </a:moveTo>
                  <a:lnTo>
                    <a:pt x="349436" y="0"/>
                  </a:lnTo>
                  <a:lnTo>
                    <a:pt x="349436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19">
              <a:extLst>
                <a:ext uri="{FF2B5EF4-FFF2-40B4-BE49-F238E27FC236}">
                  <a16:creationId xmlns:a16="http://schemas.microsoft.com/office/drawing/2014/main" id="{0AA887F9-B8D6-5190-56A9-5C9B65DC5D3D}"/>
                </a:ext>
              </a:extLst>
            </p:cNvPr>
            <p:cNvSpPr/>
            <p:nvPr/>
          </p:nvSpPr>
          <p:spPr>
            <a:xfrm>
              <a:off x="12797047" y="9342632"/>
              <a:ext cx="480625" cy="346924"/>
            </a:xfrm>
            <a:custGeom>
              <a:avLst/>
              <a:gdLst/>
              <a:ahLst/>
              <a:cxnLst/>
              <a:rect l="l" t="t" r="r" b="b"/>
              <a:pathLst>
                <a:path w="480625" h="346924">
                  <a:moveTo>
                    <a:pt x="0" y="0"/>
                  </a:moveTo>
                  <a:lnTo>
                    <a:pt x="480625" y="0"/>
                  </a:lnTo>
                  <a:lnTo>
                    <a:pt x="480625" y="346924"/>
                  </a:lnTo>
                  <a:lnTo>
                    <a:pt x="0" y="346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57D523B4-A9B5-EB3C-932A-C9803C92C54F}"/>
                </a:ext>
              </a:extLst>
            </p:cNvPr>
            <p:cNvSpPr/>
            <p:nvPr/>
          </p:nvSpPr>
          <p:spPr>
            <a:xfrm>
              <a:off x="13976992" y="9265699"/>
              <a:ext cx="334163" cy="500789"/>
            </a:xfrm>
            <a:custGeom>
              <a:avLst/>
              <a:gdLst/>
              <a:ahLst/>
              <a:cxnLst/>
              <a:rect l="l" t="t" r="r" b="b"/>
              <a:pathLst>
                <a:path w="334163" h="500789">
                  <a:moveTo>
                    <a:pt x="0" y="0"/>
                  </a:moveTo>
                  <a:lnTo>
                    <a:pt x="334163" y="0"/>
                  </a:lnTo>
                  <a:lnTo>
                    <a:pt x="334163" y="500789"/>
                  </a:lnTo>
                  <a:lnTo>
                    <a:pt x="0" y="500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21">
              <a:extLst>
                <a:ext uri="{FF2B5EF4-FFF2-40B4-BE49-F238E27FC236}">
                  <a16:creationId xmlns:a16="http://schemas.microsoft.com/office/drawing/2014/main" id="{9290551C-CC36-AA8F-AF55-3D2F9DB306D4}"/>
                </a:ext>
              </a:extLst>
            </p:cNvPr>
            <p:cNvSpPr/>
            <p:nvPr/>
          </p:nvSpPr>
          <p:spPr>
            <a:xfrm>
              <a:off x="15010474" y="9312172"/>
              <a:ext cx="407081" cy="429740"/>
            </a:xfrm>
            <a:custGeom>
              <a:avLst/>
              <a:gdLst/>
              <a:ahLst/>
              <a:cxnLst/>
              <a:rect l="l" t="t" r="r" b="b"/>
              <a:pathLst>
                <a:path w="407081" h="429740">
                  <a:moveTo>
                    <a:pt x="0" y="0"/>
                  </a:moveTo>
                  <a:lnTo>
                    <a:pt x="407080" y="0"/>
                  </a:lnTo>
                  <a:lnTo>
                    <a:pt x="407080" y="429739"/>
                  </a:lnTo>
                  <a:lnTo>
                    <a:pt x="0" y="429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7D50B4A6-E82A-8CDF-4FBE-684898A8B3F6}"/>
                </a:ext>
              </a:extLst>
            </p:cNvPr>
            <p:cNvSpPr/>
            <p:nvPr/>
          </p:nvSpPr>
          <p:spPr>
            <a:xfrm>
              <a:off x="17207719" y="9363177"/>
              <a:ext cx="496645" cy="352167"/>
            </a:xfrm>
            <a:custGeom>
              <a:avLst/>
              <a:gdLst/>
              <a:ahLst/>
              <a:cxnLst/>
              <a:rect l="l" t="t" r="r" b="b"/>
              <a:pathLst>
                <a:path w="496645" h="352167">
                  <a:moveTo>
                    <a:pt x="0" y="0"/>
                  </a:moveTo>
                  <a:lnTo>
                    <a:pt x="496645" y="0"/>
                  </a:lnTo>
                  <a:lnTo>
                    <a:pt x="496645" y="352167"/>
                  </a:lnTo>
                  <a:lnTo>
                    <a:pt x="0" y="352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23">
              <a:extLst>
                <a:ext uri="{FF2B5EF4-FFF2-40B4-BE49-F238E27FC236}">
                  <a16:creationId xmlns:a16="http://schemas.microsoft.com/office/drawing/2014/main" id="{0B7B04C7-7534-92A6-53E4-2A430A17FE40}"/>
                </a:ext>
              </a:extLst>
            </p:cNvPr>
            <p:cNvSpPr/>
            <p:nvPr/>
          </p:nvSpPr>
          <p:spPr>
            <a:xfrm>
              <a:off x="16125068" y="9288865"/>
              <a:ext cx="375137" cy="500789"/>
            </a:xfrm>
            <a:custGeom>
              <a:avLst/>
              <a:gdLst/>
              <a:ahLst/>
              <a:cxnLst/>
              <a:rect l="l" t="t" r="r" b="b"/>
              <a:pathLst>
                <a:path w="375137" h="500789">
                  <a:moveTo>
                    <a:pt x="0" y="0"/>
                  </a:moveTo>
                  <a:lnTo>
                    <a:pt x="375137" y="0"/>
                  </a:lnTo>
                  <a:lnTo>
                    <a:pt x="375137" y="500790"/>
                  </a:lnTo>
                  <a:lnTo>
                    <a:pt x="0" y="500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73DAF88-222B-50C8-2FA4-8CF6EE75F8D5}"/>
              </a:ext>
            </a:extLst>
          </p:cNvPr>
          <p:cNvGrpSpPr/>
          <p:nvPr/>
        </p:nvGrpSpPr>
        <p:grpSpPr>
          <a:xfrm>
            <a:off x="764210" y="9258300"/>
            <a:ext cx="16940154" cy="531354"/>
            <a:chOff x="764210" y="9258300"/>
            <a:chExt cx="16940154" cy="531354"/>
          </a:xfrm>
        </p:grpSpPr>
        <p:sp>
          <p:nvSpPr>
            <p:cNvPr id="3" name="Freeform 7">
              <a:extLst>
                <a:ext uri="{FF2B5EF4-FFF2-40B4-BE49-F238E27FC236}">
                  <a16:creationId xmlns:a16="http://schemas.microsoft.com/office/drawing/2014/main" id="{6EED8B41-791E-83F8-81C1-B4F88B383D96}"/>
                </a:ext>
              </a:extLst>
            </p:cNvPr>
            <p:cNvSpPr/>
            <p:nvPr/>
          </p:nvSpPr>
          <p:spPr>
            <a:xfrm>
              <a:off x="6454325" y="9365858"/>
              <a:ext cx="447698" cy="323157"/>
            </a:xfrm>
            <a:custGeom>
              <a:avLst/>
              <a:gdLst/>
              <a:ahLst/>
              <a:cxnLst/>
              <a:rect l="l" t="t" r="r" b="b"/>
              <a:pathLst>
                <a:path w="447698" h="323157">
                  <a:moveTo>
                    <a:pt x="0" y="0"/>
                  </a:moveTo>
                  <a:lnTo>
                    <a:pt x="447698" y="0"/>
                  </a:lnTo>
                  <a:lnTo>
                    <a:pt x="447698" y="323157"/>
                  </a:lnTo>
                  <a:lnTo>
                    <a:pt x="0" y="323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3A614F7D-A74C-6EE1-8EB7-BBA47F417D3D}"/>
                </a:ext>
              </a:extLst>
            </p:cNvPr>
            <p:cNvSpPr/>
            <p:nvPr/>
          </p:nvSpPr>
          <p:spPr>
            <a:xfrm>
              <a:off x="7553432" y="9294196"/>
              <a:ext cx="311270" cy="466481"/>
            </a:xfrm>
            <a:custGeom>
              <a:avLst/>
              <a:gdLst/>
              <a:ahLst/>
              <a:cxnLst/>
              <a:rect l="l" t="t" r="r" b="b"/>
              <a:pathLst>
                <a:path w="311270" h="466481">
                  <a:moveTo>
                    <a:pt x="0" y="0"/>
                  </a:moveTo>
                  <a:lnTo>
                    <a:pt x="311270" y="0"/>
                  </a:lnTo>
                  <a:lnTo>
                    <a:pt x="311270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0057D6DF-0972-FCBE-A0BF-ED7876F866CB}"/>
                </a:ext>
              </a:extLst>
            </p:cNvPr>
            <p:cNvSpPr/>
            <p:nvPr/>
          </p:nvSpPr>
          <p:spPr>
            <a:xfrm>
              <a:off x="8516111" y="9337485"/>
              <a:ext cx="379192" cy="400298"/>
            </a:xfrm>
            <a:custGeom>
              <a:avLst/>
              <a:gdLst/>
              <a:ahLst/>
              <a:cxnLst/>
              <a:rect l="l" t="t" r="r" b="b"/>
              <a:pathLst>
                <a:path w="379192" h="400298">
                  <a:moveTo>
                    <a:pt x="0" y="0"/>
                  </a:moveTo>
                  <a:lnTo>
                    <a:pt x="379191" y="0"/>
                  </a:lnTo>
                  <a:lnTo>
                    <a:pt x="379191" y="400298"/>
                  </a:lnTo>
                  <a:lnTo>
                    <a:pt x="0" y="400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7F20836C-F020-A409-E1BD-42982C8DB670}"/>
                </a:ext>
              </a:extLst>
            </p:cNvPr>
            <p:cNvSpPr/>
            <p:nvPr/>
          </p:nvSpPr>
          <p:spPr>
            <a:xfrm>
              <a:off x="1643316" y="9337485"/>
              <a:ext cx="451732" cy="351530"/>
            </a:xfrm>
            <a:custGeom>
              <a:avLst/>
              <a:gdLst/>
              <a:ahLst/>
              <a:cxnLst/>
              <a:rect l="l" t="t" r="r" b="b"/>
              <a:pathLst>
                <a:path w="451732" h="351530">
                  <a:moveTo>
                    <a:pt x="0" y="0"/>
                  </a:moveTo>
                  <a:lnTo>
                    <a:pt x="451732" y="0"/>
                  </a:lnTo>
                  <a:lnTo>
                    <a:pt x="451732" y="351530"/>
                  </a:lnTo>
                  <a:lnTo>
                    <a:pt x="0" y="351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70000"/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08B1CE4C-03A5-A3D0-DF6F-885C68576A2C}"/>
                </a:ext>
              </a:extLst>
            </p:cNvPr>
            <p:cNvSpPr/>
            <p:nvPr/>
          </p:nvSpPr>
          <p:spPr>
            <a:xfrm>
              <a:off x="2746457" y="9258300"/>
              <a:ext cx="186592" cy="466481"/>
            </a:xfrm>
            <a:custGeom>
              <a:avLst/>
              <a:gdLst/>
              <a:ahLst/>
              <a:cxnLst/>
              <a:rect l="l" t="t" r="r" b="b"/>
              <a:pathLst>
                <a:path w="186592" h="466481">
                  <a:moveTo>
                    <a:pt x="0" y="0"/>
                  </a:moveTo>
                  <a:lnTo>
                    <a:pt x="186592" y="0"/>
                  </a:lnTo>
                  <a:lnTo>
                    <a:pt x="186592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70000"/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322B3E3C-C921-5A87-8DB9-D631930FEE33}"/>
                </a:ext>
              </a:extLst>
            </p:cNvPr>
            <p:cNvSpPr/>
            <p:nvPr/>
          </p:nvSpPr>
          <p:spPr>
            <a:xfrm>
              <a:off x="4404956" y="9294066"/>
              <a:ext cx="397115" cy="394949"/>
            </a:xfrm>
            <a:custGeom>
              <a:avLst/>
              <a:gdLst/>
              <a:ahLst/>
              <a:cxnLst/>
              <a:rect l="l" t="t" r="r" b="b"/>
              <a:pathLst>
                <a:path w="397115" h="394949">
                  <a:moveTo>
                    <a:pt x="0" y="0"/>
                  </a:moveTo>
                  <a:lnTo>
                    <a:pt x="397115" y="0"/>
                  </a:lnTo>
                  <a:lnTo>
                    <a:pt x="397115" y="394949"/>
                  </a:lnTo>
                  <a:lnTo>
                    <a:pt x="0" y="394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70000"/>
                <a:extLs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3D1F7761-18DF-97E7-E628-06AA63AE8693}"/>
                </a:ext>
              </a:extLst>
            </p:cNvPr>
            <p:cNvSpPr/>
            <p:nvPr/>
          </p:nvSpPr>
          <p:spPr>
            <a:xfrm>
              <a:off x="3584458" y="9258300"/>
              <a:ext cx="170477" cy="466481"/>
            </a:xfrm>
            <a:custGeom>
              <a:avLst/>
              <a:gdLst/>
              <a:ahLst/>
              <a:cxnLst/>
              <a:rect l="l" t="t" r="r" b="b"/>
              <a:pathLst>
                <a:path w="170477" h="466481">
                  <a:moveTo>
                    <a:pt x="0" y="0"/>
                  </a:moveTo>
                  <a:lnTo>
                    <a:pt x="170478" y="0"/>
                  </a:lnTo>
                  <a:lnTo>
                    <a:pt x="170478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70000"/>
                <a:extLst>
                  <a:ext uri="{96DAC541-7B7A-43D3-8B79-37D633B846F1}">
                    <asvg:svgBlip xmlns:asvg="http://schemas.microsoft.com/office/drawing/2016/SVG/main" xmlns="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DC46849F-C4E9-B111-CF30-4BB2E5A80D58}"/>
                </a:ext>
              </a:extLst>
            </p:cNvPr>
            <p:cNvSpPr/>
            <p:nvPr/>
          </p:nvSpPr>
          <p:spPr>
            <a:xfrm>
              <a:off x="9546711" y="9315775"/>
              <a:ext cx="364703" cy="466481"/>
            </a:xfrm>
            <a:custGeom>
              <a:avLst/>
              <a:gdLst/>
              <a:ahLst/>
              <a:cxnLst/>
              <a:rect l="l" t="t" r="r" b="b"/>
              <a:pathLst>
                <a:path w="364703" h="466481">
                  <a:moveTo>
                    <a:pt x="0" y="0"/>
                  </a:moveTo>
                  <a:lnTo>
                    <a:pt x="364703" y="0"/>
                  </a:lnTo>
                  <a:lnTo>
                    <a:pt x="364703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70000"/>
                <a:extLst>
                  <a:ext uri="{96DAC541-7B7A-43D3-8B79-37D633B846F1}">
                    <asvg:svgBlip xmlns:asvg="http://schemas.microsoft.com/office/drawing/2016/SVG/main" xmlns="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155A0593-75DA-E52A-9CE6-822DFC997ECB}"/>
                </a:ext>
              </a:extLst>
            </p:cNvPr>
            <p:cNvSpPr/>
            <p:nvPr/>
          </p:nvSpPr>
          <p:spPr>
            <a:xfrm>
              <a:off x="10562823" y="9384996"/>
              <a:ext cx="462620" cy="328040"/>
            </a:xfrm>
            <a:custGeom>
              <a:avLst/>
              <a:gdLst/>
              <a:ahLst/>
              <a:cxnLst/>
              <a:rect l="l" t="t" r="r" b="b"/>
              <a:pathLst>
                <a:path w="462620" h="328040">
                  <a:moveTo>
                    <a:pt x="0" y="0"/>
                  </a:moveTo>
                  <a:lnTo>
                    <a:pt x="462621" y="0"/>
                  </a:lnTo>
                  <a:lnTo>
                    <a:pt x="462621" y="328040"/>
                  </a:lnTo>
                  <a:lnTo>
                    <a:pt x="0" y="328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7C739EC2-01C7-0329-F31C-BEFF4863C7EC}"/>
                </a:ext>
              </a:extLst>
            </p:cNvPr>
            <p:cNvSpPr/>
            <p:nvPr/>
          </p:nvSpPr>
          <p:spPr>
            <a:xfrm>
              <a:off x="764210" y="9305727"/>
              <a:ext cx="433615" cy="420212"/>
            </a:xfrm>
            <a:custGeom>
              <a:avLst/>
              <a:gdLst/>
              <a:ahLst/>
              <a:cxnLst/>
              <a:rect l="l" t="t" r="r" b="b"/>
              <a:pathLst>
                <a:path w="433615" h="420212">
                  <a:moveTo>
                    <a:pt x="0" y="0"/>
                  </a:moveTo>
                  <a:lnTo>
                    <a:pt x="433615" y="0"/>
                  </a:lnTo>
                  <a:lnTo>
                    <a:pt x="433615" y="420212"/>
                  </a:lnTo>
                  <a:lnTo>
                    <a:pt x="0" y="420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alphaModFix amt="70000"/>
                <a:extLst>
                  <a:ext uri="{96DAC541-7B7A-43D3-8B79-37D633B846F1}">
                    <asvg:svgBlip xmlns:asvg="http://schemas.microsoft.com/office/drawing/2016/SVG/main" xmlns="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17">
              <a:extLst>
                <a:ext uri="{FF2B5EF4-FFF2-40B4-BE49-F238E27FC236}">
                  <a16:creationId xmlns:a16="http://schemas.microsoft.com/office/drawing/2014/main" id="{028C1439-55E8-1773-3EBE-BB14ABD8FC87}"/>
                </a:ext>
              </a:extLst>
            </p:cNvPr>
            <p:cNvSpPr/>
            <p:nvPr/>
          </p:nvSpPr>
          <p:spPr>
            <a:xfrm>
              <a:off x="11676853" y="9304394"/>
              <a:ext cx="472494" cy="466481"/>
            </a:xfrm>
            <a:custGeom>
              <a:avLst/>
              <a:gdLst/>
              <a:ahLst/>
              <a:cxnLst/>
              <a:rect l="l" t="t" r="r" b="b"/>
              <a:pathLst>
                <a:path w="472494" h="466481">
                  <a:moveTo>
                    <a:pt x="0" y="0"/>
                  </a:moveTo>
                  <a:lnTo>
                    <a:pt x="472494" y="0"/>
                  </a:lnTo>
                  <a:lnTo>
                    <a:pt x="472494" y="466480"/>
                  </a:lnTo>
                  <a:lnTo>
                    <a:pt x="0" y="46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70000"/>
                <a:extLst>
                  <a:ext uri="{96DAC541-7B7A-43D3-8B79-37D633B846F1}">
                    <asvg:svgBlip xmlns:asvg="http://schemas.microsoft.com/office/drawing/2016/SVG/main" xmlns="" r:embed="rId2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18">
              <a:extLst>
                <a:ext uri="{FF2B5EF4-FFF2-40B4-BE49-F238E27FC236}">
                  <a16:creationId xmlns:a16="http://schemas.microsoft.com/office/drawing/2014/main" id="{B6922FCC-174E-C11A-6ED9-C0A80531CCFA}"/>
                </a:ext>
              </a:extLst>
            </p:cNvPr>
            <p:cNvSpPr/>
            <p:nvPr/>
          </p:nvSpPr>
          <p:spPr>
            <a:xfrm>
              <a:off x="5453480" y="9315775"/>
              <a:ext cx="349436" cy="466481"/>
            </a:xfrm>
            <a:custGeom>
              <a:avLst/>
              <a:gdLst/>
              <a:ahLst/>
              <a:cxnLst/>
              <a:rect l="l" t="t" r="r" b="b"/>
              <a:pathLst>
                <a:path w="349436" h="466481">
                  <a:moveTo>
                    <a:pt x="0" y="0"/>
                  </a:moveTo>
                  <a:lnTo>
                    <a:pt x="349436" y="0"/>
                  </a:lnTo>
                  <a:lnTo>
                    <a:pt x="349436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19">
              <a:extLst>
                <a:ext uri="{FF2B5EF4-FFF2-40B4-BE49-F238E27FC236}">
                  <a16:creationId xmlns:a16="http://schemas.microsoft.com/office/drawing/2014/main" id="{0AA887F9-B8D6-5190-56A9-5C9B65DC5D3D}"/>
                </a:ext>
              </a:extLst>
            </p:cNvPr>
            <p:cNvSpPr/>
            <p:nvPr/>
          </p:nvSpPr>
          <p:spPr>
            <a:xfrm>
              <a:off x="12797047" y="9342632"/>
              <a:ext cx="480625" cy="346924"/>
            </a:xfrm>
            <a:custGeom>
              <a:avLst/>
              <a:gdLst/>
              <a:ahLst/>
              <a:cxnLst/>
              <a:rect l="l" t="t" r="r" b="b"/>
              <a:pathLst>
                <a:path w="480625" h="346924">
                  <a:moveTo>
                    <a:pt x="0" y="0"/>
                  </a:moveTo>
                  <a:lnTo>
                    <a:pt x="480625" y="0"/>
                  </a:lnTo>
                  <a:lnTo>
                    <a:pt x="480625" y="346924"/>
                  </a:lnTo>
                  <a:lnTo>
                    <a:pt x="0" y="346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57D523B4-A9B5-EB3C-932A-C9803C92C54F}"/>
                </a:ext>
              </a:extLst>
            </p:cNvPr>
            <p:cNvSpPr/>
            <p:nvPr/>
          </p:nvSpPr>
          <p:spPr>
            <a:xfrm>
              <a:off x="13976992" y="9265699"/>
              <a:ext cx="334163" cy="500789"/>
            </a:xfrm>
            <a:custGeom>
              <a:avLst/>
              <a:gdLst/>
              <a:ahLst/>
              <a:cxnLst/>
              <a:rect l="l" t="t" r="r" b="b"/>
              <a:pathLst>
                <a:path w="334163" h="500789">
                  <a:moveTo>
                    <a:pt x="0" y="0"/>
                  </a:moveTo>
                  <a:lnTo>
                    <a:pt x="334163" y="0"/>
                  </a:lnTo>
                  <a:lnTo>
                    <a:pt x="334163" y="500789"/>
                  </a:lnTo>
                  <a:lnTo>
                    <a:pt x="0" y="500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21">
              <a:extLst>
                <a:ext uri="{FF2B5EF4-FFF2-40B4-BE49-F238E27FC236}">
                  <a16:creationId xmlns:a16="http://schemas.microsoft.com/office/drawing/2014/main" id="{9290551C-CC36-AA8F-AF55-3D2F9DB306D4}"/>
                </a:ext>
              </a:extLst>
            </p:cNvPr>
            <p:cNvSpPr/>
            <p:nvPr/>
          </p:nvSpPr>
          <p:spPr>
            <a:xfrm>
              <a:off x="15010474" y="9312172"/>
              <a:ext cx="407081" cy="429740"/>
            </a:xfrm>
            <a:custGeom>
              <a:avLst/>
              <a:gdLst/>
              <a:ahLst/>
              <a:cxnLst/>
              <a:rect l="l" t="t" r="r" b="b"/>
              <a:pathLst>
                <a:path w="407081" h="429740">
                  <a:moveTo>
                    <a:pt x="0" y="0"/>
                  </a:moveTo>
                  <a:lnTo>
                    <a:pt x="407080" y="0"/>
                  </a:lnTo>
                  <a:lnTo>
                    <a:pt x="407080" y="429739"/>
                  </a:lnTo>
                  <a:lnTo>
                    <a:pt x="0" y="429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7D50B4A6-E82A-8CDF-4FBE-684898A8B3F6}"/>
                </a:ext>
              </a:extLst>
            </p:cNvPr>
            <p:cNvSpPr/>
            <p:nvPr/>
          </p:nvSpPr>
          <p:spPr>
            <a:xfrm>
              <a:off x="17207719" y="9363177"/>
              <a:ext cx="496645" cy="352167"/>
            </a:xfrm>
            <a:custGeom>
              <a:avLst/>
              <a:gdLst/>
              <a:ahLst/>
              <a:cxnLst/>
              <a:rect l="l" t="t" r="r" b="b"/>
              <a:pathLst>
                <a:path w="496645" h="352167">
                  <a:moveTo>
                    <a:pt x="0" y="0"/>
                  </a:moveTo>
                  <a:lnTo>
                    <a:pt x="496645" y="0"/>
                  </a:lnTo>
                  <a:lnTo>
                    <a:pt x="496645" y="352167"/>
                  </a:lnTo>
                  <a:lnTo>
                    <a:pt x="0" y="352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23">
              <a:extLst>
                <a:ext uri="{FF2B5EF4-FFF2-40B4-BE49-F238E27FC236}">
                  <a16:creationId xmlns:a16="http://schemas.microsoft.com/office/drawing/2014/main" id="{0B7B04C7-7534-92A6-53E4-2A430A17FE40}"/>
                </a:ext>
              </a:extLst>
            </p:cNvPr>
            <p:cNvSpPr/>
            <p:nvPr/>
          </p:nvSpPr>
          <p:spPr>
            <a:xfrm>
              <a:off x="16125068" y="9288865"/>
              <a:ext cx="375137" cy="500789"/>
            </a:xfrm>
            <a:custGeom>
              <a:avLst/>
              <a:gdLst/>
              <a:ahLst/>
              <a:cxnLst/>
              <a:rect l="l" t="t" r="r" b="b"/>
              <a:pathLst>
                <a:path w="375137" h="500789">
                  <a:moveTo>
                    <a:pt x="0" y="0"/>
                  </a:moveTo>
                  <a:lnTo>
                    <a:pt x="375137" y="0"/>
                  </a:lnTo>
                  <a:lnTo>
                    <a:pt x="375137" y="500790"/>
                  </a:lnTo>
                  <a:lnTo>
                    <a:pt x="0" y="500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21" name="Рисунок 2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97825" y="1104900"/>
            <a:ext cx="7401958" cy="78486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11414" y="2371391"/>
            <a:ext cx="6354062" cy="658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9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27DD20B-79F5-A36F-7FA1-F2CEA6FB7D8C}"/>
              </a:ext>
            </a:extLst>
          </p:cNvPr>
          <p:cNvGrpSpPr/>
          <p:nvPr/>
        </p:nvGrpSpPr>
        <p:grpSpPr>
          <a:xfrm>
            <a:off x="764210" y="9258300"/>
            <a:ext cx="16940154" cy="531354"/>
            <a:chOff x="764210" y="9258300"/>
            <a:chExt cx="16940154" cy="531354"/>
          </a:xfrm>
        </p:grpSpPr>
        <p:sp>
          <p:nvSpPr>
            <p:cNvPr id="7" name="Freeform 7"/>
            <p:cNvSpPr/>
            <p:nvPr/>
          </p:nvSpPr>
          <p:spPr>
            <a:xfrm>
              <a:off x="6454325" y="9365858"/>
              <a:ext cx="447698" cy="323157"/>
            </a:xfrm>
            <a:custGeom>
              <a:avLst/>
              <a:gdLst/>
              <a:ahLst/>
              <a:cxnLst/>
              <a:rect l="l" t="t" r="r" b="b"/>
              <a:pathLst>
                <a:path w="447698" h="323157">
                  <a:moveTo>
                    <a:pt x="0" y="0"/>
                  </a:moveTo>
                  <a:lnTo>
                    <a:pt x="447698" y="0"/>
                  </a:lnTo>
                  <a:lnTo>
                    <a:pt x="447698" y="323157"/>
                  </a:lnTo>
                  <a:lnTo>
                    <a:pt x="0" y="323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Freeform 8"/>
            <p:cNvSpPr/>
            <p:nvPr/>
          </p:nvSpPr>
          <p:spPr>
            <a:xfrm>
              <a:off x="7553432" y="9294196"/>
              <a:ext cx="311270" cy="466481"/>
            </a:xfrm>
            <a:custGeom>
              <a:avLst/>
              <a:gdLst/>
              <a:ahLst/>
              <a:cxnLst/>
              <a:rect l="l" t="t" r="r" b="b"/>
              <a:pathLst>
                <a:path w="311270" h="466481">
                  <a:moveTo>
                    <a:pt x="0" y="0"/>
                  </a:moveTo>
                  <a:lnTo>
                    <a:pt x="311270" y="0"/>
                  </a:lnTo>
                  <a:lnTo>
                    <a:pt x="311270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Freeform 9"/>
            <p:cNvSpPr/>
            <p:nvPr/>
          </p:nvSpPr>
          <p:spPr>
            <a:xfrm>
              <a:off x="8516111" y="9337485"/>
              <a:ext cx="379192" cy="400298"/>
            </a:xfrm>
            <a:custGeom>
              <a:avLst/>
              <a:gdLst/>
              <a:ahLst/>
              <a:cxnLst/>
              <a:rect l="l" t="t" r="r" b="b"/>
              <a:pathLst>
                <a:path w="379192" h="400298">
                  <a:moveTo>
                    <a:pt x="0" y="0"/>
                  </a:moveTo>
                  <a:lnTo>
                    <a:pt x="379191" y="0"/>
                  </a:lnTo>
                  <a:lnTo>
                    <a:pt x="379191" y="400298"/>
                  </a:lnTo>
                  <a:lnTo>
                    <a:pt x="0" y="400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43316" y="9337485"/>
              <a:ext cx="451732" cy="351530"/>
            </a:xfrm>
            <a:custGeom>
              <a:avLst/>
              <a:gdLst/>
              <a:ahLst/>
              <a:cxnLst/>
              <a:rect l="l" t="t" r="r" b="b"/>
              <a:pathLst>
                <a:path w="451732" h="351530">
                  <a:moveTo>
                    <a:pt x="0" y="0"/>
                  </a:moveTo>
                  <a:lnTo>
                    <a:pt x="451732" y="0"/>
                  </a:lnTo>
                  <a:lnTo>
                    <a:pt x="451732" y="351530"/>
                  </a:lnTo>
                  <a:lnTo>
                    <a:pt x="0" y="351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70000"/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746457" y="9258300"/>
              <a:ext cx="186592" cy="466481"/>
            </a:xfrm>
            <a:custGeom>
              <a:avLst/>
              <a:gdLst/>
              <a:ahLst/>
              <a:cxnLst/>
              <a:rect l="l" t="t" r="r" b="b"/>
              <a:pathLst>
                <a:path w="186592" h="466481">
                  <a:moveTo>
                    <a:pt x="0" y="0"/>
                  </a:moveTo>
                  <a:lnTo>
                    <a:pt x="186592" y="0"/>
                  </a:lnTo>
                  <a:lnTo>
                    <a:pt x="186592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70000"/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4404956" y="9294066"/>
              <a:ext cx="397115" cy="394949"/>
            </a:xfrm>
            <a:custGeom>
              <a:avLst/>
              <a:gdLst/>
              <a:ahLst/>
              <a:cxnLst/>
              <a:rect l="l" t="t" r="r" b="b"/>
              <a:pathLst>
                <a:path w="397115" h="394949">
                  <a:moveTo>
                    <a:pt x="0" y="0"/>
                  </a:moveTo>
                  <a:lnTo>
                    <a:pt x="397115" y="0"/>
                  </a:lnTo>
                  <a:lnTo>
                    <a:pt x="397115" y="394949"/>
                  </a:lnTo>
                  <a:lnTo>
                    <a:pt x="0" y="394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70000"/>
                <a:extLs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3584458" y="9258300"/>
              <a:ext cx="170477" cy="466481"/>
            </a:xfrm>
            <a:custGeom>
              <a:avLst/>
              <a:gdLst/>
              <a:ahLst/>
              <a:cxnLst/>
              <a:rect l="l" t="t" r="r" b="b"/>
              <a:pathLst>
                <a:path w="170477" h="466481">
                  <a:moveTo>
                    <a:pt x="0" y="0"/>
                  </a:moveTo>
                  <a:lnTo>
                    <a:pt x="170478" y="0"/>
                  </a:lnTo>
                  <a:lnTo>
                    <a:pt x="170478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70000"/>
                <a:extLst>
                  <a:ext uri="{96DAC541-7B7A-43D3-8B79-37D633B846F1}">
                    <asvg:svgBlip xmlns:asvg="http://schemas.microsoft.com/office/drawing/2016/SVG/main" xmlns="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9546711" y="9315775"/>
              <a:ext cx="364703" cy="466481"/>
            </a:xfrm>
            <a:custGeom>
              <a:avLst/>
              <a:gdLst/>
              <a:ahLst/>
              <a:cxnLst/>
              <a:rect l="l" t="t" r="r" b="b"/>
              <a:pathLst>
                <a:path w="364703" h="466481">
                  <a:moveTo>
                    <a:pt x="0" y="0"/>
                  </a:moveTo>
                  <a:lnTo>
                    <a:pt x="364703" y="0"/>
                  </a:lnTo>
                  <a:lnTo>
                    <a:pt x="364703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70000"/>
                <a:extLst>
                  <a:ext uri="{96DAC541-7B7A-43D3-8B79-37D633B846F1}">
                    <asvg:svgBlip xmlns:asvg="http://schemas.microsoft.com/office/drawing/2016/SVG/main" xmlns="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0562823" y="9384996"/>
              <a:ext cx="462620" cy="328040"/>
            </a:xfrm>
            <a:custGeom>
              <a:avLst/>
              <a:gdLst/>
              <a:ahLst/>
              <a:cxnLst/>
              <a:rect l="l" t="t" r="r" b="b"/>
              <a:pathLst>
                <a:path w="462620" h="328040">
                  <a:moveTo>
                    <a:pt x="0" y="0"/>
                  </a:moveTo>
                  <a:lnTo>
                    <a:pt x="462621" y="0"/>
                  </a:lnTo>
                  <a:lnTo>
                    <a:pt x="462621" y="328040"/>
                  </a:lnTo>
                  <a:lnTo>
                    <a:pt x="0" y="328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764210" y="9305727"/>
              <a:ext cx="433615" cy="420212"/>
            </a:xfrm>
            <a:custGeom>
              <a:avLst/>
              <a:gdLst/>
              <a:ahLst/>
              <a:cxnLst/>
              <a:rect l="l" t="t" r="r" b="b"/>
              <a:pathLst>
                <a:path w="433615" h="420212">
                  <a:moveTo>
                    <a:pt x="0" y="0"/>
                  </a:moveTo>
                  <a:lnTo>
                    <a:pt x="433615" y="0"/>
                  </a:lnTo>
                  <a:lnTo>
                    <a:pt x="433615" y="420212"/>
                  </a:lnTo>
                  <a:lnTo>
                    <a:pt x="0" y="420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alphaModFix amt="70000"/>
                <a:extLst>
                  <a:ext uri="{96DAC541-7B7A-43D3-8B79-37D633B846F1}">
                    <asvg:svgBlip xmlns:asvg="http://schemas.microsoft.com/office/drawing/2016/SVG/main" xmlns="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676853" y="9304394"/>
              <a:ext cx="472494" cy="466481"/>
            </a:xfrm>
            <a:custGeom>
              <a:avLst/>
              <a:gdLst/>
              <a:ahLst/>
              <a:cxnLst/>
              <a:rect l="l" t="t" r="r" b="b"/>
              <a:pathLst>
                <a:path w="472494" h="466481">
                  <a:moveTo>
                    <a:pt x="0" y="0"/>
                  </a:moveTo>
                  <a:lnTo>
                    <a:pt x="472494" y="0"/>
                  </a:lnTo>
                  <a:lnTo>
                    <a:pt x="472494" y="466480"/>
                  </a:lnTo>
                  <a:lnTo>
                    <a:pt x="0" y="46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70000"/>
                <a:extLst>
                  <a:ext uri="{96DAC541-7B7A-43D3-8B79-37D633B846F1}">
                    <asvg:svgBlip xmlns:asvg="http://schemas.microsoft.com/office/drawing/2016/SVG/main" xmlns="" r:embed="rId2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453480" y="9315775"/>
              <a:ext cx="349436" cy="466481"/>
            </a:xfrm>
            <a:custGeom>
              <a:avLst/>
              <a:gdLst/>
              <a:ahLst/>
              <a:cxnLst/>
              <a:rect l="l" t="t" r="r" b="b"/>
              <a:pathLst>
                <a:path w="349436" h="466481">
                  <a:moveTo>
                    <a:pt x="0" y="0"/>
                  </a:moveTo>
                  <a:lnTo>
                    <a:pt x="349436" y="0"/>
                  </a:lnTo>
                  <a:lnTo>
                    <a:pt x="349436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2797047" y="9342632"/>
              <a:ext cx="480625" cy="346924"/>
            </a:xfrm>
            <a:custGeom>
              <a:avLst/>
              <a:gdLst/>
              <a:ahLst/>
              <a:cxnLst/>
              <a:rect l="l" t="t" r="r" b="b"/>
              <a:pathLst>
                <a:path w="480625" h="346924">
                  <a:moveTo>
                    <a:pt x="0" y="0"/>
                  </a:moveTo>
                  <a:lnTo>
                    <a:pt x="480625" y="0"/>
                  </a:lnTo>
                  <a:lnTo>
                    <a:pt x="480625" y="346924"/>
                  </a:lnTo>
                  <a:lnTo>
                    <a:pt x="0" y="346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3976992" y="9265699"/>
              <a:ext cx="334163" cy="500789"/>
            </a:xfrm>
            <a:custGeom>
              <a:avLst/>
              <a:gdLst/>
              <a:ahLst/>
              <a:cxnLst/>
              <a:rect l="l" t="t" r="r" b="b"/>
              <a:pathLst>
                <a:path w="334163" h="500789">
                  <a:moveTo>
                    <a:pt x="0" y="0"/>
                  </a:moveTo>
                  <a:lnTo>
                    <a:pt x="334163" y="0"/>
                  </a:lnTo>
                  <a:lnTo>
                    <a:pt x="334163" y="500789"/>
                  </a:lnTo>
                  <a:lnTo>
                    <a:pt x="0" y="500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5010474" y="9312172"/>
              <a:ext cx="407081" cy="429740"/>
            </a:xfrm>
            <a:custGeom>
              <a:avLst/>
              <a:gdLst/>
              <a:ahLst/>
              <a:cxnLst/>
              <a:rect l="l" t="t" r="r" b="b"/>
              <a:pathLst>
                <a:path w="407081" h="429740">
                  <a:moveTo>
                    <a:pt x="0" y="0"/>
                  </a:moveTo>
                  <a:lnTo>
                    <a:pt x="407080" y="0"/>
                  </a:lnTo>
                  <a:lnTo>
                    <a:pt x="407080" y="429739"/>
                  </a:lnTo>
                  <a:lnTo>
                    <a:pt x="0" y="429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7207719" y="9363177"/>
              <a:ext cx="496645" cy="352167"/>
            </a:xfrm>
            <a:custGeom>
              <a:avLst/>
              <a:gdLst/>
              <a:ahLst/>
              <a:cxnLst/>
              <a:rect l="l" t="t" r="r" b="b"/>
              <a:pathLst>
                <a:path w="496645" h="352167">
                  <a:moveTo>
                    <a:pt x="0" y="0"/>
                  </a:moveTo>
                  <a:lnTo>
                    <a:pt x="496645" y="0"/>
                  </a:lnTo>
                  <a:lnTo>
                    <a:pt x="496645" y="352167"/>
                  </a:lnTo>
                  <a:lnTo>
                    <a:pt x="0" y="352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6125068" y="9288865"/>
              <a:ext cx="375137" cy="500789"/>
            </a:xfrm>
            <a:custGeom>
              <a:avLst/>
              <a:gdLst/>
              <a:ahLst/>
              <a:cxnLst/>
              <a:rect l="l" t="t" r="r" b="b"/>
              <a:pathLst>
                <a:path w="375137" h="500789">
                  <a:moveTo>
                    <a:pt x="0" y="0"/>
                  </a:moveTo>
                  <a:lnTo>
                    <a:pt x="375137" y="0"/>
                  </a:lnTo>
                  <a:lnTo>
                    <a:pt x="375137" y="500790"/>
                  </a:lnTo>
                  <a:lnTo>
                    <a:pt x="0" y="500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144975"/>
              </p:ext>
            </p:extLst>
          </p:nvPr>
        </p:nvGraphicFramePr>
        <p:xfrm>
          <a:off x="647700" y="495300"/>
          <a:ext cx="16992600" cy="8106350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515196764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417161114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969997048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311900814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996409563"/>
                    </a:ext>
                  </a:extLst>
                </a:gridCol>
              </a:tblGrid>
              <a:tr h="883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i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2130</a:t>
                      </a:r>
                    </a:p>
                  </a:txBody>
                  <a:tcPr marL="7729" marR="7729" marT="7729" marB="0" anchor="ctr"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ru-RU" sz="2000" b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ОТДЕЛЬНЫЕ ЗАБОЛЕВАНИЯ, ПРЕДШЕСТВОВАВШИЕ ИЛИ </a:t>
                      </a:r>
                    </a:p>
                    <a:p>
                      <a:pPr algn="ctr" fontAlgn="b"/>
                      <a:r>
                        <a:rPr lang="ru-RU" sz="2000" b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ВОЗНИКШИЕ ВО ВРЕМЯ БЕРЕМЕННОСТИ, ОСЛОЖНЯЮЩИЕ БЕРЕМЕННОСТЬ</a:t>
                      </a:r>
                      <a:endParaRPr lang="ru-RU" sz="2000" b="1" i="0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032026"/>
                  </a:ext>
                </a:extLst>
              </a:tr>
              <a:tr h="4881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Наименование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№ строки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Шифр по МКБ Х пересмотра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Всего</a:t>
                      </a: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355804"/>
                  </a:ext>
                </a:extLst>
              </a:tr>
              <a:tr h="36245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А</a:t>
                      </a:r>
                    </a:p>
                  </a:txBody>
                  <a:tcPr marL="7729" marR="7729" marT="7729" marB="0"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Б</a:t>
                      </a:r>
                    </a:p>
                  </a:txBody>
                  <a:tcPr marL="7729" marR="7729" marT="7729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</a:t>
                      </a: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095008"/>
                  </a:ext>
                </a:extLst>
              </a:tr>
              <a:tr h="3478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Отеки, протеинурия и гипертензивные состояния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01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О10 - О15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009438"/>
                  </a:ext>
                </a:extLst>
              </a:tr>
              <a:tr h="3478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          </a:t>
                      </a:r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 том числе: преэклампсия, эклампсия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02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О14, О15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541648"/>
                  </a:ext>
                </a:extLst>
              </a:tr>
              <a:tr h="3478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Кровотечения в дородовом периоде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03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О44, О45 - О46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828486"/>
                  </a:ext>
                </a:extLst>
              </a:tr>
              <a:tr h="3478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 том числе:    преждевременная отслойка  плаценты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04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О45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938900"/>
                  </a:ext>
                </a:extLst>
              </a:tr>
              <a:tr h="3478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Венозные осложнения во время беременности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О22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71839"/>
                  </a:ext>
                </a:extLst>
              </a:tr>
              <a:tr h="3478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Сахарный диабет во время беременности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06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О24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505309"/>
                  </a:ext>
                </a:extLst>
              </a:tr>
              <a:tr h="3478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Анемии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07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О99.О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860756"/>
                  </a:ext>
                </a:extLst>
              </a:tr>
              <a:tr h="3478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Болезни органов дыхания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08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О99.5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303911"/>
                  </a:ext>
                </a:extLst>
              </a:tr>
              <a:tr h="3478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Туберкулез органов дыхания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09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О98.0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224143"/>
                  </a:ext>
                </a:extLst>
              </a:tr>
              <a:tr h="3478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Болезни органов пищеварения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О99.6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104447"/>
                  </a:ext>
                </a:extLst>
              </a:tr>
              <a:tr h="34783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Вирусный гепатит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О98.4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823936"/>
                  </a:ext>
                </a:extLst>
              </a:tr>
              <a:tr h="3478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Болезни нервной системы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О99.3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523724"/>
                  </a:ext>
                </a:extLst>
              </a:tr>
              <a:tr h="3478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Болезни системы кровообращения и сосудов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О16, О99.4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417453"/>
                  </a:ext>
                </a:extLst>
              </a:tr>
              <a:tr h="3478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Болезни эндокринной системы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O99.2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282865"/>
                  </a:ext>
                </a:extLst>
              </a:tr>
              <a:tr h="3478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Болезни мочеполовой системы во время беременности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О23 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331889"/>
                  </a:ext>
                </a:extLst>
              </a:tr>
              <a:tr h="3478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Переношенная беременность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О48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009978"/>
                  </a:ext>
                </a:extLst>
              </a:tr>
              <a:tr h="419768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Прочие акушерские осложнения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О21, О25, О26, О28 - О36, О42, О43, О47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207328"/>
                  </a:ext>
                </a:extLst>
              </a:tr>
              <a:tr h="38717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Прочие экстрагенитальные заболевания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O98.1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O98.3, O98.5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O98.9, O99.1, O99.7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O99.8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29" marR="7729" marT="772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2182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27DD20B-79F5-A36F-7FA1-F2CEA6FB7D8C}"/>
              </a:ext>
            </a:extLst>
          </p:cNvPr>
          <p:cNvGrpSpPr/>
          <p:nvPr/>
        </p:nvGrpSpPr>
        <p:grpSpPr>
          <a:xfrm>
            <a:off x="764210" y="9258300"/>
            <a:ext cx="16940154" cy="531354"/>
            <a:chOff x="764210" y="9258300"/>
            <a:chExt cx="16940154" cy="531354"/>
          </a:xfrm>
        </p:grpSpPr>
        <p:sp>
          <p:nvSpPr>
            <p:cNvPr id="7" name="Freeform 7"/>
            <p:cNvSpPr/>
            <p:nvPr/>
          </p:nvSpPr>
          <p:spPr>
            <a:xfrm>
              <a:off x="6454325" y="9365858"/>
              <a:ext cx="447698" cy="323157"/>
            </a:xfrm>
            <a:custGeom>
              <a:avLst/>
              <a:gdLst/>
              <a:ahLst/>
              <a:cxnLst/>
              <a:rect l="l" t="t" r="r" b="b"/>
              <a:pathLst>
                <a:path w="447698" h="323157">
                  <a:moveTo>
                    <a:pt x="0" y="0"/>
                  </a:moveTo>
                  <a:lnTo>
                    <a:pt x="447698" y="0"/>
                  </a:lnTo>
                  <a:lnTo>
                    <a:pt x="447698" y="323157"/>
                  </a:lnTo>
                  <a:lnTo>
                    <a:pt x="0" y="323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Freeform 8"/>
            <p:cNvSpPr/>
            <p:nvPr/>
          </p:nvSpPr>
          <p:spPr>
            <a:xfrm>
              <a:off x="7553432" y="9294196"/>
              <a:ext cx="311270" cy="466481"/>
            </a:xfrm>
            <a:custGeom>
              <a:avLst/>
              <a:gdLst/>
              <a:ahLst/>
              <a:cxnLst/>
              <a:rect l="l" t="t" r="r" b="b"/>
              <a:pathLst>
                <a:path w="311270" h="466481">
                  <a:moveTo>
                    <a:pt x="0" y="0"/>
                  </a:moveTo>
                  <a:lnTo>
                    <a:pt x="311270" y="0"/>
                  </a:lnTo>
                  <a:lnTo>
                    <a:pt x="311270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Freeform 9"/>
            <p:cNvSpPr/>
            <p:nvPr/>
          </p:nvSpPr>
          <p:spPr>
            <a:xfrm>
              <a:off x="8516111" y="9337485"/>
              <a:ext cx="379192" cy="400298"/>
            </a:xfrm>
            <a:custGeom>
              <a:avLst/>
              <a:gdLst/>
              <a:ahLst/>
              <a:cxnLst/>
              <a:rect l="l" t="t" r="r" b="b"/>
              <a:pathLst>
                <a:path w="379192" h="400298">
                  <a:moveTo>
                    <a:pt x="0" y="0"/>
                  </a:moveTo>
                  <a:lnTo>
                    <a:pt x="379191" y="0"/>
                  </a:lnTo>
                  <a:lnTo>
                    <a:pt x="379191" y="400298"/>
                  </a:lnTo>
                  <a:lnTo>
                    <a:pt x="0" y="400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43316" y="9337485"/>
              <a:ext cx="451732" cy="351530"/>
            </a:xfrm>
            <a:custGeom>
              <a:avLst/>
              <a:gdLst/>
              <a:ahLst/>
              <a:cxnLst/>
              <a:rect l="l" t="t" r="r" b="b"/>
              <a:pathLst>
                <a:path w="451732" h="351530">
                  <a:moveTo>
                    <a:pt x="0" y="0"/>
                  </a:moveTo>
                  <a:lnTo>
                    <a:pt x="451732" y="0"/>
                  </a:lnTo>
                  <a:lnTo>
                    <a:pt x="451732" y="351530"/>
                  </a:lnTo>
                  <a:lnTo>
                    <a:pt x="0" y="351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70000"/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746457" y="9258300"/>
              <a:ext cx="186592" cy="466481"/>
            </a:xfrm>
            <a:custGeom>
              <a:avLst/>
              <a:gdLst/>
              <a:ahLst/>
              <a:cxnLst/>
              <a:rect l="l" t="t" r="r" b="b"/>
              <a:pathLst>
                <a:path w="186592" h="466481">
                  <a:moveTo>
                    <a:pt x="0" y="0"/>
                  </a:moveTo>
                  <a:lnTo>
                    <a:pt x="186592" y="0"/>
                  </a:lnTo>
                  <a:lnTo>
                    <a:pt x="186592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70000"/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4404956" y="9294066"/>
              <a:ext cx="397115" cy="394949"/>
            </a:xfrm>
            <a:custGeom>
              <a:avLst/>
              <a:gdLst/>
              <a:ahLst/>
              <a:cxnLst/>
              <a:rect l="l" t="t" r="r" b="b"/>
              <a:pathLst>
                <a:path w="397115" h="394949">
                  <a:moveTo>
                    <a:pt x="0" y="0"/>
                  </a:moveTo>
                  <a:lnTo>
                    <a:pt x="397115" y="0"/>
                  </a:lnTo>
                  <a:lnTo>
                    <a:pt x="397115" y="394949"/>
                  </a:lnTo>
                  <a:lnTo>
                    <a:pt x="0" y="394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70000"/>
                <a:extLs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3584458" y="9258300"/>
              <a:ext cx="170477" cy="466481"/>
            </a:xfrm>
            <a:custGeom>
              <a:avLst/>
              <a:gdLst/>
              <a:ahLst/>
              <a:cxnLst/>
              <a:rect l="l" t="t" r="r" b="b"/>
              <a:pathLst>
                <a:path w="170477" h="466481">
                  <a:moveTo>
                    <a:pt x="0" y="0"/>
                  </a:moveTo>
                  <a:lnTo>
                    <a:pt x="170478" y="0"/>
                  </a:lnTo>
                  <a:lnTo>
                    <a:pt x="170478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70000"/>
                <a:extLst>
                  <a:ext uri="{96DAC541-7B7A-43D3-8B79-37D633B846F1}">
                    <asvg:svgBlip xmlns:asvg="http://schemas.microsoft.com/office/drawing/2016/SVG/main" xmlns="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9546711" y="9315775"/>
              <a:ext cx="364703" cy="466481"/>
            </a:xfrm>
            <a:custGeom>
              <a:avLst/>
              <a:gdLst/>
              <a:ahLst/>
              <a:cxnLst/>
              <a:rect l="l" t="t" r="r" b="b"/>
              <a:pathLst>
                <a:path w="364703" h="466481">
                  <a:moveTo>
                    <a:pt x="0" y="0"/>
                  </a:moveTo>
                  <a:lnTo>
                    <a:pt x="364703" y="0"/>
                  </a:lnTo>
                  <a:lnTo>
                    <a:pt x="364703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70000"/>
                <a:extLst>
                  <a:ext uri="{96DAC541-7B7A-43D3-8B79-37D633B846F1}">
                    <asvg:svgBlip xmlns:asvg="http://schemas.microsoft.com/office/drawing/2016/SVG/main" xmlns="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0562823" y="9384996"/>
              <a:ext cx="462620" cy="328040"/>
            </a:xfrm>
            <a:custGeom>
              <a:avLst/>
              <a:gdLst/>
              <a:ahLst/>
              <a:cxnLst/>
              <a:rect l="l" t="t" r="r" b="b"/>
              <a:pathLst>
                <a:path w="462620" h="328040">
                  <a:moveTo>
                    <a:pt x="0" y="0"/>
                  </a:moveTo>
                  <a:lnTo>
                    <a:pt x="462621" y="0"/>
                  </a:lnTo>
                  <a:lnTo>
                    <a:pt x="462621" y="328040"/>
                  </a:lnTo>
                  <a:lnTo>
                    <a:pt x="0" y="328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764210" y="9305727"/>
              <a:ext cx="433615" cy="420212"/>
            </a:xfrm>
            <a:custGeom>
              <a:avLst/>
              <a:gdLst/>
              <a:ahLst/>
              <a:cxnLst/>
              <a:rect l="l" t="t" r="r" b="b"/>
              <a:pathLst>
                <a:path w="433615" h="420212">
                  <a:moveTo>
                    <a:pt x="0" y="0"/>
                  </a:moveTo>
                  <a:lnTo>
                    <a:pt x="433615" y="0"/>
                  </a:lnTo>
                  <a:lnTo>
                    <a:pt x="433615" y="420212"/>
                  </a:lnTo>
                  <a:lnTo>
                    <a:pt x="0" y="420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alphaModFix amt="70000"/>
                <a:extLst>
                  <a:ext uri="{96DAC541-7B7A-43D3-8B79-37D633B846F1}">
                    <asvg:svgBlip xmlns:asvg="http://schemas.microsoft.com/office/drawing/2016/SVG/main" xmlns="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676853" y="9304394"/>
              <a:ext cx="472494" cy="466481"/>
            </a:xfrm>
            <a:custGeom>
              <a:avLst/>
              <a:gdLst/>
              <a:ahLst/>
              <a:cxnLst/>
              <a:rect l="l" t="t" r="r" b="b"/>
              <a:pathLst>
                <a:path w="472494" h="466481">
                  <a:moveTo>
                    <a:pt x="0" y="0"/>
                  </a:moveTo>
                  <a:lnTo>
                    <a:pt x="472494" y="0"/>
                  </a:lnTo>
                  <a:lnTo>
                    <a:pt x="472494" y="466480"/>
                  </a:lnTo>
                  <a:lnTo>
                    <a:pt x="0" y="46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70000"/>
                <a:extLst>
                  <a:ext uri="{96DAC541-7B7A-43D3-8B79-37D633B846F1}">
                    <asvg:svgBlip xmlns:asvg="http://schemas.microsoft.com/office/drawing/2016/SVG/main" xmlns="" r:embed="rId2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453480" y="9315775"/>
              <a:ext cx="349436" cy="466481"/>
            </a:xfrm>
            <a:custGeom>
              <a:avLst/>
              <a:gdLst/>
              <a:ahLst/>
              <a:cxnLst/>
              <a:rect l="l" t="t" r="r" b="b"/>
              <a:pathLst>
                <a:path w="349436" h="466481">
                  <a:moveTo>
                    <a:pt x="0" y="0"/>
                  </a:moveTo>
                  <a:lnTo>
                    <a:pt x="349436" y="0"/>
                  </a:lnTo>
                  <a:lnTo>
                    <a:pt x="349436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2797047" y="9342632"/>
              <a:ext cx="480625" cy="346924"/>
            </a:xfrm>
            <a:custGeom>
              <a:avLst/>
              <a:gdLst/>
              <a:ahLst/>
              <a:cxnLst/>
              <a:rect l="l" t="t" r="r" b="b"/>
              <a:pathLst>
                <a:path w="480625" h="346924">
                  <a:moveTo>
                    <a:pt x="0" y="0"/>
                  </a:moveTo>
                  <a:lnTo>
                    <a:pt x="480625" y="0"/>
                  </a:lnTo>
                  <a:lnTo>
                    <a:pt x="480625" y="346924"/>
                  </a:lnTo>
                  <a:lnTo>
                    <a:pt x="0" y="346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3976992" y="9265699"/>
              <a:ext cx="334163" cy="500789"/>
            </a:xfrm>
            <a:custGeom>
              <a:avLst/>
              <a:gdLst/>
              <a:ahLst/>
              <a:cxnLst/>
              <a:rect l="l" t="t" r="r" b="b"/>
              <a:pathLst>
                <a:path w="334163" h="500789">
                  <a:moveTo>
                    <a:pt x="0" y="0"/>
                  </a:moveTo>
                  <a:lnTo>
                    <a:pt x="334163" y="0"/>
                  </a:lnTo>
                  <a:lnTo>
                    <a:pt x="334163" y="500789"/>
                  </a:lnTo>
                  <a:lnTo>
                    <a:pt x="0" y="500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5010474" y="9312172"/>
              <a:ext cx="407081" cy="429740"/>
            </a:xfrm>
            <a:custGeom>
              <a:avLst/>
              <a:gdLst/>
              <a:ahLst/>
              <a:cxnLst/>
              <a:rect l="l" t="t" r="r" b="b"/>
              <a:pathLst>
                <a:path w="407081" h="429740">
                  <a:moveTo>
                    <a:pt x="0" y="0"/>
                  </a:moveTo>
                  <a:lnTo>
                    <a:pt x="407080" y="0"/>
                  </a:lnTo>
                  <a:lnTo>
                    <a:pt x="407080" y="429739"/>
                  </a:lnTo>
                  <a:lnTo>
                    <a:pt x="0" y="429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7207719" y="9363177"/>
              <a:ext cx="496645" cy="352167"/>
            </a:xfrm>
            <a:custGeom>
              <a:avLst/>
              <a:gdLst/>
              <a:ahLst/>
              <a:cxnLst/>
              <a:rect l="l" t="t" r="r" b="b"/>
              <a:pathLst>
                <a:path w="496645" h="352167">
                  <a:moveTo>
                    <a:pt x="0" y="0"/>
                  </a:moveTo>
                  <a:lnTo>
                    <a:pt x="496645" y="0"/>
                  </a:lnTo>
                  <a:lnTo>
                    <a:pt x="496645" y="352167"/>
                  </a:lnTo>
                  <a:lnTo>
                    <a:pt x="0" y="352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6125068" y="9288865"/>
              <a:ext cx="375137" cy="500789"/>
            </a:xfrm>
            <a:custGeom>
              <a:avLst/>
              <a:gdLst/>
              <a:ahLst/>
              <a:cxnLst/>
              <a:rect l="l" t="t" r="r" b="b"/>
              <a:pathLst>
                <a:path w="375137" h="500789">
                  <a:moveTo>
                    <a:pt x="0" y="0"/>
                  </a:moveTo>
                  <a:lnTo>
                    <a:pt x="375137" y="0"/>
                  </a:lnTo>
                  <a:lnTo>
                    <a:pt x="375137" y="500790"/>
                  </a:lnTo>
                  <a:lnTo>
                    <a:pt x="0" y="500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3" name="Рисунок 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209800" y="1104900"/>
            <a:ext cx="13915268" cy="769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36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844494"/>
              </p:ext>
            </p:extLst>
          </p:nvPr>
        </p:nvGraphicFramePr>
        <p:xfrm>
          <a:off x="650840" y="495300"/>
          <a:ext cx="16986320" cy="8354536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{D113A9D2-9D6B-4929-AA2D-F23B5EE8CBE7}</a:tableStyleId>
              </a:tblPr>
              <a:tblGrid>
                <a:gridCol w="981158">
                  <a:extLst>
                    <a:ext uri="{9D8B030D-6E8A-4147-A177-3AD203B41FA5}">
                      <a16:colId xmlns:a16="http://schemas.microsoft.com/office/drawing/2014/main" val="3534543241"/>
                    </a:ext>
                  </a:extLst>
                </a:gridCol>
                <a:gridCol w="7359890">
                  <a:extLst>
                    <a:ext uri="{9D8B030D-6E8A-4147-A177-3AD203B41FA5}">
                      <a16:colId xmlns:a16="http://schemas.microsoft.com/office/drawing/2014/main" val="1908747338"/>
                    </a:ext>
                  </a:extLst>
                </a:gridCol>
                <a:gridCol w="1445057">
                  <a:extLst>
                    <a:ext uri="{9D8B030D-6E8A-4147-A177-3AD203B41FA5}">
                      <a16:colId xmlns:a16="http://schemas.microsoft.com/office/drawing/2014/main" val="2994137149"/>
                    </a:ext>
                  </a:extLst>
                </a:gridCol>
                <a:gridCol w="5421863">
                  <a:extLst>
                    <a:ext uri="{9D8B030D-6E8A-4147-A177-3AD203B41FA5}">
                      <a16:colId xmlns:a16="http://schemas.microsoft.com/office/drawing/2014/main" val="3876814633"/>
                    </a:ext>
                  </a:extLst>
                </a:gridCol>
                <a:gridCol w="1778352">
                  <a:extLst>
                    <a:ext uri="{9D8B030D-6E8A-4147-A177-3AD203B41FA5}">
                      <a16:colId xmlns:a16="http://schemas.microsoft.com/office/drawing/2014/main" val="288399009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i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2210</a:t>
                      </a:r>
                      <a:endParaRPr lang="ru-RU" sz="2000" b="1" i="1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ru-RU" sz="2000" b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РОДОВСПОМОЖЕНИЕ В СТАЦИОНАРЕ</a:t>
                      </a:r>
                      <a:endParaRPr lang="ru-RU" sz="2000" b="1" i="0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005941"/>
                  </a:ext>
                </a:extLst>
              </a:tr>
              <a:tr h="30480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Принято родов всего 1  </a:t>
                      </a:r>
                      <a:r>
                        <a:rPr lang="ru-RU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____, 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из них у девочек-подростков(15-18  лет)  2  </a:t>
                      </a:r>
                      <a:r>
                        <a:rPr lang="ru-RU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_____</a:t>
                      </a:r>
                      <a:r>
                        <a:rPr 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,</a:t>
                      </a:r>
                      <a:r>
                        <a:rPr lang="en-US" sz="14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ru-RU" sz="14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у молодежи(19-29 лет) 3_____</a:t>
                      </a:r>
                      <a:r>
                        <a:rPr lang="ru-RU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Кроме того, поступило родившихся вне родильного отделения  3  </a:t>
                      </a:r>
                      <a:r>
                        <a:rPr lang="ru-RU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____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b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b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902063"/>
                  </a:ext>
                </a:extLst>
              </a:tr>
              <a:tr h="30480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Из числа родов: физиологические  4 </a:t>
                      </a:r>
                      <a:r>
                        <a:rPr lang="ru-RU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_____, 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многоплодные  5 </a:t>
                      </a:r>
                      <a:r>
                        <a:rPr lang="ru-RU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____, 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из них: двойня 6 </a:t>
                      </a:r>
                      <a:r>
                        <a:rPr lang="ru-RU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____, 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тройня 7 </a:t>
                      </a:r>
                      <a:r>
                        <a:rPr lang="ru-RU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____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472521"/>
                  </a:ext>
                </a:extLst>
              </a:tr>
              <a:tr h="481647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Количество женщин, абсолютно здоровых из числа закончивших беременность родами  8 </a:t>
                      </a:r>
                      <a:r>
                        <a:rPr lang="ru-RU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____, 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количество женщин, из числа родивших, 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не посещавших женскую консультацию (женский кабинет) 9 </a:t>
                      </a:r>
                      <a:r>
                        <a:rPr lang="ru-RU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____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b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925597"/>
                  </a:ext>
                </a:extLst>
              </a:tr>
              <a:tr h="661353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i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2211</a:t>
                      </a:r>
                      <a:endParaRPr lang="ru-RU" sz="2000" b="1" i="1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ru-RU" sz="2000" b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ЗАБОЛЕВАНИЯ, ОСЛОЖНИВШИЕ РОДЫ (ОСЛОЖНЕНИЯ РОДОВ И ПОСЛЕРОДОВОГО ПЕРИОДА)</a:t>
                      </a:r>
                      <a:endParaRPr lang="ru-RU" sz="2000" b="1" i="0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228316"/>
                  </a:ext>
                </a:extLst>
              </a:tr>
              <a:tr h="44579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Наименование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№ строки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Шифр по МКБ Х пересмотра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Всего 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484425"/>
                  </a:ext>
                </a:extLst>
              </a:tr>
              <a:tr h="25454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А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Б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В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08812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Нарушения родовой деятельности, затяжные роды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01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О62,О63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0205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Затрудненные роды вследствие неправильного положения или предлежания плода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02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О64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652281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Затрудненные роды вследствие аномалии костного таза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03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О65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798030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Другие виды затрудненных родов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04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О66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364184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Родовая деятельность и родоразрешение, осложнившиеся кровотечением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05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О44-О45, О67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82925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Родовая деятельность и родоразрешение, осложнившиеся стрессом плода (дистресс)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06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О68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739643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Патологические состояния пуповины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07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О69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609496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Аномалии плодовых оболочек (маловодие, многоводие)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08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О40-О41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902270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Разрыв промежности, всего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09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О70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490568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в том числе III степени 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10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О70.2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771156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Разрыв и выворот матки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11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О71.1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822155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Послеродовое кровотечение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12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О72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757288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Роды с наложением щипцов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13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О81.0-О81.3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788759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Роды с применением вакуум-экстрактора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14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О81.4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638058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Родоразрешение посредством кесарева сечения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15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О82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174763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Послеродовой сепсис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16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О85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265600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Другие послеродовые инфекции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17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О86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564152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Венозные осложнения в послеродовом периоде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18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О87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789551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Акушерская эмболия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19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О88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910222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Инфекции молочной железы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20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О91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735557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Гипогалактия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21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О92.4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033" marR="6033" marT="60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098741"/>
                  </a:ext>
                </a:extLst>
              </a:tr>
            </a:tbl>
          </a:graphicData>
        </a:graphic>
      </p:graphicFrame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1FF2709-660E-8DFC-5FE3-938E65D10A88}"/>
              </a:ext>
            </a:extLst>
          </p:cNvPr>
          <p:cNvGrpSpPr/>
          <p:nvPr/>
        </p:nvGrpSpPr>
        <p:grpSpPr>
          <a:xfrm>
            <a:off x="764210" y="9258300"/>
            <a:ext cx="16940154" cy="531354"/>
            <a:chOff x="764210" y="9258300"/>
            <a:chExt cx="16940154" cy="531354"/>
          </a:xfrm>
        </p:grpSpPr>
        <p:sp>
          <p:nvSpPr>
            <p:cNvPr id="3" name="Freeform 7">
              <a:extLst>
                <a:ext uri="{FF2B5EF4-FFF2-40B4-BE49-F238E27FC236}">
                  <a16:creationId xmlns:a16="http://schemas.microsoft.com/office/drawing/2014/main" id="{4605D27F-A661-6DF5-AB32-DAFCC9235FF7}"/>
                </a:ext>
              </a:extLst>
            </p:cNvPr>
            <p:cNvSpPr/>
            <p:nvPr/>
          </p:nvSpPr>
          <p:spPr>
            <a:xfrm>
              <a:off x="6454325" y="9365858"/>
              <a:ext cx="447698" cy="323157"/>
            </a:xfrm>
            <a:custGeom>
              <a:avLst/>
              <a:gdLst/>
              <a:ahLst/>
              <a:cxnLst/>
              <a:rect l="l" t="t" r="r" b="b"/>
              <a:pathLst>
                <a:path w="447698" h="323157">
                  <a:moveTo>
                    <a:pt x="0" y="0"/>
                  </a:moveTo>
                  <a:lnTo>
                    <a:pt x="447698" y="0"/>
                  </a:lnTo>
                  <a:lnTo>
                    <a:pt x="447698" y="323157"/>
                  </a:lnTo>
                  <a:lnTo>
                    <a:pt x="0" y="323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0A7FFA0D-47A4-741F-413B-245671EEFAE2}"/>
                </a:ext>
              </a:extLst>
            </p:cNvPr>
            <p:cNvSpPr/>
            <p:nvPr/>
          </p:nvSpPr>
          <p:spPr>
            <a:xfrm>
              <a:off x="7553432" y="9294196"/>
              <a:ext cx="311270" cy="466481"/>
            </a:xfrm>
            <a:custGeom>
              <a:avLst/>
              <a:gdLst/>
              <a:ahLst/>
              <a:cxnLst/>
              <a:rect l="l" t="t" r="r" b="b"/>
              <a:pathLst>
                <a:path w="311270" h="466481">
                  <a:moveTo>
                    <a:pt x="0" y="0"/>
                  </a:moveTo>
                  <a:lnTo>
                    <a:pt x="311270" y="0"/>
                  </a:lnTo>
                  <a:lnTo>
                    <a:pt x="311270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BB079FB0-B784-6C93-7CE7-FA796FF4C22C}"/>
                </a:ext>
              </a:extLst>
            </p:cNvPr>
            <p:cNvSpPr/>
            <p:nvPr/>
          </p:nvSpPr>
          <p:spPr>
            <a:xfrm>
              <a:off x="8516111" y="9337485"/>
              <a:ext cx="379192" cy="400298"/>
            </a:xfrm>
            <a:custGeom>
              <a:avLst/>
              <a:gdLst/>
              <a:ahLst/>
              <a:cxnLst/>
              <a:rect l="l" t="t" r="r" b="b"/>
              <a:pathLst>
                <a:path w="379192" h="400298">
                  <a:moveTo>
                    <a:pt x="0" y="0"/>
                  </a:moveTo>
                  <a:lnTo>
                    <a:pt x="379191" y="0"/>
                  </a:lnTo>
                  <a:lnTo>
                    <a:pt x="379191" y="400298"/>
                  </a:lnTo>
                  <a:lnTo>
                    <a:pt x="0" y="400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F8391D61-AB2F-140B-07EE-74CF885CC31C}"/>
                </a:ext>
              </a:extLst>
            </p:cNvPr>
            <p:cNvSpPr/>
            <p:nvPr/>
          </p:nvSpPr>
          <p:spPr>
            <a:xfrm>
              <a:off x="1643316" y="9337485"/>
              <a:ext cx="451732" cy="351530"/>
            </a:xfrm>
            <a:custGeom>
              <a:avLst/>
              <a:gdLst/>
              <a:ahLst/>
              <a:cxnLst/>
              <a:rect l="l" t="t" r="r" b="b"/>
              <a:pathLst>
                <a:path w="451732" h="351530">
                  <a:moveTo>
                    <a:pt x="0" y="0"/>
                  </a:moveTo>
                  <a:lnTo>
                    <a:pt x="451732" y="0"/>
                  </a:lnTo>
                  <a:lnTo>
                    <a:pt x="451732" y="351530"/>
                  </a:lnTo>
                  <a:lnTo>
                    <a:pt x="0" y="351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70000"/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35ACA7E8-CE37-F68B-2DCD-020C45090D0B}"/>
                </a:ext>
              </a:extLst>
            </p:cNvPr>
            <p:cNvSpPr/>
            <p:nvPr/>
          </p:nvSpPr>
          <p:spPr>
            <a:xfrm>
              <a:off x="2746457" y="9258300"/>
              <a:ext cx="186592" cy="466481"/>
            </a:xfrm>
            <a:custGeom>
              <a:avLst/>
              <a:gdLst/>
              <a:ahLst/>
              <a:cxnLst/>
              <a:rect l="l" t="t" r="r" b="b"/>
              <a:pathLst>
                <a:path w="186592" h="466481">
                  <a:moveTo>
                    <a:pt x="0" y="0"/>
                  </a:moveTo>
                  <a:lnTo>
                    <a:pt x="186592" y="0"/>
                  </a:lnTo>
                  <a:lnTo>
                    <a:pt x="186592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70000"/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1F2D841D-15D9-F9FC-B3E6-5BBAABD7B3C4}"/>
                </a:ext>
              </a:extLst>
            </p:cNvPr>
            <p:cNvSpPr/>
            <p:nvPr/>
          </p:nvSpPr>
          <p:spPr>
            <a:xfrm>
              <a:off x="4404956" y="9294066"/>
              <a:ext cx="397115" cy="394949"/>
            </a:xfrm>
            <a:custGeom>
              <a:avLst/>
              <a:gdLst/>
              <a:ahLst/>
              <a:cxnLst/>
              <a:rect l="l" t="t" r="r" b="b"/>
              <a:pathLst>
                <a:path w="397115" h="394949">
                  <a:moveTo>
                    <a:pt x="0" y="0"/>
                  </a:moveTo>
                  <a:lnTo>
                    <a:pt x="397115" y="0"/>
                  </a:lnTo>
                  <a:lnTo>
                    <a:pt x="397115" y="394949"/>
                  </a:lnTo>
                  <a:lnTo>
                    <a:pt x="0" y="394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70000"/>
                <a:extLs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EC28FAE6-2CD5-DB13-D9A3-6D3B093562C1}"/>
                </a:ext>
              </a:extLst>
            </p:cNvPr>
            <p:cNvSpPr/>
            <p:nvPr/>
          </p:nvSpPr>
          <p:spPr>
            <a:xfrm>
              <a:off x="3584458" y="9258300"/>
              <a:ext cx="170477" cy="466481"/>
            </a:xfrm>
            <a:custGeom>
              <a:avLst/>
              <a:gdLst/>
              <a:ahLst/>
              <a:cxnLst/>
              <a:rect l="l" t="t" r="r" b="b"/>
              <a:pathLst>
                <a:path w="170477" h="466481">
                  <a:moveTo>
                    <a:pt x="0" y="0"/>
                  </a:moveTo>
                  <a:lnTo>
                    <a:pt x="170478" y="0"/>
                  </a:lnTo>
                  <a:lnTo>
                    <a:pt x="170478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70000"/>
                <a:extLst>
                  <a:ext uri="{96DAC541-7B7A-43D3-8B79-37D633B846F1}">
                    <asvg:svgBlip xmlns:asvg="http://schemas.microsoft.com/office/drawing/2016/SVG/main" xmlns="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E44FD5E7-E770-9E26-60F2-9CAFF605559A}"/>
                </a:ext>
              </a:extLst>
            </p:cNvPr>
            <p:cNvSpPr/>
            <p:nvPr/>
          </p:nvSpPr>
          <p:spPr>
            <a:xfrm>
              <a:off x="9546711" y="9315775"/>
              <a:ext cx="364703" cy="466481"/>
            </a:xfrm>
            <a:custGeom>
              <a:avLst/>
              <a:gdLst/>
              <a:ahLst/>
              <a:cxnLst/>
              <a:rect l="l" t="t" r="r" b="b"/>
              <a:pathLst>
                <a:path w="364703" h="466481">
                  <a:moveTo>
                    <a:pt x="0" y="0"/>
                  </a:moveTo>
                  <a:lnTo>
                    <a:pt x="364703" y="0"/>
                  </a:lnTo>
                  <a:lnTo>
                    <a:pt x="364703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70000"/>
                <a:extLst>
                  <a:ext uri="{96DAC541-7B7A-43D3-8B79-37D633B846F1}">
                    <asvg:svgBlip xmlns:asvg="http://schemas.microsoft.com/office/drawing/2016/SVG/main" xmlns="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7DDA2FD6-9C0C-030E-EBB2-DD44D203542A}"/>
                </a:ext>
              </a:extLst>
            </p:cNvPr>
            <p:cNvSpPr/>
            <p:nvPr/>
          </p:nvSpPr>
          <p:spPr>
            <a:xfrm>
              <a:off x="10562823" y="9384996"/>
              <a:ext cx="462620" cy="328040"/>
            </a:xfrm>
            <a:custGeom>
              <a:avLst/>
              <a:gdLst/>
              <a:ahLst/>
              <a:cxnLst/>
              <a:rect l="l" t="t" r="r" b="b"/>
              <a:pathLst>
                <a:path w="462620" h="328040">
                  <a:moveTo>
                    <a:pt x="0" y="0"/>
                  </a:moveTo>
                  <a:lnTo>
                    <a:pt x="462621" y="0"/>
                  </a:lnTo>
                  <a:lnTo>
                    <a:pt x="462621" y="328040"/>
                  </a:lnTo>
                  <a:lnTo>
                    <a:pt x="0" y="328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7748A2E5-E43A-FE50-303C-BF62ED96E902}"/>
                </a:ext>
              </a:extLst>
            </p:cNvPr>
            <p:cNvSpPr/>
            <p:nvPr/>
          </p:nvSpPr>
          <p:spPr>
            <a:xfrm>
              <a:off x="764210" y="9305727"/>
              <a:ext cx="433615" cy="420212"/>
            </a:xfrm>
            <a:custGeom>
              <a:avLst/>
              <a:gdLst/>
              <a:ahLst/>
              <a:cxnLst/>
              <a:rect l="l" t="t" r="r" b="b"/>
              <a:pathLst>
                <a:path w="433615" h="420212">
                  <a:moveTo>
                    <a:pt x="0" y="0"/>
                  </a:moveTo>
                  <a:lnTo>
                    <a:pt x="433615" y="0"/>
                  </a:lnTo>
                  <a:lnTo>
                    <a:pt x="433615" y="420212"/>
                  </a:lnTo>
                  <a:lnTo>
                    <a:pt x="0" y="420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alphaModFix amt="70000"/>
                <a:extLst>
                  <a:ext uri="{96DAC541-7B7A-43D3-8B79-37D633B846F1}">
                    <asvg:svgBlip xmlns:asvg="http://schemas.microsoft.com/office/drawing/2016/SVG/main" xmlns="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17">
              <a:extLst>
                <a:ext uri="{FF2B5EF4-FFF2-40B4-BE49-F238E27FC236}">
                  <a16:creationId xmlns:a16="http://schemas.microsoft.com/office/drawing/2014/main" id="{9827150B-56D2-66A8-D18D-79F1480180F9}"/>
                </a:ext>
              </a:extLst>
            </p:cNvPr>
            <p:cNvSpPr/>
            <p:nvPr/>
          </p:nvSpPr>
          <p:spPr>
            <a:xfrm>
              <a:off x="11676853" y="9304394"/>
              <a:ext cx="472494" cy="466481"/>
            </a:xfrm>
            <a:custGeom>
              <a:avLst/>
              <a:gdLst/>
              <a:ahLst/>
              <a:cxnLst/>
              <a:rect l="l" t="t" r="r" b="b"/>
              <a:pathLst>
                <a:path w="472494" h="466481">
                  <a:moveTo>
                    <a:pt x="0" y="0"/>
                  </a:moveTo>
                  <a:lnTo>
                    <a:pt x="472494" y="0"/>
                  </a:lnTo>
                  <a:lnTo>
                    <a:pt x="472494" y="466480"/>
                  </a:lnTo>
                  <a:lnTo>
                    <a:pt x="0" y="46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70000"/>
                <a:extLst>
                  <a:ext uri="{96DAC541-7B7A-43D3-8B79-37D633B846F1}">
                    <asvg:svgBlip xmlns:asvg="http://schemas.microsoft.com/office/drawing/2016/SVG/main" xmlns="" r:embed="rId2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18">
              <a:extLst>
                <a:ext uri="{FF2B5EF4-FFF2-40B4-BE49-F238E27FC236}">
                  <a16:creationId xmlns:a16="http://schemas.microsoft.com/office/drawing/2014/main" id="{8448A95B-00A2-A9FA-10DA-5E91ED4D609A}"/>
                </a:ext>
              </a:extLst>
            </p:cNvPr>
            <p:cNvSpPr/>
            <p:nvPr/>
          </p:nvSpPr>
          <p:spPr>
            <a:xfrm>
              <a:off x="5453480" y="9315775"/>
              <a:ext cx="349436" cy="466481"/>
            </a:xfrm>
            <a:custGeom>
              <a:avLst/>
              <a:gdLst/>
              <a:ahLst/>
              <a:cxnLst/>
              <a:rect l="l" t="t" r="r" b="b"/>
              <a:pathLst>
                <a:path w="349436" h="466481">
                  <a:moveTo>
                    <a:pt x="0" y="0"/>
                  </a:moveTo>
                  <a:lnTo>
                    <a:pt x="349436" y="0"/>
                  </a:lnTo>
                  <a:lnTo>
                    <a:pt x="349436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19">
              <a:extLst>
                <a:ext uri="{FF2B5EF4-FFF2-40B4-BE49-F238E27FC236}">
                  <a16:creationId xmlns:a16="http://schemas.microsoft.com/office/drawing/2014/main" id="{774E473B-0FA8-28A0-BC48-6E9233F65C7A}"/>
                </a:ext>
              </a:extLst>
            </p:cNvPr>
            <p:cNvSpPr/>
            <p:nvPr/>
          </p:nvSpPr>
          <p:spPr>
            <a:xfrm>
              <a:off x="12797047" y="9342632"/>
              <a:ext cx="480625" cy="346924"/>
            </a:xfrm>
            <a:custGeom>
              <a:avLst/>
              <a:gdLst/>
              <a:ahLst/>
              <a:cxnLst/>
              <a:rect l="l" t="t" r="r" b="b"/>
              <a:pathLst>
                <a:path w="480625" h="346924">
                  <a:moveTo>
                    <a:pt x="0" y="0"/>
                  </a:moveTo>
                  <a:lnTo>
                    <a:pt x="480625" y="0"/>
                  </a:lnTo>
                  <a:lnTo>
                    <a:pt x="480625" y="346924"/>
                  </a:lnTo>
                  <a:lnTo>
                    <a:pt x="0" y="346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4959101B-FE0E-5DE3-40EE-66CB87A90604}"/>
                </a:ext>
              </a:extLst>
            </p:cNvPr>
            <p:cNvSpPr/>
            <p:nvPr/>
          </p:nvSpPr>
          <p:spPr>
            <a:xfrm>
              <a:off x="13976992" y="9265699"/>
              <a:ext cx="334163" cy="500789"/>
            </a:xfrm>
            <a:custGeom>
              <a:avLst/>
              <a:gdLst/>
              <a:ahLst/>
              <a:cxnLst/>
              <a:rect l="l" t="t" r="r" b="b"/>
              <a:pathLst>
                <a:path w="334163" h="500789">
                  <a:moveTo>
                    <a:pt x="0" y="0"/>
                  </a:moveTo>
                  <a:lnTo>
                    <a:pt x="334163" y="0"/>
                  </a:lnTo>
                  <a:lnTo>
                    <a:pt x="334163" y="500789"/>
                  </a:lnTo>
                  <a:lnTo>
                    <a:pt x="0" y="500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AFEC8AD1-F452-CB07-D36A-B37FFB9CCBFE}"/>
                </a:ext>
              </a:extLst>
            </p:cNvPr>
            <p:cNvSpPr/>
            <p:nvPr/>
          </p:nvSpPr>
          <p:spPr>
            <a:xfrm>
              <a:off x="15010474" y="9312172"/>
              <a:ext cx="407081" cy="429740"/>
            </a:xfrm>
            <a:custGeom>
              <a:avLst/>
              <a:gdLst/>
              <a:ahLst/>
              <a:cxnLst/>
              <a:rect l="l" t="t" r="r" b="b"/>
              <a:pathLst>
                <a:path w="407081" h="429740">
                  <a:moveTo>
                    <a:pt x="0" y="0"/>
                  </a:moveTo>
                  <a:lnTo>
                    <a:pt x="407080" y="0"/>
                  </a:lnTo>
                  <a:lnTo>
                    <a:pt x="407080" y="429739"/>
                  </a:lnTo>
                  <a:lnTo>
                    <a:pt x="0" y="429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2E773E68-33A9-FBB6-D258-74E080EB065D}"/>
                </a:ext>
              </a:extLst>
            </p:cNvPr>
            <p:cNvSpPr/>
            <p:nvPr/>
          </p:nvSpPr>
          <p:spPr>
            <a:xfrm>
              <a:off x="17207719" y="9363177"/>
              <a:ext cx="496645" cy="352167"/>
            </a:xfrm>
            <a:custGeom>
              <a:avLst/>
              <a:gdLst/>
              <a:ahLst/>
              <a:cxnLst/>
              <a:rect l="l" t="t" r="r" b="b"/>
              <a:pathLst>
                <a:path w="496645" h="352167">
                  <a:moveTo>
                    <a:pt x="0" y="0"/>
                  </a:moveTo>
                  <a:lnTo>
                    <a:pt x="496645" y="0"/>
                  </a:lnTo>
                  <a:lnTo>
                    <a:pt x="496645" y="352167"/>
                  </a:lnTo>
                  <a:lnTo>
                    <a:pt x="0" y="352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23">
              <a:extLst>
                <a:ext uri="{FF2B5EF4-FFF2-40B4-BE49-F238E27FC236}">
                  <a16:creationId xmlns:a16="http://schemas.microsoft.com/office/drawing/2014/main" id="{5F39C286-0BD1-4183-9128-13FC7E4A7EE2}"/>
                </a:ext>
              </a:extLst>
            </p:cNvPr>
            <p:cNvSpPr/>
            <p:nvPr/>
          </p:nvSpPr>
          <p:spPr>
            <a:xfrm>
              <a:off x="16125068" y="9288865"/>
              <a:ext cx="375137" cy="500789"/>
            </a:xfrm>
            <a:custGeom>
              <a:avLst/>
              <a:gdLst/>
              <a:ahLst/>
              <a:cxnLst/>
              <a:rect l="l" t="t" r="r" b="b"/>
              <a:pathLst>
                <a:path w="375137" h="500789">
                  <a:moveTo>
                    <a:pt x="0" y="0"/>
                  </a:moveTo>
                  <a:lnTo>
                    <a:pt x="375137" y="0"/>
                  </a:lnTo>
                  <a:lnTo>
                    <a:pt x="375137" y="500790"/>
                  </a:lnTo>
                  <a:lnTo>
                    <a:pt x="0" y="500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1FF2709-660E-8DFC-5FE3-938E65D10A88}"/>
              </a:ext>
            </a:extLst>
          </p:cNvPr>
          <p:cNvGrpSpPr/>
          <p:nvPr/>
        </p:nvGrpSpPr>
        <p:grpSpPr>
          <a:xfrm>
            <a:off x="764210" y="9258300"/>
            <a:ext cx="16940154" cy="531354"/>
            <a:chOff x="764210" y="9258300"/>
            <a:chExt cx="16940154" cy="531354"/>
          </a:xfrm>
        </p:grpSpPr>
        <p:sp>
          <p:nvSpPr>
            <p:cNvPr id="3" name="Freeform 7">
              <a:extLst>
                <a:ext uri="{FF2B5EF4-FFF2-40B4-BE49-F238E27FC236}">
                  <a16:creationId xmlns:a16="http://schemas.microsoft.com/office/drawing/2014/main" id="{4605D27F-A661-6DF5-AB32-DAFCC9235FF7}"/>
                </a:ext>
              </a:extLst>
            </p:cNvPr>
            <p:cNvSpPr/>
            <p:nvPr/>
          </p:nvSpPr>
          <p:spPr>
            <a:xfrm>
              <a:off x="6454325" y="9365858"/>
              <a:ext cx="447698" cy="323157"/>
            </a:xfrm>
            <a:custGeom>
              <a:avLst/>
              <a:gdLst/>
              <a:ahLst/>
              <a:cxnLst/>
              <a:rect l="l" t="t" r="r" b="b"/>
              <a:pathLst>
                <a:path w="447698" h="323157">
                  <a:moveTo>
                    <a:pt x="0" y="0"/>
                  </a:moveTo>
                  <a:lnTo>
                    <a:pt x="447698" y="0"/>
                  </a:lnTo>
                  <a:lnTo>
                    <a:pt x="447698" y="323157"/>
                  </a:lnTo>
                  <a:lnTo>
                    <a:pt x="0" y="323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0A7FFA0D-47A4-741F-413B-245671EEFAE2}"/>
                </a:ext>
              </a:extLst>
            </p:cNvPr>
            <p:cNvSpPr/>
            <p:nvPr/>
          </p:nvSpPr>
          <p:spPr>
            <a:xfrm>
              <a:off x="7553432" y="9294196"/>
              <a:ext cx="311270" cy="466481"/>
            </a:xfrm>
            <a:custGeom>
              <a:avLst/>
              <a:gdLst/>
              <a:ahLst/>
              <a:cxnLst/>
              <a:rect l="l" t="t" r="r" b="b"/>
              <a:pathLst>
                <a:path w="311270" h="466481">
                  <a:moveTo>
                    <a:pt x="0" y="0"/>
                  </a:moveTo>
                  <a:lnTo>
                    <a:pt x="311270" y="0"/>
                  </a:lnTo>
                  <a:lnTo>
                    <a:pt x="311270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BB079FB0-B784-6C93-7CE7-FA796FF4C22C}"/>
                </a:ext>
              </a:extLst>
            </p:cNvPr>
            <p:cNvSpPr/>
            <p:nvPr/>
          </p:nvSpPr>
          <p:spPr>
            <a:xfrm>
              <a:off x="8516111" y="9337485"/>
              <a:ext cx="379192" cy="400298"/>
            </a:xfrm>
            <a:custGeom>
              <a:avLst/>
              <a:gdLst/>
              <a:ahLst/>
              <a:cxnLst/>
              <a:rect l="l" t="t" r="r" b="b"/>
              <a:pathLst>
                <a:path w="379192" h="400298">
                  <a:moveTo>
                    <a:pt x="0" y="0"/>
                  </a:moveTo>
                  <a:lnTo>
                    <a:pt x="379191" y="0"/>
                  </a:lnTo>
                  <a:lnTo>
                    <a:pt x="379191" y="400298"/>
                  </a:lnTo>
                  <a:lnTo>
                    <a:pt x="0" y="400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F8391D61-AB2F-140B-07EE-74CF885CC31C}"/>
                </a:ext>
              </a:extLst>
            </p:cNvPr>
            <p:cNvSpPr/>
            <p:nvPr/>
          </p:nvSpPr>
          <p:spPr>
            <a:xfrm>
              <a:off x="1643316" y="9337485"/>
              <a:ext cx="451732" cy="351530"/>
            </a:xfrm>
            <a:custGeom>
              <a:avLst/>
              <a:gdLst/>
              <a:ahLst/>
              <a:cxnLst/>
              <a:rect l="l" t="t" r="r" b="b"/>
              <a:pathLst>
                <a:path w="451732" h="351530">
                  <a:moveTo>
                    <a:pt x="0" y="0"/>
                  </a:moveTo>
                  <a:lnTo>
                    <a:pt x="451732" y="0"/>
                  </a:lnTo>
                  <a:lnTo>
                    <a:pt x="451732" y="351530"/>
                  </a:lnTo>
                  <a:lnTo>
                    <a:pt x="0" y="351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70000"/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35ACA7E8-CE37-F68B-2DCD-020C45090D0B}"/>
                </a:ext>
              </a:extLst>
            </p:cNvPr>
            <p:cNvSpPr/>
            <p:nvPr/>
          </p:nvSpPr>
          <p:spPr>
            <a:xfrm>
              <a:off x="2746457" y="9258300"/>
              <a:ext cx="186592" cy="466481"/>
            </a:xfrm>
            <a:custGeom>
              <a:avLst/>
              <a:gdLst/>
              <a:ahLst/>
              <a:cxnLst/>
              <a:rect l="l" t="t" r="r" b="b"/>
              <a:pathLst>
                <a:path w="186592" h="466481">
                  <a:moveTo>
                    <a:pt x="0" y="0"/>
                  </a:moveTo>
                  <a:lnTo>
                    <a:pt x="186592" y="0"/>
                  </a:lnTo>
                  <a:lnTo>
                    <a:pt x="186592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70000"/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1F2D841D-15D9-F9FC-B3E6-5BBAABD7B3C4}"/>
                </a:ext>
              </a:extLst>
            </p:cNvPr>
            <p:cNvSpPr/>
            <p:nvPr/>
          </p:nvSpPr>
          <p:spPr>
            <a:xfrm>
              <a:off x="4404956" y="9294066"/>
              <a:ext cx="397115" cy="394949"/>
            </a:xfrm>
            <a:custGeom>
              <a:avLst/>
              <a:gdLst/>
              <a:ahLst/>
              <a:cxnLst/>
              <a:rect l="l" t="t" r="r" b="b"/>
              <a:pathLst>
                <a:path w="397115" h="394949">
                  <a:moveTo>
                    <a:pt x="0" y="0"/>
                  </a:moveTo>
                  <a:lnTo>
                    <a:pt x="397115" y="0"/>
                  </a:lnTo>
                  <a:lnTo>
                    <a:pt x="397115" y="394949"/>
                  </a:lnTo>
                  <a:lnTo>
                    <a:pt x="0" y="394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70000"/>
                <a:extLs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EC28FAE6-2CD5-DB13-D9A3-6D3B093562C1}"/>
                </a:ext>
              </a:extLst>
            </p:cNvPr>
            <p:cNvSpPr/>
            <p:nvPr/>
          </p:nvSpPr>
          <p:spPr>
            <a:xfrm>
              <a:off x="3584458" y="9258300"/>
              <a:ext cx="170477" cy="466481"/>
            </a:xfrm>
            <a:custGeom>
              <a:avLst/>
              <a:gdLst/>
              <a:ahLst/>
              <a:cxnLst/>
              <a:rect l="l" t="t" r="r" b="b"/>
              <a:pathLst>
                <a:path w="170477" h="466481">
                  <a:moveTo>
                    <a:pt x="0" y="0"/>
                  </a:moveTo>
                  <a:lnTo>
                    <a:pt x="170478" y="0"/>
                  </a:lnTo>
                  <a:lnTo>
                    <a:pt x="170478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70000"/>
                <a:extLst>
                  <a:ext uri="{96DAC541-7B7A-43D3-8B79-37D633B846F1}">
                    <asvg:svgBlip xmlns:asvg="http://schemas.microsoft.com/office/drawing/2016/SVG/main" xmlns="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E44FD5E7-E770-9E26-60F2-9CAFF605559A}"/>
                </a:ext>
              </a:extLst>
            </p:cNvPr>
            <p:cNvSpPr/>
            <p:nvPr/>
          </p:nvSpPr>
          <p:spPr>
            <a:xfrm>
              <a:off x="9546711" y="9315775"/>
              <a:ext cx="364703" cy="466481"/>
            </a:xfrm>
            <a:custGeom>
              <a:avLst/>
              <a:gdLst/>
              <a:ahLst/>
              <a:cxnLst/>
              <a:rect l="l" t="t" r="r" b="b"/>
              <a:pathLst>
                <a:path w="364703" h="466481">
                  <a:moveTo>
                    <a:pt x="0" y="0"/>
                  </a:moveTo>
                  <a:lnTo>
                    <a:pt x="364703" y="0"/>
                  </a:lnTo>
                  <a:lnTo>
                    <a:pt x="364703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70000"/>
                <a:extLst>
                  <a:ext uri="{96DAC541-7B7A-43D3-8B79-37D633B846F1}">
                    <asvg:svgBlip xmlns:asvg="http://schemas.microsoft.com/office/drawing/2016/SVG/main" xmlns="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7DDA2FD6-9C0C-030E-EBB2-DD44D203542A}"/>
                </a:ext>
              </a:extLst>
            </p:cNvPr>
            <p:cNvSpPr/>
            <p:nvPr/>
          </p:nvSpPr>
          <p:spPr>
            <a:xfrm>
              <a:off x="10562823" y="9384996"/>
              <a:ext cx="462620" cy="328040"/>
            </a:xfrm>
            <a:custGeom>
              <a:avLst/>
              <a:gdLst/>
              <a:ahLst/>
              <a:cxnLst/>
              <a:rect l="l" t="t" r="r" b="b"/>
              <a:pathLst>
                <a:path w="462620" h="328040">
                  <a:moveTo>
                    <a:pt x="0" y="0"/>
                  </a:moveTo>
                  <a:lnTo>
                    <a:pt x="462621" y="0"/>
                  </a:lnTo>
                  <a:lnTo>
                    <a:pt x="462621" y="328040"/>
                  </a:lnTo>
                  <a:lnTo>
                    <a:pt x="0" y="328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7748A2E5-E43A-FE50-303C-BF62ED96E902}"/>
                </a:ext>
              </a:extLst>
            </p:cNvPr>
            <p:cNvSpPr/>
            <p:nvPr/>
          </p:nvSpPr>
          <p:spPr>
            <a:xfrm>
              <a:off x="764210" y="9305727"/>
              <a:ext cx="433615" cy="420212"/>
            </a:xfrm>
            <a:custGeom>
              <a:avLst/>
              <a:gdLst/>
              <a:ahLst/>
              <a:cxnLst/>
              <a:rect l="l" t="t" r="r" b="b"/>
              <a:pathLst>
                <a:path w="433615" h="420212">
                  <a:moveTo>
                    <a:pt x="0" y="0"/>
                  </a:moveTo>
                  <a:lnTo>
                    <a:pt x="433615" y="0"/>
                  </a:lnTo>
                  <a:lnTo>
                    <a:pt x="433615" y="420212"/>
                  </a:lnTo>
                  <a:lnTo>
                    <a:pt x="0" y="420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alphaModFix amt="70000"/>
                <a:extLst>
                  <a:ext uri="{96DAC541-7B7A-43D3-8B79-37D633B846F1}">
                    <asvg:svgBlip xmlns:asvg="http://schemas.microsoft.com/office/drawing/2016/SVG/main" xmlns="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17">
              <a:extLst>
                <a:ext uri="{FF2B5EF4-FFF2-40B4-BE49-F238E27FC236}">
                  <a16:creationId xmlns:a16="http://schemas.microsoft.com/office/drawing/2014/main" id="{9827150B-56D2-66A8-D18D-79F1480180F9}"/>
                </a:ext>
              </a:extLst>
            </p:cNvPr>
            <p:cNvSpPr/>
            <p:nvPr/>
          </p:nvSpPr>
          <p:spPr>
            <a:xfrm>
              <a:off x="11676853" y="9304394"/>
              <a:ext cx="472494" cy="466481"/>
            </a:xfrm>
            <a:custGeom>
              <a:avLst/>
              <a:gdLst/>
              <a:ahLst/>
              <a:cxnLst/>
              <a:rect l="l" t="t" r="r" b="b"/>
              <a:pathLst>
                <a:path w="472494" h="466481">
                  <a:moveTo>
                    <a:pt x="0" y="0"/>
                  </a:moveTo>
                  <a:lnTo>
                    <a:pt x="472494" y="0"/>
                  </a:lnTo>
                  <a:lnTo>
                    <a:pt x="472494" y="466480"/>
                  </a:lnTo>
                  <a:lnTo>
                    <a:pt x="0" y="46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70000"/>
                <a:extLst>
                  <a:ext uri="{96DAC541-7B7A-43D3-8B79-37D633B846F1}">
                    <asvg:svgBlip xmlns:asvg="http://schemas.microsoft.com/office/drawing/2016/SVG/main" xmlns="" r:embed="rId2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18">
              <a:extLst>
                <a:ext uri="{FF2B5EF4-FFF2-40B4-BE49-F238E27FC236}">
                  <a16:creationId xmlns:a16="http://schemas.microsoft.com/office/drawing/2014/main" id="{8448A95B-00A2-A9FA-10DA-5E91ED4D609A}"/>
                </a:ext>
              </a:extLst>
            </p:cNvPr>
            <p:cNvSpPr/>
            <p:nvPr/>
          </p:nvSpPr>
          <p:spPr>
            <a:xfrm>
              <a:off x="5453480" y="9315775"/>
              <a:ext cx="349436" cy="466481"/>
            </a:xfrm>
            <a:custGeom>
              <a:avLst/>
              <a:gdLst/>
              <a:ahLst/>
              <a:cxnLst/>
              <a:rect l="l" t="t" r="r" b="b"/>
              <a:pathLst>
                <a:path w="349436" h="466481">
                  <a:moveTo>
                    <a:pt x="0" y="0"/>
                  </a:moveTo>
                  <a:lnTo>
                    <a:pt x="349436" y="0"/>
                  </a:lnTo>
                  <a:lnTo>
                    <a:pt x="349436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19">
              <a:extLst>
                <a:ext uri="{FF2B5EF4-FFF2-40B4-BE49-F238E27FC236}">
                  <a16:creationId xmlns:a16="http://schemas.microsoft.com/office/drawing/2014/main" id="{774E473B-0FA8-28A0-BC48-6E9233F65C7A}"/>
                </a:ext>
              </a:extLst>
            </p:cNvPr>
            <p:cNvSpPr/>
            <p:nvPr/>
          </p:nvSpPr>
          <p:spPr>
            <a:xfrm>
              <a:off x="12797047" y="9342632"/>
              <a:ext cx="480625" cy="346924"/>
            </a:xfrm>
            <a:custGeom>
              <a:avLst/>
              <a:gdLst/>
              <a:ahLst/>
              <a:cxnLst/>
              <a:rect l="l" t="t" r="r" b="b"/>
              <a:pathLst>
                <a:path w="480625" h="346924">
                  <a:moveTo>
                    <a:pt x="0" y="0"/>
                  </a:moveTo>
                  <a:lnTo>
                    <a:pt x="480625" y="0"/>
                  </a:lnTo>
                  <a:lnTo>
                    <a:pt x="480625" y="346924"/>
                  </a:lnTo>
                  <a:lnTo>
                    <a:pt x="0" y="346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4959101B-FE0E-5DE3-40EE-66CB87A90604}"/>
                </a:ext>
              </a:extLst>
            </p:cNvPr>
            <p:cNvSpPr/>
            <p:nvPr/>
          </p:nvSpPr>
          <p:spPr>
            <a:xfrm>
              <a:off x="13976992" y="9265699"/>
              <a:ext cx="334163" cy="500789"/>
            </a:xfrm>
            <a:custGeom>
              <a:avLst/>
              <a:gdLst/>
              <a:ahLst/>
              <a:cxnLst/>
              <a:rect l="l" t="t" r="r" b="b"/>
              <a:pathLst>
                <a:path w="334163" h="500789">
                  <a:moveTo>
                    <a:pt x="0" y="0"/>
                  </a:moveTo>
                  <a:lnTo>
                    <a:pt x="334163" y="0"/>
                  </a:lnTo>
                  <a:lnTo>
                    <a:pt x="334163" y="500789"/>
                  </a:lnTo>
                  <a:lnTo>
                    <a:pt x="0" y="500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AFEC8AD1-F452-CB07-D36A-B37FFB9CCBFE}"/>
                </a:ext>
              </a:extLst>
            </p:cNvPr>
            <p:cNvSpPr/>
            <p:nvPr/>
          </p:nvSpPr>
          <p:spPr>
            <a:xfrm>
              <a:off x="15010474" y="9312172"/>
              <a:ext cx="407081" cy="429740"/>
            </a:xfrm>
            <a:custGeom>
              <a:avLst/>
              <a:gdLst/>
              <a:ahLst/>
              <a:cxnLst/>
              <a:rect l="l" t="t" r="r" b="b"/>
              <a:pathLst>
                <a:path w="407081" h="429740">
                  <a:moveTo>
                    <a:pt x="0" y="0"/>
                  </a:moveTo>
                  <a:lnTo>
                    <a:pt x="407080" y="0"/>
                  </a:lnTo>
                  <a:lnTo>
                    <a:pt x="407080" y="429739"/>
                  </a:lnTo>
                  <a:lnTo>
                    <a:pt x="0" y="429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2E773E68-33A9-FBB6-D258-74E080EB065D}"/>
                </a:ext>
              </a:extLst>
            </p:cNvPr>
            <p:cNvSpPr/>
            <p:nvPr/>
          </p:nvSpPr>
          <p:spPr>
            <a:xfrm>
              <a:off x="17207719" y="9363177"/>
              <a:ext cx="496645" cy="352167"/>
            </a:xfrm>
            <a:custGeom>
              <a:avLst/>
              <a:gdLst/>
              <a:ahLst/>
              <a:cxnLst/>
              <a:rect l="l" t="t" r="r" b="b"/>
              <a:pathLst>
                <a:path w="496645" h="352167">
                  <a:moveTo>
                    <a:pt x="0" y="0"/>
                  </a:moveTo>
                  <a:lnTo>
                    <a:pt x="496645" y="0"/>
                  </a:lnTo>
                  <a:lnTo>
                    <a:pt x="496645" y="352167"/>
                  </a:lnTo>
                  <a:lnTo>
                    <a:pt x="0" y="352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23">
              <a:extLst>
                <a:ext uri="{FF2B5EF4-FFF2-40B4-BE49-F238E27FC236}">
                  <a16:creationId xmlns:a16="http://schemas.microsoft.com/office/drawing/2014/main" id="{5F39C286-0BD1-4183-9128-13FC7E4A7EE2}"/>
                </a:ext>
              </a:extLst>
            </p:cNvPr>
            <p:cNvSpPr/>
            <p:nvPr/>
          </p:nvSpPr>
          <p:spPr>
            <a:xfrm>
              <a:off x="16125068" y="9288865"/>
              <a:ext cx="375137" cy="500789"/>
            </a:xfrm>
            <a:custGeom>
              <a:avLst/>
              <a:gdLst/>
              <a:ahLst/>
              <a:cxnLst/>
              <a:rect l="l" t="t" r="r" b="b"/>
              <a:pathLst>
                <a:path w="375137" h="500789">
                  <a:moveTo>
                    <a:pt x="0" y="0"/>
                  </a:moveTo>
                  <a:lnTo>
                    <a:pt x="375137" y="0"/>
                  </a:lnTo>
                  <a:lnTo>
                    <a:pt x="375137" y="500790"/>
                  </a:lnTo>
                  <a:lnTo>
                    <a:pt x="0" y="500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23" name="Рисунок 2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00400" y="495300"/>
            <a:ext cx="12573000" cy="819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435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845015"/>
              </p:ext>
            </p:extLst>
          </p:nvPr>
        </p:nvGraphicFramePr>
        <p:xfrm>
          <a:off x="685801" y="472742"/>
          <a:ext cx="16916398" cy="9242758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{D113A9D2-9D6B-4929-AA2D-F23B5EE8CBE7}</a:tableStyleId>
              </a:tblPr>
              <a:tblGrid>
                <a:gridCol w="999605">
                  <a:extLst>
                    <a:ext uri="{9D8B030D-6E8A-4147-A177-3AD203B41FA5}">
                      <a16:colId xmlns:a16="http://schemas.microsoft.com/office/drawing/2014/main" val="3674049799"/>
                    </a:ext>
                  </a:extLst>
                </a:gridCol>
                <a:gridCol w="309457">
                  <a:extLst>
                    <a:ext uri="{9D8B030D-6E8A-4147-A177-3AD203B41FA5}">
                      <a16:colId xmlns:a16="http://schemas.microsoft.com/office/drawing/2014/main" val="1601927868"/>
                    </a:ext>
                  </a:extLst>
                </a:gridCol>
                <a:gridCol w="4073429">
                  <a:extLst>
                    <a:ext uri="{9D8B030D-6E8A-4147-A177-3AD203B41FA5}">
                      <a16:colId xmlns:a16="http://schemas.microsoft.com/office/drawing/2014/main" val="3604261531"/>
                    </a:ext>
                  </a:extLst>
                </a:gridCol>
                <a:gridCol w="768927">
                  <a:extLst>
                    <a:ext uri="{9D8B030D-6E8A-4147-A177-3AD203B41FA5}">
                      <a16:colId xmlns:a16="http://schemas.microsoft.com/office/drawing/2014/main" val="532747257"/>
                    </a:ext>
                  </a:extLst>
                </a:gridCol>
                <a:gridCol w="2768139">
                  <a:extLst>
                    <a:ext uri="{9D8B030D-6E8A-4147-A177-3AD203B41FA5}">
                      <a16:colId xmlns:a16="http://schemas.microsoft.com/office/drawing/2014/main" val="2550532508"/>
                    </a:ext>
                  </a:extLst>
                </a:gridCol>
                <a:gridCol w="768927">
                  <a:extLst>
                    <a:ext uri="{9D8B030D-6E8A-4147-A177-3AD203B41FA5}">
                      <a16:colId xmlns:a16="http://schemas.microsoft.com/office/drawing/2014/main" val="2182381891"/>
                    </a:ext>
                  </a:extLst>
                </a:gridCol>
                <a:gridCol w="692035">
                  <a:extLst>
                    <a:ext uri="{9D8B030D-6E8A-4147-A177-3AD203B41FA5}">
                      <a16:colId xmlns:a16="http://schemas.microsoft.com/office/drawing/2014/main" val="3458942355"/>
                    </a:ext>
                  </a:extLst>
                </a:gridCol>
                <a:gridCol w="999605">
                  <a:extLst>
                    <a:ext uri="{9D8B030D-6E8A-4147-A177-3AD203B41FA5}">
                      <a16:colId xmlns:a16="http://schemas.microsoft.com/office/drawing/2014/main" val="864625749"/>
                    </a:ext>
                  </a:extLst>
                </a:gridCol>
                <a:gridCol w="1230283">
                  <a:extLst>
                    <a:ext uri="{9D8B030D-6E8A-4147-A177-3AD203B41FA5}">
                      <a16:colId xmlns:a16="http://schemas.microsoft.com/office/drawing/2014/main" val="4112993090"/>
                    </a:ext>
                  </a:extLst>
                </a:gridCol>
                <a:gridCol w="1807235">
                  <a:extLst>
                    <a:ext uri="{9D8B030D-6E8A-4147-A177-3AD203B41FA5}">
                      <a16:colId xmlns:a16="http://schemas.microsoft.com/office/drawing/2014/main" val="3409870818"/>
                    </a:ext>
                  </a:extLst>
                </a:gridCol>
                <a:gridCol w="2498756">
                  <a:extLst>
                    <a:ext uri="{9D8B030D-6E8A-4147-A177-3AD203B41FA5}">
                      <a16:colId xmlns:a16="http://schemas.microsoft.com/office/drawing/2014/main" val="3222977369"/>
                    </a:ext>
                  </a:extLst>
                </a:gridCol>
              </a:tblGrid>
              <a:tr h="65897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i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2212</a:t>
                      </a:r>
                      <a:endParaRPr lang="ru-RU" sz="2000" b="1" i="1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ru-RU" sz="2000" b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                                   ПРИЧИНЫ СМЕРТИ БЕРЕМЕННЫХ, РОЖЕНИЦ И РОДИЛЬНИЦ                                                                                                 </a:t>
                      </a:r>
                      <a:endParaRPr lang="ru-RU" sz="2000" b="1" i="1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ru-RU" sz="2000" b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                                   ПРИЧИНЫ СМЕРТИ БЕРЕМЕННЫХ, РОЖЕНИЦ И РОДИЛЬНИЦ                                                                                                 </a:t>
                      </a:r>
                      <a:endParaRPr lang="ru-RU" sz="2000" b="1" i="0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23739160"/>
                  </a:ext>
                </a:extLst>
              </a:tr>
              <a:tr h="391052"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Причины смерти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№ строки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Шифр по МКБ Х пересмотра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Беременные со сроком беременности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Роженицы и родильницы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Умерли в послеродовом и </a:t>
                      </a:r>
                      <a:r>
                        <a:rPr lang="ru-RU" sz="1400" b="1" u="none" strike="noStrike" dirty="0" err="1">
                          <a:effectLst/>
                          <a:latin typeface="Century Gothic" panose="020B0502020202020204" pitchFamily="34" charset="0"/>
                        </a:rPr>
                        <a:t>послеабортном</a:t>
                      </a:r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 периодах </a:t>
                      </a:r>
                    </a:p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(до 42 дней)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Умерли в послеродовом и </a:t>
                      </a:r>
                      <a:r>
                        <a:rPr lang="ru-RU" sz="1400" b="1" u="none" strike="noStrike" dirty="0" err="1">
                          <a:effectLst/>
                          <a:latin typeface="Century Gothic" panose="020B0502020202020204" pitchFamily="34" charset="0"/>
                        </a:rPr>
                        <a:t>послеабортном</a:t>
                      </a:r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 периодах </a:t>
                      </a:r>
                    </a:p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(с 43 до 365 дней)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337912"/>
                  </a:ext>
                </a:extLst>
              </a:tr>
              <a:tr h="583953">
                <a:tc gridSpan="3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до 12 недель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13-21 недель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22 недели и более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455235"/>
                  </a:ext>
                </a:extLst>
              </a:tr>
              <a:tr h="277979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А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Б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В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800749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I. Связанные с беременностью, родами и послеродовым периодом: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316117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Акушерские кровотечения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О20, О44, О45, О46, О67, О72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6697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Преэклампсия, эклампсия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О14-О15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38732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Разрыв матки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О71.0-О71.1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752637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Акушерский сепсис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О75.3, О85-О86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885547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    в том числе послеродовой сепсис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О85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7874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Акушерская эмболия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О88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06747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Прочие причины (тромбоэмболия легочной артерии, наркозные осложнения, </a:t>
                      </a:r>
                      <a:r>
                        <a:rPr lang="ru-RU" sz="1400" u="none" strike="noStrike" dirty="0" err="1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анафил.шок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, ранение сосудов во время операции и др.)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О29, О74, О75.0, О75.1, О87, О89, О90    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96114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II. Не связанные с беременностью и родами: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9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76149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    Болезни крови, кроветворных органов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10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О99.0, О99.1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40795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    Эндокринные болезни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11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О99.2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49053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    Болезни системы кровообращения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12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О99.4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654959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    Болезни органов дыхания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13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О99.5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780603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    Болезни органов пищеварения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14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 98.4, О99.6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957329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    Болезни мочеполовой системы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15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О23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366474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Другие заболевания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16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О98, </a:t>
                      </a: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O99.3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,</a:t>
                      </a: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O99.7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,</a:t>
                      </a: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O99.8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98067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 err="1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Короновирусная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инфекция (вирус идентифицирован)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17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U07.1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598293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 err="1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Короновирусная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инфекция (вирус не идентифицирован)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18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U07.2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30081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Острые респираторные инфекции верхних дыхательных путей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19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J00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J99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220413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 err="1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короновирусная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инфекция неуточненная, </a:t>
                      </a:r>
                      <a:r>
                        <a:rPr lang="ru-RU" sz="1400" u="none" strike="noStrike" dirty="0" err="1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короновирусы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как причина болезней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20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B34.2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, </a:t>
                      </a: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B97.2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298225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III. </a:t>
                      </a:r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Аборты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21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О03 - О08.9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88932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IV. </a:t>
                      </a:r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Внематочная беременность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22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О00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4326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Всего (строки 1+09+17+18)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23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053200"/>
                  </a:ext>
                </a:extLst>
              </a:tr>
              <a:tr h="47969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2000" b="1" i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2213</a:t>
                      </a:r>
                      <a:endParaRPr lang="ru-RU" sz="2000" b="1" i="1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2000" b="1" i="1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tc gridSpan="9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extLst>
                  <a:ext uri="{0D108BD9-81ED-4DB2-BD59-A6C34878D82A}">
                    <a16:rowId xmlns:a16="http://schemas.microsoft.com/office/drawing/2014/main" val="2661737172"/>
                  </a:ext>
                </a:extLst>
              </a:tr>
              <a:tr h="90515">
                <a:tc gridSpan="1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Из числа умерших умерло в:  акушерских стационарах 1 __2__, гинекологических  2________, других стационарах 3 ______, в частных клиниках   4 ________, на дому  5 _______,прочих местах 6 ________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806" marR="5806" marT="5806" marB="0" anchor="ctr"/>
                </a:tc>
                <a:extLst>
                  <a:ext uri="{0D108BD9-81ED-4DB2-BD59-A6C34878D82A}">
                    <a16:rowId xmlns:a16="http://schemas.microsoft.com/office/drawing/2014/main" val="30693293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394321"/>
              </p:ext>
            </p:extLst>
          </p:nvPr>
        </p:nvGraphicFramePr>
        <p:xfrm>
          <a:off x="685802" y="501900"/>
          <a:ext cx="16916397" cy="6716663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{D113A9D2-9D6B-4929-AA2D-F23B5EE8CBE7}</a:tableStyleId>
              </a:tblPr>
              <a:tblGrid>
                <a:gridCol w="990598">
                  <a:extLst>
                    <a:ext uri="{9D8B030D-6E8A-4147-A177-3AD203B41FA5}">
                      <a16:colId xmlns:a16="http://schemas.microsoft.com/office/drawing/2014/main" val="3009813101"/>
                    </a:ext>
                  </a:extLst>
                </a:gridCol>
                <a:gridCol w="2457376">
                  <a:extLst>
                    <a:ext uri="{9D8B030D-6E8A-4147-A177-3AD203B41FA5}">
                      <a16:colId xmlns:a16="http://schemas.microsoft.com/office/drawing/2014/main" val="4030590513"/>
                    </a:ext>
                  </a:extLst>
                </a:gridCol>
                <a:gridCol w="1332172">
                  <a:extLst>
                    <a:ext uri="{9D8B030D-6E8A-4147-A177-3AD203B41FA5}">
                      <a16:colId xmlns:a16="http://schemas.microsoft.com/office/drawing/2014/main" val="1937305491"/>
                    </a:ext>
                  </a:extLst>
                </a:gridCol>
                <a:gridCol w="2597276">
                  <a:extLst>
                    <a:ext uri="{9D8B030D-6E8A-4147-A177-3AD203B41FA5}">
                      <a16:colId xmlns:a16="http://schemas.microsoft.com/office/drawing/2014/main" val="3587990390"/>
                    </a:ext>
                  </a:extLst>
                </a:gridCol>
                <a:gridCol w="1907795">
                  <a:extLst>
                    <a:ext uri="{9D8B030D-6E8A-4147-A177-3AD203B41FA5}">
                      <a16:colId xmlns:a16="http://schemas.microsoft.com/office/drawing/2014/main" val="1942908546"/>
                    </a:ext>
                  </a:extLst>
                </a:gridCol>
                <a:gridCol w="1907795">
                  <a:extLst>
                    <a:ext uri="{9D8B030D-6E8A-4147-A177-3AD203B41FA5}">
                      <a16:colId xmlns:a16="http://schemas.microsoft.com/office/drawing/2014/main" val="2462720401"/>
                    </a:ext>
                  </a:extLst>
                </a:gridCol>
                <a:gridCol w="1907795">
                  <a:extLst>
                    <a:ext uri="{9D8B030D-6E8A-4147-A177-3AD203B41FA5}">
                      <a16:colId xmlns:a16="http://schemas.microsoft.com/office/drawing/2014/main" val="3858445280"/>
                    </a:ext>
                  </a:extLst>
                </a:gridCol>
                <a:gridCol w="1907795">
                  <a:extLst>
                    <a:ext uri="{9D8B030D-6E8A-4147-A177-3AD203B41FA5}">
                      <a16:colId xmlns:a16="http://schemas.microsoft.com/office/drawing/2014/main" val="2909916281"/>
                    </a:ext>
                  </a:extLst>
                </a:gridCol>
                <a:gridCol w="1907795">
                  <a:extLst>
                    <a:ext uri="{9D8B030D-6E8A-4147-A177-3AD203B41FA5}">
                      <a16:colId xmlns:a16="http://schemas.microsoft.com/office/drawing/2014/main" val="1440508572"/>
                    </a:ext>
                  </a:extLst>
                </a:gridCol>
              </a:tblGrid>
              <a:tr h="64689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i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2245</a:t>
                      </a:r>
                      <a:endParaRPr lang="ru-RU" sz="2000" b="1" i="1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ru-RU" sz="2000" b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РАСПРЕДЕЛЕНИЕ РОДИВШИХСЯ И УМЕРШИХ ПО МАССЕ ТЕЛА ПРИ РОЖДЕНИИ</a:t>
                      </a:r>
                      <a:endParaRPr lang="ru-RU" sz="2000" b="1" i="0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79371"/>
                  </a:ext>
                </a:extLst>
              </a:tr>
              <a:tr h="646896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Наименование 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№ строки 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ВСЕГО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с весом при рождении в граммах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920605"/>
                  </a:ext>
                </a:extLst>
              </a:tr>
              <a:tr h="1061808"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500-999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1000-1499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1500-2499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2500 и более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в том числе </a:t>
                      </a:r>
                    </a:p>
                    <a:p>
                      <a:pPr algn="ctr" fontAlgn="b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4000 и более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27257"/>
                  </a:ext>
                </a:extLst>
              </a:tr>
              <a:tr h="329063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А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Б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  <a:endParaRPr lang="ru-RU" sz="1400" b="1" i="1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  <a:endParaRPr lang="ru-RU" sz="1400" b="1" i="1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  <a:endParaRPr lang="ru-RU" sz="1400" b="1" i="1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  <a:endParaRPr lang="ru-RU" sz="1400" b="1" i="1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lang="ru-RU" sz="1400" b="1" i="1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  <a:endParaRPr lang="ru-RU" sz="1400" b="1" i="1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542300"/>
                  </a:ext>
                </a:extLst>
              </a:tr>
              <a:tr h="5040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Родились живыми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01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360918"/>
                  </a:ext>
                </a:extLst>
              </a:tr>
              <a:tr h="5040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из них умерло, всего 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02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640740"/>
                  </a:ext>
                </a:extLst>
              </a:tr>
              <a:tr h="5040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в том числе в первые 0-6 суток 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03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917336"/>
                  </a:ext>
                </a:extLst>
              </a:tr>
              <a:tr h="5040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7-27 суток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04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819658"/>
                  </a:ext>
                </a:extLst>
              </a:tr>
              <a:tr h="5040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28 суток и более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05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13707"/>
                  </a:ext>
                </a:extLst>
              </a:tr>
              <a:tr h="5040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Родились мертвыми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06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562349"/>
                  </a:ext>
                </a:extLst>
              </a:tr>
              <a:tr h="5040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из них: в антенатальный период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07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056057"/>
                  </a:ext>
                </a:extLst>
              </a:tr>
              <a:tr h="5040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в </a:t>
                      </a:r>
                      <a:r>
                        <a:rPr lang="ru-RU" sz="1400" b="0" u="none" strike="noStrike" dirty="0" err="1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интранатальный</a:t>
                      </a:r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ru-RU" sz="1400" b="0" u="none" strike="noStrike" dirty="0" err="1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перирд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08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234490"/>
                  </a:ext>
                </a:extLst>
              </a:tr>
            </a:tbl>
          </a:graphicData>
        </a:graphic>
      </p:graphicFrame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7A0F717-8B21-BF83-CA15-2EC057130A38}"/>
              </a:ext>
            </a:extLst>
          </p:cNvPr>
          <p:cNvGrpSpPr/>
          <p:nvPr/>
        </p:nvGrpSpPr>
        <p:grpSpPr>
          <a:xfrm>
            <a:off x="764210" y="9258300"/>
            <a:ext cx="16940154" cy="531354"/>
            <a:chOff x="764210" y="9258300"/>
            <a:chExt cx="16940154" cy="531354"/>
          </a:xfrm>
        </p:grpSpPr>
        <p:sp>
          <p:nvSpPr>
            <p:cNvPr id="3" name="Freeform 7">
              <a:extLst>
                <a:ext uri="{FF2B5EF4-FFF2-40B4-BE49-F238E27FC236}">
                  <a16:creationId xmlns:a16="http://schemas.microsoft.com/office/drawing/2014/main" id="{E3B64D8B-1616-D658-A9B5-F77625FEBE5F}"/>
                </a:ext>
              </a:extLst>
            </p:cNvPr>
            <p:cNvSpPr/>
            <p:nvPr/>
          </p:nvSpPr>
          <p:spPr>
            <a:xfrm>
              <a:off x="6454325" y="9365858"/>
              <a:ext cx="447698" cy="323157"/>
            </a:xfrm>
            <a:custGeom>
              <a:avLst/>
              <a:gdLst/>
              <a:ahLst/>
              <a:cxnLst/>
              <a:rect l="l" t="t" r="r" b="b"/>
              <a:pathLst>
                <a:path w="447698" h="323157">
                  <a:moveTo>
                    <a:pt x="0" y="0"/>
                  </a:moveTo>
                  <a:lnTo>
                    <a:pt x="447698" y="0"/>
                  </a:lnTo>
                  <a:lnTo>
                    <a:pt x="447698" y="323157"/>
                  </a:lnTo>
                  <a:lnTo>
                    <a:pt x="0" y="323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2897E258-0088-2168-BFBA-99CFACFC2628}"/>
                </a:ext>
              </a:extLst>
            </p:cNvPr>
            <p:cNvSpPr/>
            <p:nvPr/>
          </p:nvSpPr>
          <p:spPr>
            <a:xfrm>
              <a:off x="7553432" y="9294196"/>
              <a:ext cx="311270" cy="466481"/>
            </a:xfrm>
            <a:custGeom>
              <a:avLst/>
              <a:gdLst/>
              <a:ahLst/>
              <a:cxnLst/>
              <a:rect l="l" t="t" r="r" b="b"/>
              <a:pathLst>
                <a:path w="311270" h="466481">
                  <a:moveTo>
                    <a:pt x="0" y="0"/>
                  </a:moveTo>
                  <a:lnTo>
                    <a:pt x="311270" y="0"/>
                  </a:lnTo>
                  <a:lnTo>
                    <a:pt x="311270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CF71971C-6B3C-F01C-E8CB-9A426F615BA0}"/>
                </a:ext>
              </a:extLst>
            </p:cNvPr>
            <p:cNvSpPr/>
            <p:nvPr/>
          </p:nvSpPr>
          <p:spPr>
            <a:xfrm>
              <a:off x="8516111" y="9337485"/>
              <a:ext cx="379192" cy="400298"/>
            </a:xfrm>
            <a:custGeom>
              <a:avLst/>
              <a:gdLst/>
              <a:ahLst/>
              <a:cxnLst/>
              <a:rect l="l" t="t" r="r" b="b"/>
              <a:pathLst>
                <a:path w="379192" h="400298">
                  <a:moveTo>
                    <a:pt x="0" y="0"/>
                  </a:moveTo>
                  <a:lnTo>
                    <a:pt x="379191" y="0"/>
                  </a:lnTo>
                  <a:lnTo>
                    <a:pt x="379191" y="400298"/>
                  </a:lnTo>
                  <a:lnTo>
                    <a:pt x="0" y="400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0AF4A4DC-7BD5-6BA8-C8DF-27A6B54AB039}"/>
                </a:ext>
              </a:extLst>
            </p:cNvPr>
            <p:cNvSpPr/>
            <p:nvPr/>
          </p:nvSpPr>
          <p:spPr>
            <a:xfrm>
              <a:off x="1643316" y="9337485"/>
              <a:ext cx="451732" cy="351530"/>
            </a:xfrm>
            <a:custGeom>
              <a:avLst/>
              <a:gdLst/>
              <a:ahLst/>
              <a:cxnLst/>
              <a:rect l="l" t="t" r="r" b="b"/>
              <a:pathLst>
                <a:path w="451732" h="351530">
                  <a:moveTo>
                    <a:pt x="0" y="0"/>
                  </a:moveTo>
                  <a:lnTo>
                    <a:pt x="451732" y="0"/>
                  </a:lnTo>
                  <a:lnTo>
                    <a:pt x="451732" y="351530"/>
                  </a:lnTo>
                  <a:lnTo>
                    <a:pt x="0" y="351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70000"/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B40B8039-2A53-3ED5-AD02-1B80D12B6E9E}"/>
                </a:ext>
              </a:extLst>
            </p:cNvPr>
            <p:cNvSpPr/>
            <p:nvPr/>
          </p:nvSpPr>
          <p:spPr>
            <a:xfrm>
              <a:off x="2746457" y="9258300"/>
              <a:ext cx="186592" cy="466481"/>
            </a:xfrm>
            <a:custGeom>
              <a:avLst/>
              <a:gdLst/>
              <a:ahLst/>
              <a:cxnLst/>
              <a:rect l="l" t="t" r="r" b="b"/>
              <a:pathLst>
                <a:path w="186592" h="466481">
                  <a:moveTo>
                    <a:pt x="0" y="0"/>
                  </a:moveTo>
                  <a:lnTo>
                    <a:pt x="186592" y="0"/>
                  </a:lnTo>
                  <a:lnTo>
                    <a:pt x="186592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70000"/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EF60B762-5033-4EE4-7AFC-72D82CD23B81}"/>
                </a:ext>
              </a:extLst>
            </p:cNvPr>
            <p:cNvSpPr/>
            <p:nvPr/>
          </p:nvSpPr>
          <p:spPr>
            <a:xfrm>
              <a:off x="4404956" y="9294066"/>
              <a:ext cx="397115" cy="394949"/>
            </a:xfrm>
            <a:custGeom>
              <a:avLst/>
              <a:gdLst/>
              <a:ahLst/>
              <a:cxnLst/>
              <a:rect l="l" t="t" r="r" b="b"/>
              <a:pathLst>
                <a:path w="397115" h="394949">
                  <a:moveTo>
                    <a:pt x="0" y="0"/>
                  </a:moveTo>
                  <a:lnTo>
                    <a:pt x="397115" y="0"/>
                  </a:lnTo>
                  <a:lnTo>
                    <a:pt x="397115" y="394949"/>
                  </a:lnTo>
                  <a:lnTo>
                    <a:pt x="0" y="394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70000"/>
                <a:extLs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042098BE-8BAE-CF74-F659-E864DC436881}"/>
                </a:ext>
              </a:extLst>
            </p:cNvPr>
            <p:cNvSpPr/>
            <p:nvPr/>
          </p:nvSpPr>
          <p:spPr>
            <a:xfrm>
              <a:off x="3584458" y="9258300"/>
              <a:ext cx="170477" cy="466481"/>
            </a:xfrm>
            <a:custGeom>
              <a:avLst/>
              <a:gdLst/>
              <a:ahLst/>
              <a:cxnLst/>
              <a:rect l="l" t="t" r="r" b="b"/>
              <a:pathLst>
                <a:path w="170477" h="466481">
                  <a:moveTo>
                    <a:pt x="0" y="0"/>
                  </a:moveTo>
                  <a:lnTo>
                    <a:pt x="170478" y="0"/>
                  </a:lnTo>
                  <a:lnTo>
                    <a:pt x="170478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70000"/>
                <a:extLst>
                  <a:ext uri="{96DAC541-7B7A-43D3-8B79-37D633B846F1}">
                    <asvg:svgBlip xmlns:asvg="http://schemas.microsoft.com/office/drawing/2016/SVG/main" xmlns="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00035D69-ADE6-164B-C0CA-9E7E94AEB9AD}"/>
                </a:ext>
              </a:extLst>
            </p:cNvPr>
            <p:cNvSpPr/>
            <p:nvPr/>
          </p:nvSpPr>
          <p:spPr>
            <a:xfrm>
              <a:off x="9546711" y="9315775"/>
              <a:ext cx="364703" cy="466481"/>
            </a:xfrm>
            <a:custGeom>
              <a:avLst/>
              <a:gdLst/>
              <a:ahLst/>
              <a:cxnLst/>
              <a:rect l="l" t="t" r="r" b="b"/>
              <a:pathLst>
                <a:path w="364703" h="466481">
                  <a:moveTo>
                    <a:pt x="0" y="0"/>
                  </a:moveTo>
                  <a:lnTo>
                    <a:pt x="364703" y="0"/>
                  </a:lnTo>
                  <a:lnTo>
                    <a:pt x="364703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70000"/>
                <a:extLst>
                  <a:ext uri="{96DAC541-7B7A-43D3-8B79-37D633B846F1}">
                    <asvg:svgBlip xmlns:asvg="http://schemas.microsoft.com/office/drawing/2016/SVG/main" xmlns="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5E5BE110-BF37-625E-02A9-6720024F99EE}"/>
                </a:ext>
              </a:extLst>
            </p:cNvPr>
            <p:cNvSpPr/>
            <p:nvPr/>
          </p:nvSpPr>
          <p:spPr>
            <a:xfrm>
              <a:off x="10562823" y="9384996"/>
              <a:ext cx="462620" cy="328040"/>
            </a:xfrm>
            <a:custGeom>
              <a:avLst/>
              <a:gdLst/>
              <a:ahLst/>
              <a:cxnLst/>
              <a:rect l="l" t="t" r="r" b="b"/>
              <a:pathLst>
                <a:path w="462620" h="328040">
                  <a:moveTo>
                    <a:pt x="0" y="0"/>
                  </a:moveTo>
                  <a:lnTo>
                    <a:pt x="462621" y="0"/>
                  </a:lnTo>
                  <a:lnTo>
                    <a:pt x="462621" y="328040"/>
                  </a:lnTo>
                  <a:lnTo>
                    <a:pt x="0" y="328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FF943012-122A-1885-82E1-B5D2DD9BE66A}"/>
                </a:ext>
              </a:extLst>
            </p:cNvPr>
            <p:cNvSpPr/>
            <p:nvPr/>
          </p:nvSpPr>
          <p:spPr>
            <a:xfrm>
              <a:off x="764210" y="9305727"/>
              <a:ext cx="433615" cy="420212"/>
            </a:xfrm>
            <a:custGeom>
              <a:avLst/>
              <a:gdLst/>
              <a:ahLst/>
              <a:cxnLst/>
              <a:rect l="l" t="t" r="r" b="b"/>
              <a:pathLst>
                <a:path w="433615" h="420212">
                  <a:moveTo>
                    <a:pt x="0" y="0"/>
                  </a:moveTo>
                  <a:lnTo>
                    <a:pt x="433615" y="0"/>
                  </a:lnTo>
                  <a:lnTo>
                    <a:pt x="433615" y="420212"/>
                  </a:lnTo>
                  <a:lnTo>
                    <a:pt x="0" y="420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alphaModFix amt="70000"/>
                <a:extLst>
                  <a:ext uri="{96DAC541-7B7A-43D3-8B79-37D633B846F1}">
                    <asvg:svgBlip xmlns:asvg="http://schemas.microsoft.com/office/drawing/2016/SVG/main" xmlns="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3F9092E6-5676-05B1-9C89-C25CEDBEF2F2}"/>
                </a:ext>
              </a:extLst>
            </p:cNvPr>
            <p:cNvSpPr/>
            <p:nvPr/>
          </p:nvSpPr>
          <p:spPr>
            <a:xfrm>
              <a:off x="11676853" y="9304394"/>
              <a:ext cx="472494" cy="466481"/>
            </a:xfrm>
            <a:custGeom>
              <a:avLst/>
              <a:gdLst/>
              <a:ahLst/>
              <a:cxnLst/>
              <a:rect l="l" t="t" r="r" b="b"/>
              <a:pathLst>
                <a:path w="472494" h="466481">
                  <a:moveTo>
                    <a:pt x="0" y="0"/>
                  </a:moveTo>
                  <a:lnTo>
                    <a:pt x="472494" y="0"/>
                  </a:lnTo>
                  <a:lnTo>
                    <a:pt x="472494" y="466480"/>
                  </a:lnTo>
                  <a:lnTo>
                    <a:pt x="0" y="46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70000"/>
                <a:extLst>
                  <a:ext uri="{96DAC541-7B7A-43D3-8B79-37D633B846F1}">
                    <asvg:svgBlip xmlns:asvg="http://schemas.microsoft.com/office/drawing/2016/SVG/main" xmlns="" r:embed="rId2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222150C8-DBB0-799D-98C2-9EA0F80B7380}"/>
                </a:ext>
              </a:extLst>
            </p:cNvPr>
            <p:cNvSpPr/>
            <p:nvPr/>
          </p:nvSpPr>
          <p:spPr>
            <a:xfrm>
              <a:off x="5453480" y="9315775"/>
              <a:ext cx="349436" cy="466481"/>
            </a:xfrm>
            <a:custGeom>
              <a:avLst/>
              <a:gdLst/>
              <a:ahLst/>
              <a:cxnLst/>
              <a:rect l="l" t="t" r="r" b="b"/>
              <a:pathLst>
                <a:path w="349436" h="466481">
                  <a:moveTo>
                    <a:pt x="0" y="0"/>
                  </a:moveTo>
                  <a:lnTo>
                    <a:pt x="349436" y="0"/>
                  </a:lnTo>
                  <a:lnTo>
                    <a:pt x="349436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93EBF8C3-2784-AC44-F522-6E401C722EF1}"/>
                </a:ext>
              </a:extLst>
            </p:cNvPr>
            <p:cNvSpPr/>
            <p:nvPr/>
          </p:nvSpPr>
          <p:spPr>
            <a:xfrm>
              <a:off x="12797047" y="9342632"/>
              <a:ext cx="480625" cy="346924"/>
            </a:xfrm>
            <a:custGeom>
              <a:avLst/>
              <a:gdLst/>
              <a:ahLst/>
              <a:cxnLst/>
              <a:rect l="l" t="t" r="r" b="b"/>
              <a:pathLst>
                <a:path w="480625" h="346924">
                  <a:moveTo>
                    <a:pt x="0" y="0"/>
                  </a:moveTo>
                  <a:lnTo>
                    <a:pt x="480625" y="0"/>
                  </a:lnTo>
                  <a:lnTo>
                    <a:pt x="480625" y="346924"/>
                  </a:lnTo>
                  <a:lnTo>
                    <a:pt x="0" y="346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00191AA9-14FB-A493-3ACA-8856A59F4272}"/>
                </a:ext>
              </a:extLst>
            </p:cNvPr>
            <p:cNvSpPr/>
            <p:nvPr/>
          </p:nvSpPr>
          <p:spPr>
            <a:xfrm>
              <a:off x="13976992" y="9265699"/>
              <a:ext cx="334163" cy="500789"/>
            </a:xfrm>
            <a:custGeom>
              <a:avLst/>
              <a:gdLst/>
              <a:ahLst/>
              <a:cxnLst/>
              <a:rect l="l" t="t" r="r" b="b"/>
              <a:pathLst>
                <a:path w="334163" h="500789">
                  <a:moveTo>
                    <a:pt x="0" y="0"/>
                  </a:moveTo>
                  <a:lnTo>
                    <a:pt x="334163" y="0"/>
                  </a:lnTo>
                  <a:lnTo>
                    <a:pt x="334163" y="500789"/>
                  </a:lnTo>
                  <a:lnTo>
                    <a:pt x="0" y="500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B98BF61D-1B60-3FD6-0A00-65C241D09BDC}"/>
                </a:ext>
              </a:extLst>
            </p:cNvPr>
            <p:cNvSpPr/>
            <p:nvPr/>
          </p:nvSpPr>
          <p:spPr>
            <a:xfrm>
              <a:off x="15010474" y="9312172"/>
              <a:ext cx="407081" cy="429740"/>
            </a:xfrm>
            <a:custGeom>
              <a:avLst/>
              <a:gdLst/>
              <a:ahLst/>
              <a:cxnLst/>
              <a:rect l="l" t="t" r="r" b="b"/>
              <a:pathLst>
                <a:path w="407081" h="429740">
                  <a:moveTo>
                    <a:pt x="0" y="0"/>
                  </a:moveTo>
                  <a:lnTo>
                    <a:pt x="407080" y="0"/>
                  </a:lnTo>
                  <a:lnTo>
                    <a:pt x="407080" y="429739"/>
                  </a:lnTo>
                  <a:lnTo>
                    <a:pt x="0" y="429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40A2E41C-B7E9-ADB1-DDF5-7DC3226E291D}"/>
                </a:ext>
              </a:extLst>
            </p:cNvPr>
            <p:cNvSpPr/>
            <p:nvPr/>
          </p:nvSpPr>
          <p:spPr>
            <a:xfrm>
              <a:off x="17207719" y="9363177"/>
              <a:ext cx="496645" cy="352167"/>
            </a:xfrm>
            <a:custGeom>
              <a:avLst/>
              <a:gdLst/>
              <a:ahLst/>
              <a:cxnLst/>
              <a:rect l="l" t="t" r="r" b="b"/>
              <a:pathLst>
                <a:path w="496645" h="352167">
                  <a:moveTo>
                    <a:pt x="0" y="0"/>
                  </a:moveTo>
                  <a:lnTo>
                    <a:pt x="496645" y="0"/>
                  </a:lnTo>
                  <a:lnTo>
                    <a:pt x="496645" y="352167"/>
                  </a:lnTo>
                  <a:lnTo>
                    <a:pt x="0" y="352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23">
              <a:extLst>
                <a:ext uri="{FF2B5EF4-FFF2-40B4-BE49-F238E27FC236}">
                  <a16:creationId xmlns:a16="http://schemas.microsoft.com/office/drawing/2014/main" id="{678F2C39-6064-30E7-27C8-3B44D55C45C1}"/>
                </a:ext>
              </a:extLst>
            </p:cNvPr>
            <p:cNvSpPr/>
            <p:nvPr/>
          </p:nvSpPr>
          <p:spPr>
            <a:xfrm>
              <a:off x="16125068" y="9288865"/>
              <a:ext cx="375137" cy="500789"/>
            </a:xfrm>
            <a:custGeom>
              <a:avLst/>
              <a:gdLst/>
              <a:ahLst/>
              <a:cxnLst/>
              <a:rect l="l" t="t" r="r" b="b"/>
              <a:pathLst>
                <a:path w="375137" h="500789">
                  <a:moveTo>
                    <a:pt x="0" y="0"/>
                  </a:moveTo>
                  <a:lnTo>
                    <a:pt x="375137" y="0"/>
                  </a:lnTo>
                  <a:lnTo>
                    <a:pt x="375137" y="500790"/>
                  </a:lnTo>
                  <a:lnTo>
                    <a:pt x="0" y="500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7A0F717-8B21-BF83-CA15-2EC057130A38}"/>
              </a:ext>
            </a:extLst>
          </p:cNvPr>
          <p:cNvGrpSpPr/>
          <p:nvPr/>
        </p:nvGrpSpPr>
        <p:grpSpPr>
          <a:xfrm>
            <a:off x="764210" y="9258300"/>
            <a:ext cx="16940154" cy="531354"/>
            <a:chOff x="764210" y="9258300"/>
            <a:chExt cx="16940154" cy="531354"/>
          </a:xfrm>
        </p:grpSpPr>
        <p:sp>
          <p:nvSpPr>
            <p:cNvPr id="3" name="Freeform 7">
              <a:extLst>
                <a:ext uri="{FF2B5EF4-FFF2-40B4-BE49-F238E27FC236}">
                  <a16:creationId xmlns:a16="http://schemas.microsoft.com/office/drawing/2014/main" id="{E3B64D8B-1616-D658-A9B5-F77625FEBE5F}"/>
                </a:ext>
              </a:extLst>
            </p:cNvPr>
            <p:cNvSpPr/>
            <p:nvPr/>
          </p:nvSpPr>
          <p:spPr>
            <a:xfrm>
              <a:off x="6454325" y="9365858"/>
              <a:ext cx="447698" cy="323157"/>
            </a:xfrm>
            <a:custGeom>
              <a:avLst/>
              <a:gdLst/>
              <a:ahLst/>
              <a:cxnLst/>
              <a:rect l="l" t="t" r="r" b="b"/>
              <a:pathLst>
                <a:path w="447698" h="323157">
                  <a:moveTo>
                    <a:pt x="0" y="0"/>
                  </a:moveTo>
                  <a:lnTo>
                    <a:pt x="447698" y="0"/>
                  </a:lnTo>
                  <a:lnTo>
                    <a:pt x="447698" y="323157"/>
                  </a:lnTo>
                  <a:lnTo>
                    <a:pt x="0" y="323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2897E258-0088-2168-BFBA-99CFACFC2628}"/>
                </a:ext>
              </a:extLst>
            </p:cNvPr>
            <p:cNvSpPr/>
            <p:nvPr/>
          </p:nvSpPr>
          <p:spPr>
            <a:xfrm>
              <a:off x="7553432" y="9294196"/>
              <a:ext cx="311270" cy="466481"/>
            </a:xfrm>
            <a:custGeom>
              <a:avLst/>
              <a:gdLst/>
              <a:ahLst/>
              <a:cxnLst/>
              <a:rect l="l" t="t" r="r" b="b"/>
              <a:pathLst>
                <a:path w="311270" h="466481">
                  <a:moveTo>
                    <a:pt x="0" y="0"/>
                  </a:moveTo>
                  <a:lnTo>
                    <a:pt x="311270" y="0"/>
                  </a:lnTo>
                  <a:lnTo>
                    <a:pt x="311270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CF71971C-6B3C-F01C-E8CB-9A426F615BA0}"/>
                </a:ext>
              </a:extLst>
            </p:cNvPr>
            <p:cNvSpPr/>
            <p:nvPr/>
          </p:nvSpPr>
          <p:spPr>
            <a:xfrm>
              <a:off x="8516111" y="9337485"/>
              <a:ext cx="379192" cy="400298"/>
            </a:xfrm>
            <a:custGeom>
              <a:avLst/>
              <a:gdLst/>
              <a:ahLst/>
              <a:cxnLst/>
              <a:rect l="l" t="t" r="r" b="b"/>
              <a:pathLst>
                <a:path w="379192" h="400298">
                  <a:moveTo>
                    <a:pt x="0" y="0"/>
                  </a:moveTo>
                  <a:lnTo>
                    <a:pt x="379191" y="0"/>
                  </a:lnTo>
                  <a:lnTo>
                    <a:pt x="379191" y="400298"/>
                  </a:lnTo>
                  <a:lnTo>
                    <a:pt x="0" y="400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0AF4A4DC-7BD5-6BA8-C8DF-27A6B54AB039}"/>
                </a:ext>
              </a:extLst>
            </p:cNvPr>
            <p:cNvSpPr/>
            <p:nvPr/>
          </p:nvSpPr>
          <p:spPr>
            <a:xfrm>
              <a:off x="1643316" y="9337485"/>
              <a:ext cx="451732" cy="351530"/>
            </a:xfrm>
            <a:custGeom>
              <a:avLst/>
              <a:gdLst/>
              <a:ahLst/>
              <a:cxnLst/>
              <a:rect l="l" t="t" r="r" b="b"/>
              <a:pathLst>
                <a:path w="451732" h="351530">
                  <a:moveTo>
                    <a:pt x="0" y="0"/>
                  </a:moveTo>
                  <a:lnTo>
                    <a:pt x="451732" y="0"/>
                  </a:lnTo>
                  <a:lnTo>
                    <a:pt x="451732" y="351530"/>
                  </a:lnTo>
                  <a:lnTo>
                    <a:pt x="0" y="351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70000"/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B40B8039-2A53-3ED5-AD02-1B80D12B6E9E}"/>
                </a:ext>
              </a:extLst>
            </p:cNvPr>
            <p:cNvSpPr/>
            <p:nvPr/>
          </p:nvSpPr>
          <p:spPr>
            <a:xfrm>
              <a:off x="2746457" y="9258300"/>
              <a:ext cx="186592" cy="466481"/>
            </a:xfrm>
            <a:custGeom>
              <a:avLst/>
              <a:gdLst/>
              <a:ahLst/>
              <a:cxnLst/>
              <a:rect l="l" t="t" r="r" b="b"/>
              <a:pathLst>
                <a:path w="186592" h="466481">
                  <a:moveTo>
                    <a:pt x="0" y="0"/>
                  </a:moveTo>
                  <a:lnTo>
                    <a:pt x="186592" y="0"/>
                  </a:lnTo>
                  <a:lnTo>
                    <a:pt x="186592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70000"/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EF60B762-5033-4EE4-7AFC-72D82CD23B81}"/>
                </a:ext>
              </a:extLst>
            </p:cNvPr>
            <p:cNvSpPr/>
            <p:nvPr/>
          </p:nvSpPr>
          <p:spPr>
            <a:xfrm>
              <a:off x="4404956" y="9294066"/>
              <a:ext cx="397115" cy="394949"/>
            </a:xfrm>
            <a:custGeom>
              <a:avLst/>
              <a:gdLst/>
              <a:ahLst/>
              <a:cxnLst/>
              <a:rect l="l" t="t" r="r" b="b"/>
              <a:pathLst>
                <a:path w="397115" h="394949">
                  <a:moveTo>
                    <a:pt x="0" y="0"/>
                  </a:moveTo>
                  <a:lnTo>
                    <a:pt x="397115" y="0"/>
                  </a:lnTo>
                  <a:lnTo>
                    <a:pt x="397115" y="394949"/>
                  </a:lnTo>
                  <a:lnTo>
                    <a:pt x="0" y="394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70000"/>
                <a:extLs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042098BE-8BAE-CF74-F659-E864DC436881}"/>
                </a:ext>
              </a:extLst>
            </p:cNvPr>
            <p:cNvSpPr/>
            <p:nvPr/>
          </p:nvSpPr>
          <p:spPr>
            <a:xfrm>
              <a:off x="3584458" y="9258300"/>
              <a:ext cx="170477" cy="466481"/>
            </a:xfrm>
            <a:custGeom>
              <a:avLst/>
              <a:gdLst/>
              <a:ahLst/>
              <a:cxnLst/>
              <a:rect l="l" t="t" r="r" b="b"/>
              <a:pathLst>
                <a:path w="170477" h="466481">
                  <a:moveTo>
                    <a:pt x="0" y="0"/>
                  </a:moveTo>
                  <a:lnTo>
                    <a:pt x="170478" y="0"/>
                  </a:lnTo>
                  <a:lnTo>
                    <a:pt x="170478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70000"/>
                <a:extLst>
                  <a:ext uri="{96DAC541-7B7A-43D3-8B79-37D633B846F1}">
                    <asvg:svgBlip xmlns:asvg="http://schemas.microsoft.com/office/drawing/2016/SVG/main" xmlns="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00035D69-ADE6-164B-C0CA-9E7E94AEB9AD}"/>
                </a:ext>
              </a:extLst>
            </p:cNvPr>
            <p:cNvSpPr/>
            <p:nvPr/>
          </p:nvSpPr>
          <p:spPr>
            <a:xfrm>
              <a:off x="9546711" y="9315775"/>
              <a:ext cx="364703" cy="466481"/>
            </a:xfrm>
            <a:custGeom>
              <a:avLst/>
              <a:gdLst/>
              <a:ahLst/>
              <a:cxnLst/>
              <a:rect l="l" t="t" r="r" b="b"/>
              <a:pathLst>
                <a:path w="364703" h="466481">
                  <a:moveTo>
                    <a:pt x="0" y="0"/>
                  </a:moveTo>
                  <a:lnTo>
                    <a:pt x="364703" y="0"/>
                  </a:lnTo>
                  <a:lnTo>
                    <a:pt x="364703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70000"/>
                <a:extLst>
                  <a:ext uri="{96DAC541-7B7A-43D3-8B79-37D633B846F1}">
                    <asvg:svgBlip xmlns:asvg="http://schemas.microsoft.com/office/drawing/2016/SVG/main" xmlns="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5E5BE110-BF37-625E-02A9-6720024F99EE}"/>
                </a:ext>
              </a:extLst>
            </p:cNvPr>
            <p:cNvSpPr/>
            <p:nvPr/>
          </p:nvSpPr>
          <p:spPr>
            <a:xfrm>
              <a:off x="10562823" y="9384996"/>
              <a:ext cx="462620" cy="328040"/>
            </a:xfrm>
            <a:custGeom>
              <a:avLst/>
              <a:gdLst/>
              <a:ahLst/>
              <a:cxnLst/>
              <a:rect l="l" t="t" r="r" b="b"/>
              <a:pathLst>
                <a:path w="462620" h="328040">
                  <a:moveTo>
                    <a:pt x="0" y="0"/>
                  </a:moveTo>
                  <a:lnTo>
                    <a:pt x="462621" y="0"/>
                  </a:lnTo>
                  <a:lnTo>
                    <a:pt x="462621" y="328040"/>
                  </a:lnTo>
                  <a:lnTo>
                    <a:pt x="0" y="328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FF943012-122A-1885-82E1-B5D2DD9BE66A}"/>
                </a:ext>
              </a:extLst>
            </p:cNvPr>
            <p:cNvSpPr/>
            <p:nvPr/>
          </p:nvSpPr>
          <p:spPr>
            <a:xfrm>
              <a:off x="764210" y="9305727"/>
              <a:ext cx="433615" cy="420212"/>
            </a:xfrm>
            <a:custGeom>
              <a:avLst/>
              <a:gdLst/>
              <a:ahLst/>
              <a:cxnLst/>
              <a:rect l="l" t="t" r="r" b="b"/>
              <a:pathLst>
                <a:path w="433615" h="420212">
                  <a:moveTo>
                    <a:pt x="0" y="0"/>
                  </a:moveTo>
                  <a:lnTo>
                    <a:pt x="433615" y="0"/>
                  </a:lnTo>
                  <a:lnTo>
                    <a:pt x="433615" y="420212"/>
                  </a:lnTo>
                  <a:lnTo>
                    <a:pt x="0" y="420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alphaModFix amt="70000"/>
                <a:extLst>
                  <a:ext uri="{96DAC541-7B7A-43D3-8B79-37D633B846F1}">
                    <asvg:svgBlip xmlns:asvg="http://schemas.microsoft.com/office/drawing/2016/SVG/main" xmlns="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3F9092E6-5676-05B1-9C89-C25CEDBEF2F2}"/>
                </a:ext>
              </a:extLst>
            </p:cNvPr>
            <p:cNvSpPr/>
            <p:nvPr/>
          </p:nvSpPr>
          <p:spPr>
            <a:xfrm>
              <a:off x="11676853" y="9304394"/>
              <a:ext cx="472494" cy="466481"/>
            </a:xfrm>
            <a:custGeom>
              <a:avLst/>
              <a:gdLst/>
              <a:ahLst/>
              <a:cxnLst/>
              <a:rect l="l" t="t" r="r" b="b"/>
              <a:pathLst>
                <a:path w="472494" h="466481">
                  <a:moveTo>
                    <a:pt x="0" y="0"/>
                  </a:moveTo>
                  <a:lnTo>
                    <a:pt x="472494" y="0"/>
                  </a:lnTo>
                  <a:lnTo>
                    <a:pt x="472494" y="466480"/>
                  </a:lnTo>
                  <a:lnTo>
                    <a:pt x="0" y="46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70000"/>
                <a:extLst>
                  <a:ext uri="{96DAC541-7B7A-43D3-8B79-37D633B846F1}">
                    <asvg:svgBlip xmlns:asvg="http://schemas.microsoft.com/office/drawing/2016/SVG/main" xmlns="" r:embed="rId2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222150C8-DBB0-799D-98C2-9EA0F80B7380}"/>
                </a:ext>
              </a:extLst>
            </p:cNvPr>
            <p:cNvSpPr/>
            <p:nvPr/>
          </p:nvSpPr>
          <p:spPr>
            <a:xfrm>
              <a:off x="5453480" y="9315775"/>
              <a:ext cx="349436" cy="466481"/>
            </a:xfrm>
            <a:custGeom>
              <a:avLst/>
              <a:gdLst/>
              <a:ahLst/>
              <a:cxnLst/>
              <a:rect l="l" t="t" r="r" b="b"/>
              <a:pathLst>
                <a:path w="349436" h="466481">
                  <a:moveTo>
                    <a:pt x="0" y="0"/>
                  </a:moveTo>
                  <a:lnTo>
                    <a:pt x="349436" y="0"/>
                  </a:lnTo>
                  <a:lnTo>
                    <a:pt x="349436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93EBF8C3-2784-AC44-F522-6E401C722EF1}"/>
                </a:ext>
              </a:extLst>
            </p:cNvPr>
            <p:cNvSpPr/>
            <p:nvPr/>
          </p:nvSpPr>
          <p:spPr>
            <a:xfrm>
              <a:off x="12797047" y="9342632"/>
              <a:ext cx="480625" cy="346924"/>
            </a:xfrm>
            <a:custGeom>
              <a:avLst/>
              <a:gdLst/>
              <a:ahLst/>
              <a:cxnLst/>
              <a:rect l="l" t="t" r="r" b="b"/>
              <a:pathLst>
                <a:path w="480625" h="346924">
                  <a:moveTo>
                    <a:pt x="0" y="0"/>
                  </a:moveTo>
                  <a:lnTo>
                    <a:pt x="480625" y="0"/>
                  </a:lnTo>
                  <a:lnTo>
                    <a:pt x="480625" y="346924"/>
                  </a:lnTo>
                  <a:lnTo>
                    <a:pt x="0" y="346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00191AA9-14FB-A493-3ACA-8856A59F4272}"/>
                </a:ext>
              </a:extLst>
            </p:cNvPr>
            <p:cNvSpPr/>
            <p:nvPr/>
          </p:nvSpPr>
          <p:spPr>
            <a:xfrm>
              <a:off x="13976992" y="9265699"/>
              <a:ext cx="334163" cy="500789"/>
            </a:xfrm>
            <a:custGeom>
              <a:avLst/>
              <a:gdLst/>
              <a:ahLst/>
              <a:cxnLst/>
              <a:rect l="l" t="t" r="r" b="b"/>
              <a:pathLst>
                <a:path w="334163" h="500789">
                  <a:moveTo>
                    <a:pt x="0" y="0"/>
                  </a:moveTo>
                  <a:lnTo>
                    <a:pt x="334163" y="0"/>
                  </a:lnTo>
                  <a:lnTo>
                    <a:pt x="334163" y="500789"/>
                  </a:lnTo>
                  <a:lnTo>
                    <a:pt x="0" y="500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B98BF61D-1B60-3FD6-0A00-65C241D09BDC}"/>
                </a:ext>
              </a:extLst>
            </p:cNvPr>
            <p:cNvSpPr/>
            <p:nvPr/>
          </p:nvSpPr>
          <p:spPr>
            <a:xfrm>
              <a:off x="15010474" y="9312172"/>
              <a:ext cx="407081" cy="429740"/>
            </a:xfrm>
            <a:custGeom>
              <a:avLst/>
              <a:gdLst/>
              <a:ahLst/>
              <a:cxnLst/>
              <a:rect l="l" t="t" r="r" b="b"/>
              <a:pathLst>
                <a:path w="407081" h="429740">
                  <a:moveTo>
                    <a:pt x="0" y="0"/>
                  </a:moveTo>
                  <a:lnTo>
                    <a:pt x="407080" y="0"/>
                  </a:lnTo>
                  <a:lnTo>
                    <a:pt x="407080" y="429739"/>
                  </a:lnTo>
                  <a:lnTo>
                    <a:pt x="0" y="429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40A2E41C-B7E9-ADB1-DDF5-7DC3226E291D}"/>
                </a:ext>
              </a:extLst>
            </p:cNvPr>
            <p:cNvSpPr/>
            <p:nvPr/>
          </p:nvSpPr>
          <p:spPr>
            <a:xfrm>
              <a:off x="17207719" y="9363177"/>
              <a:ext cx="496645" cy="352167"/>
            </a:xfrm>
            <a:custGeom>
              <a:avLst/>
              <a:gdLst/>
              <a:ahLst/>
              <a:cxnLst/>
              <a:rect l="l" t="t" r="r" b="b"/>
              <a:pathLst>
                <a:path w="496645" h="352167">
                  <a:moveTo>
                    <a:pt x="0" y="0"/>
                  </a:moveTo>
                  <a:lnTo>
                    <a:pt x="496645" y="0"/>
                  </a:lnTo>
                  <a:lnTo>
                    <a:pt x="496645" y="352167"/>
                  </a:lnTo>
                  <a:lnTo>
                    <a:pt x="0" y="352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23">
              <a:extLst>
                <a:ext uri="{FF2B5EF4-FFF2-40B4-BE49-F238E27FC236}">
                  <a16:creationId xmlns:a16="http://schemas.microsoft.com/office/drawing/2014/main" id="{678F2C39-6064-30E7-27C8-3B44D55C45C1}"/>
                </a:ext>
              </a:extLst>
            </p:cNvPr>
            <p:cNvSpPr/>
            <p:nvPr/>
          </p:nvSpPr>
          <p:spPr>
            <a:xfrm>
              <a:off x="16125068" y="9288865"/>
              <a:ext cx="375137" cy="500789"/>
            </a:xfrm>
            <a:custGeom>
              <a:avLst/>
              <a:gdLst/>
              <a:ahLst/>
              <a:cxnLst/>
              <a:rect l="l" t="t" r="r" b="b"/>
              <a:pathLst>
                <a:path w="375137" h="500789">
                  <a:moveTo>
                    <a:pt x="0" y="0"/>
                  </a:moveTo>
                  <a:lnTo>
                    <a:pt x="375137" y="0"/>
                  </a:lnTo>
                  <a:lnTo>
                    <a:pt x="375137" y="500790"/>
                  </a:lnTo>
                  <a:lnTo>
                    <a:pt x="0" y="500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21" name="Рисунок 2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52800" y="1409701"/>
            <a:ext cx="122682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350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701719"/>
              </p:ext>
            </p:extLst>
          </p:nvPr>
        </p:nvGraphicFramePr>
        <p:xfrm>
          <a:off x="723899" y="495300"/>
          <a:ext cx="16840202" cy="7012026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{D113A9D2-9D6B-4929-AA2D-F23B5EE8CBE7}</a:tableStyleId>
              </a:tblPr>
              <a:tblGrid>
                <a:gridCol w="1153439">
                  <a:extLst>
                    <a:ext uri="{9D8B030D-6E8A-4147-A177-3AD203B41FA5}">
                      <a16:colId xmlns:a16="http://schemas.microsoft.com/office/drawing/2014/main" val="2954164482"/>
                    </a:ext>
                  </a:extLst>
                </a:gridCol>
                <a:gridCol w="4440435">
                  <a:extLst>
                    <a:ext uri="{9D8B030D-6E8A-4147-A177-3AD203B41FA5}">
                      <a16:colId xmlns:a16="http://schemas.microsoft.com/office/drawing/2014/main" val="2783004696"/>
                    </a:ext>
                  </a:extLst>
                </a:gridCol>
                <a:gridCol w="1405791">
                  <a:extLst>
                    <a:ext uri="{9D8B030D-6E8A-4147-A177-3AD203B41FA5}">
                      <a16:colId xmlns:a16="http://schemas.microsoft.com/office/drawing/2014/main" val="1203356460"/>
                    </a:ext>
                  </a:extLst>
                </a:gridCol>
                <a:gridCol w="1405791">
                  <a:extLst>
                    <a:ext uri="{9D8B030D-6E8A-4147-A177-3AD203B41FA5}">
                      <a16:colId xmlns:a16="http://schemas.microsoft.com/office/drawing/2014/main" val="604532732"/>
                    </a:ext>
                  </a:extLst>
                </a:gridCol>
                <a:gridCol w="1405791">
                  <a:extLst>
                    <a:ext uri="{9D8B030D-6E8A-4147-A177-3AD203B41FA5}">
                      <a16:colId xmlns:a16="http://schemas.microsoft.com/office/drawing/2014/main" val="1653713442"/>
                    </a:ext>
                  </a:extLst>
                </a:gridCol>
                <a:gridCol w="1405791">
                  <a:extLst>
                    <a:ext uri="{9D8B030D-6E8A-4147-A177-3AD203B41FA5}">
                      <a16:colId xmlns:a16="http://schemas.microsoft.com/office/drawing/2014/main" val="2020439211"/>
                    </a:ext>
                  </a:extLst>
                </a:gridCol>
                <a:gridCol w="1405791">
                  <a:extLst>
                    <a:ext uri="{9D8B030D-6E8A-4147-A177-3AD203B41FA5}">
                      <a16:colId xmlns:a16="http://schemas.microsoft.com/office/drawing/2014/main" val="629265806"/>
                    </a:ext>
                  </a:extLst>
                </a:gridCol>
                <a:gridCol w="1405791">
                  <a:extLst>
                    <a:ext uri="{9D8B030D-6E8A-4147-A177-3AD203B41FA5}">
                      <a16:colId xmlns:a16="http://schemas.microsoft.com/office/drawing/2014/main" val="1615036927"/>
                    </a:ext>
                  </a:extLst>
                </a:gridCol>
                <a:gridCol w="1405791">
                  <a:extLst>
                    <a:ext uri="{9D8B030D-6E8A-4147-A177-3AD203B41FA5}">
                      <a16:colId xmlns:a16="http://schemas.microsoft.com/office/drawing/2014/main" val="1314521772"/>
                    </a:ext>
                  </a:extLst>
                </a:gridCol>
                <a:gridCol w="1405791">
                  <a:extLst>
                    <a:ext uri="{9D8B030D-6E8A-4147-A177-3AD203B41FA5}">
                      <a16:colId xmlns:a16="http://schemas.microsoft.com/office/drawing/2014/main" val="944545167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i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2246</a:t>
                      </a:r>
                      <a:endParaRPr lang="ru-RU" sz="2000" b="1" i="1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932441"/>
                  </a:ext>
                </a:extLst>
              </a:tr>
              <a:tr h="609600"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Родились живыми (включая поступивших после рождения вне родильной организации) всего  1  ___1000__, из них родились ранее срока  2  __1__,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4096"/>
                  </a:ext>
                </a:extLst>
              </a:tr>
              <a:tr h="889542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Родились мертвыми - всего  3 __0__,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228297"/>
                  </a:ext>
                </a:extLst>
              </a:tr>
              <a:tr h="454482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из них родились ранее срока 4 __0__,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781771"/>
                  </a:ext>
                </a:extLst>
              </a:tr>
              <a:tr h="889542">
                <a:tc gridSpan="7"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из числа родившихся мертвыми, смерть наступила до начала родовой деятельности 5 __0__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31101"/>
                  </a:ext>
                </a:extLst>
              </a:tr>
              <a:tr h="454482">
                <a:tc>
                  <a:txBody>
                    <a:bodyPr/>
                    <a:lstStyle/>
                    <a:p>
                      <a:pPr algn="ctr" fontAlgn="ctr"/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5570"/>
                  </a:ext>
                </a:extLst>
              </a:tr>
              <a:tr h="51235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1" i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2247</a:t>
                      </a:r>
                      <a:endParaRPr lang="ru-RU" sz="2000" b="1" i="1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256289"/>
                  </a:ext>
                </a:extLst>
              </a:tr>
              <a:tr h="889542">
                <a:tc gridSpan="8">
                  <a:txBody>
                    <a:bodyPr/>
                    <a:lstStyle/>
                    <a:p>
                      <a:pPr algn="l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Переведено новорожденных (плодов) в другие стационары (отделения для недоношенных и грудных детей)  1 __ 1__.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62519"/>
                  </a:ext>
                </a:extLst>
              </a:tr>
              <a:tr h="88954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Сделано противотуберкулезных прививок 2 __ 1000__.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021842"/>
                  </a:ext>
                </a:extLst>
              </a:tr>
              <a:tr h="889542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Сделано прививок против гепатита В 3 __1000__.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940188"/>
                  </a:ext>
                </a:extLst>
              </a:tr>
            </a:tbl>
          </a:graphicData>
        </a:graphic>
      </p:graphicFrame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6E827DD-3EE8-7385-29DB-FBB29A9FDF0B}"/>
              </a:ext>
            </a:extLst>
          </p:cNvPr>
          <p:cNvGrpSpPr/>
          <p:nvPr/>
        </p:nvGrpSpPr>
        <p:grpSpPr>
          <a:xfrm>
            <a:off x="764210" y="9258300"/>
            <a:ext cx="16940154" cy="531354"/>
            <a:chOff x="764210" y="9258300"/>
            <a:chExt cx="16940154" cy="531354"/>
          </a:xfrm>
        </p:grpSpPr>
        <p:sp>
          <p:nvSpPr>
            <p:cNvPr id="3" name="Freeform 7">
              <a:extLst>
                <a:ext uri="{FF2B5EF4-FFF2-40B4-BE49-F238E27FC236}">
                  <a16:creationId xmlns:a16="http://schemas.microsoft.com/office/drawing/2014/main" id="{E7CBD89D-712A-6182-2144-3956041D5F79}"/>
                </a:ext>
              </a:extLst>
            </p:cNvPr>
            <p:cNvSpPr/>
            <p:nvPr/>
          </p:nvSpPr>
          <p:spPr>
            <a:xfrm>
              <a:off x="6454325" y="9365858"/>
              <a:ext cx="447698" cy="323157"/>
            </a:xfrm>
            <a:custGeom>
              <a:avLst/>
              <a:gdLst/>
              <a:ahLst/>
              <a:cxnLst/>
              <a:rect l="l" t="t" r="r" b="b"/>
              <a:pathLst>
                <a:path w="447698" h="323157">
                  <a:moveTo>
                    <a:pt x="0" y="0"/>
                  </a:moveTo>
                  <a:lnTo>
                    <a:pt x="447698" y="0"/>
                  </a:lnTo>
                  <a:lnTo>
                    <a:pt x="447698" y="323157"/>
                  </a:lnTo>
                  <a:lnTo>
                    <a:pt x="0" y="323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BA9EEA66-98AE-EF10-B88D-6F296FA9ED6C}"/>
                </a:ext>
              </a:extLst>
            </p:cNvPr>
            <p:cNvSpPr/>
            <p:nvPr/>
          </p:nvSpPr>
          <p:spPr>
            <a:xfrm>
              <a:off x="7553432" y="9294196"/>
              <a:ext cx="311270" cy="466481"/>
            </a:xfrm>
            <a:custGeom>
              <a:avLst/>
              <a:gdLst/>
              <a:ahLst/>
              <a:cxnLst/>
              <a:rect l="l" t="t" r="r" b="b"/>
              <a:pathLst>
                <a:path w="311270" h="466481">
                  <a:moveTo>
                    <a:pt x="0" y="0"/>
                  </a:moveTo>
                  <a:lnTo>
                    <a:pt x="311270" y="0"/>
                  </a:lnTo>
                  <a:lnTo>
                    <a:pt x="311270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D12D2603-9447-D363-6543-09AE5E51AD72}"/>
                </a:ext>
              </a:extLst>
            </p:cNvPr>
            <p:cNvSpPr/>
            <p:nvPr/>
          </p:nvSpPr>
          <p:spPr>
            <a:xfrm>
              <a:off x="8516111" y="9337485"/>
              <a:ext cx="379192" cy="400298"/>
            </a:xfrm>
            <a:custGeom>
              <a:avLst/>
              <a:gdLst/>
              <a:ahLst/>
              <a:cxnLst/>
              <a:rect l="l" t="t" r="r" b="b"/>
              <a:pathLst>
                <a:path w="379192" h="400298">
                  <a:moveTo>
                    <a:pt x="0" y="0"/>
                  </a:moveTo>
                  <a:lnTo>
                    <a:pt x="379191" y="0"/>
                  </a:lnTo>
                  <a:lnTo>
                    <a:pt x="379191" y="400298"/>
                  </a:lnTo>
                  <a:lnTo>
                    <a:pt x="0" y="400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978247C1-87DB-30CC-8611-2E9C5B30E2AF}"/>
                </a:ext>
              </a:extLst>
            </p:cNvPr>
            <p:cNvSpPr/>
            <p:nvPr/>
          </p:nvSpPr>
          <p:spPr>
            <a:xfrm>
              <a:off x="1643316" y="9337485"/>
              <a:ext cx="451732" cy="351530"/>
            </a:xfrm>
            <a:custGeom>
              <a:avLst/>
              <a:gdLst/>
              <a:ahLst/>
              <a:cxnLst/>
              <a:rect l="l" t="t" r="r" b="b"/>
              <a:pathLst>
                <a:path w="451732" h="351530">
                  <a:moveTo>
                    <a:pt x="0" y="0"/>
                  </a:moveTo>
                  <a:lnTo>
                    <a:pt x="451732" y="0"/>
                  </a:lnTo>
                  <a:lnTo>
                    <a:pt x="451732" y="351530"/>
                  </a:lnTo>
                  <a:lnTo>
                    <a:pt x="0" y="351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70000"/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C9446011-E57F-D06A-4D01-4B8CC4061BDF}"/>
                </a:ext>
              </a:extLst>
            </p:cNvPr>
            <p:cNvSpPr/>
            <p:nvPr/>
          </p:nvSpPr>
          <p:spPr>
            <a:xfrm>
              <a:off x="2746457" y="9258300"/>
              <a:ext cx="186592" cy="466481"/>
            </a:xfrm>
            <a:custGeom>
              <a:avLst/>
              <a:gdLst/>
              <a:ahLst/>
              <a:cxnLst/>
              <a:rect l="l" t="t" r="r" b="b"/>
              <a:pathLst>
                <a:path w="186592" h="466481">
                  <a:moveTo>
                    <a:pt x="0" y="0"/>
                  </a:moveTo>
                  <a:lnTo>
                    <a:pt x="186592" y="0"/>
                  </a:lnTo>
                  <a:lnTo>
                    <a:pt x="186592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70000"/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0962860F-E98A-76AD-D81F-77AC5F54FDA3}"/>
                </a:ext>
              </a:extLst>
            </p:cNvPr>
            <p:cNvSpPr/>
            <p:nvPr/>
          </p:nvSpPr>
          <p:spPr>
            <a:xfrm>
              <a:off x="4404956" y="9294066"/>
              <a:ext cx="397115" cy="394949"/>
            </a:xfrm>
            <a:custGeom>
              <a:avLst/>
              <a:gdLst/>
              <a:ahLst/>
              <a:cxnLst/>
              <a:rect l="l" t="t" r="r" b="b"/>
              <a:pathLst>
                <a:path w="397115" h="394949">
                  <a:moveTo>
                    <a:pt x="0" y="0"/>
                  </a:moveTo>
                  <a:lnTo>
                    <a:pt x="397115" y="0"/>
                  </a:lnTo>
                  <a:lnTo>
                    <a:pt x="397115" y="394949"/>
                  </a:lnTo>
                  <a:lnTo>
                    <a:pt x="0" y="394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70000"/>
                <a:extLs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2084D276-E715-8AA9-2BD4-178F5CED3B08}"/>
                </a:ext>
              </a:extLst>
            </p:cNvPr>
            <p:cNvSpPr/>
            <p:nvPr/>
          </p:nvSpPr>
          <p:spPr>
            <a:xfrm>
              <a:off x="3584458" y="9258300"/>
              <a:ext cx="170477" cy="466481"/>
            </a:xfrm>
            <a:custGeom>
              <a:avLst/>
              <a:gdLst/>
              <a:ahLst/>
              <a:cxnLst/>
              <a:rect l="l" t="t" r="r" b="b"/>
              <a:pathLst>
                <a:path w="170477" h="466481">
                  <a:moveTo>
                    <a:pt x="0" y="0"/>
                  </a:moveTo>
                  <a:lnTo>
                    <a:pt x="170478" y="0"/>
                  </a:lnTo>
                  <a:lnTo>
                    <a:pt x="170478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70000"/>
                <a:extLst>
                  <a:ext uri="{96DAC541-7B7A-43D3-8B79-37D633B846F1}">
                    <asvg:svgBlip xmlns:asvg="http://schemas.microsoft.com/office/drawing/2016/SVG/main" xmlns="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DBBA5E7C-F1E2-780D-F16F-10D603586C2F}"/>
                </a:ext>
              </a:extLst>
            </p:cNvPr>
            <p:cNvSpPr/>
            <p:nvPr/>
          </p:nvSpPr>
          <p:spPr>
            <a:xfrm>
              <a:off x="9546711" y="9315775"/>
              <a:ext cx="364703" cy="466481"/>
            </a:xfrm>
            <a:custGeom>
              <a:avLst/>
              <a:gdLst/>
              <a:ahLst/>
              <a:cxnLst/>
              <a:rect l="l" t="t" r="r" b="b"/>
              <a:pathLst>
                <a:path w="364703" h="466481">
                  <a:moveTo>
                    <a:pt x="0" y="0"/>
                  </a:moveTo>
                  <a:lnTo>
                    <a:pt x="364703" y="0"/>
                  </a:lnTo>
                  <a:lnTo>
                    <a:pt x="364703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70000"/>
                <a:extLst>
                  <a:ext uri="{96DAC541-7B7A-43D3-8B79-37D633B846F1}">
                    <asvg:svgBlip xmlns:asvg="http://schemas.microsoft.com/office/drawing/2016/SVG/main" xmlns="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05C290CE-9FC6-05FE-7142-CA3366F90A44}"/>
                </a:ext>
              </a:extLst>
            </p:cNvPr>
            <p:cNvSpPr/>
            <p:nvPr/>
          </p:nvSpPr>
          <p:spPr>
            <a:xfrm>
              <a:off x="10562823" y="9384996"/>
              <a:ext cx="462620" cy="328040"/>
            </a:xfrm>
            <a:custGeom>
              <a:avLst/>
              <a:gdLst/>
              <a:ahLst/>
              <a:cxnLst/>
              <a:rect l="l" t="t" r="r" b="b"/>
              <a:pathLst>
                <a:path w="462620" h="328040">
                  <a:moveTo>
                    <a:pt x="0" y="0"/>
                  </a:moveTo>
                  <a:lnTo>
                    <a:pt x="462621" y="0"/>
                  </a:lnTo>
                  <a:lnTo>
                    <a:pt x="462621" y="328040"/>
                  </a:lnTo>
                  <a:lnTo>
                    <a:pt x="0" y="328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5337929B-E591-6D93-7878-F1C0902BA0EA}"/>
                </a:ext>
              </a:extLst>
            </p:cNvPr>
            <p:cNvSpPr/>
            <p:nvPr/>
          </p:nvSpPr>
          <p:spPr>
            <a:xfrm>
              <a:off x="764210" y="9305727"/>
              <a:ext cx="433615" cy="420212"/>
            </a:xfrm>
            <a:custGeom>
              <a:avLst/>
              <a:gdLst/>
              <a:ahLst/>
              <a:cxnLst/>
              <a:rect l="l" t="t" r="r" b="b"/>
              <a:pathLst>
                <a:path w="433615" h="420212">
                  <a:moveTo>
                    <a:pt x="0" y="0"/>
                  </a:moveTo>
                  <a:lnTo>
                    <a:pt x="433615" y="0"/>
                  </a:lnTo>
                  <a:lnTo>
                    <a:pt x="433615" y="420212"/>
                  </a:lnTo>
                  <a:lnTo>
                    <a:pt x="0" y="420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alphaModFix amt="70000"/>
                <a:extLst>
                  <a:ext uri="{96DAC541-7B7A-43D3-8B79-37D633B846F1}">
                    <asvg:svgBlip xmlns:asvg="http://schemas.microsoft.com/office/drawing/2016/SVG/main" xmlns="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4E54ACCA-6917-D39D-624D-DA25A4B94701}"/>
                </a:ext>
              </a:extLst>
            </p:cNvPr>
            <p:cNvSpPr/>
            <p:nvPr/>
          </p:nvSpPr>
          <p:spPr>
            <a:xfrm>
              <a:off x="11676853" y="9304394"/>
              <a:ext cx="472494" cy="466481"/>
            </a:xfrm>
            <a:custGeom>
              <a:avLst/>
              <a:gdLst/>
              <a:ahLst/>
              <a:cxnLst/>
              <a:rect l="l" t="t" r="r" b="b"/>
              <a:pathLst>
                <a:path w="472494" h="466481">
                  <a:moveTo>
                    <a:pt x="0" y="0"/>
                  </a:moveTo>
                  <a:lnTo>
                    <a:pt x="472494" y="0"/>
                  </a:lnTo>
                  <a:lnTo>
                    <a:pt x="472494" y="466480"/>
                  </a:lnTo>
                  <a:lnTo>
                    <a:pt x="0" y="46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70000"/>
                <a:extLst>
                  <a:ext uri="{96DAC541-7B7A-43D3-8B79-37D633B846F1}">
                    <asvg:svgBlip xmlns:asvg="http://schemas.microsoft.com/office/drawing/2016/SVG/main" xmlns="" r:embed="rId2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04D733A1-BA93-F667-5AD4-50CC208C974C}"/>
                </a:ext>
              </a:extLst>
            </p:cNvPr>
            <p:cNvSpPr/>
            <p:nvPr/>
          </p:nvSpPr>
          <p:spPr>
            <a:xfrm>
              <a:off x="5453480" y="9315775"/>
              <a:ext cx="349436" cy="466481"/>
            </a:xfrm>
            <a:custGeom>
              <a:avLst/>
              <a:gdLst/>
              <a:ahLst/>
              <a:cxnLst/>
              <a:rect l="l" t="t" r="r" b="b"/>
              <a:pathLst>
                <a:path w="349436" h="466481">
                  <a:moveTo>
                    <a:pt x="0" y="0"/>
                  </a:moveTo>
                  <a:lnTo>
                    <a:pt x="349436" y="0"/>
                  </a:lnTo>
                  <a:lnTo>
                    <a:pt x="349436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DFA218FD-8422-AFF1-D11C-80AC8231F48C}"/>
                </a:ext>
              </a:extLst>
            </p:cNvPr>
            <p:cNvSpPr/>
            <p:nvPr/>
          </p:nvSpPr>
          <p:spPr>
            <a:xfrm>
              <a:off x="12797047" y="9342632"/>
              <a:ext cx="480625" cy="346924"/>
            </a:xfrm>
            <a:custGeom>
              <a:avLst/>
              <a:gdLst/>
              <a:ahLst/>
              <a:cxnLst/>
              <a:rect l="l" t="t" r="r" b="b"/>
              <a:pathLst>
                <a:path w="480625" h="346924">
                  <a:moveTo>
                    <a:pt x="0" y="0"/>
                  </a:moveTo>
                  <a:lnTo>
                    <a:pt x="480625" y="0"/>
                  </a:lnTo>
                  <a:lnTo>
                    <a:pt x="480625" y="346924"/>
                  </a:lnTo>
                  <a:lnTo>
                    <a:pt x="0" y="346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11BC9CC8-AA7D-4DF0-29D9-FFF1E0931E27}"/>
                </a:ext>
              </a:extLst>
            </p:cNvPr>
            <p:cNvSpPr/>
            <p:nvPr/>
          </p:nvSpPr>
          <p:spPr>
            <a:xfrm>
              <a:off x="13976992" y="9265699"/>
              <a:ext cx="334163" cy="500789"/>
            </a:xfrm>
            <a:custGeom>
              <a:avLst/>
              <a:gdLst/>
              <a:ahLst/>
              <a:cxnLst/>
              <a:rect l="l" t="t" r="r" b="b"/>
              <a:pathLst>
                <a:path w="334163" h="500789">
                  <a:moveTo>
                    <a:pt x="0" y="0"/>
                  </a:moveTo>
                  <a:lnTo>
                    <a:pt x="334163" y="0"/>
                  </a:lnTo>
                  <a:lnTo>
                    <a:pt x="334163" y="500789"/>
                  </a:lnTo>
                  <a:lnTo>
                    <a:pt x="0" y="500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78A8D49C-1039-77A0-D772-E22FAEF249C8}"/>
                </a:ext>
              </a:extLst>
            </p:cNvPr>
            <p:cNvSpPr/>
            <p:nvPr/>
          </p:nvSpPr>
          <p:spPr>
            <a:xfrm>
              <a:off x="15010474" y="9312172"/>
              <a:ext cx="407081" cy="429740"/>
            </a:xfrm>
            <a:custGeom>
              <a:avLst/>
              <a:gdLst/>
              <a:ahLst/>
              <a:cxnLst/>
              <a:rect l="l" t="t" r="r" b="b"/>
              <a:pathLst>
                <a:path w="407081" h="429740">
                  <a:moveTo>
                    <a:pt x="0" y="0"/>
                  </a:moveTo>
                  <a:lnTo>
                    <a:pt x="407080" y="0"/>
                  </a:lnTo>
                  <a:lnTo>
                    <a:pt x="407080" y="429739"/>
                  </a:lnTo>
                  <a:lnTo>
                    <a:pt x="0" y="429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359BC2BF-655C-C114-3A14-9AD8AB7BAAA3}"/>
                </a:ext>
              </a:extLst>
            </p:cNvPr>
            <p:cNvSpPr/>
            <p:nvPr/>
          </p:nvSpPr>
          <p:spPr>
            <a:xfrm>
              <a:off x="17207719" y="9363177"/>
              <a:ext cx="496645" cy="352167"/>
            </a:xfrm>
            <a:custGeom>
              <a:avLst/>
              <a:gdLst/>
              <a:ahLst/>
              <a:cxnLst/>
              <a:rect l="l" t="t" r="r" b="b"/>
              <a:pathLst>
                <a:path w="496645" h="352167">
                  <a:moveTo>
                    <a:pt x="0" y="0"/>
                  </a:moveTo>
                  <a:lnTo>
                    <a:pt x="496645" y="0"/>
                  </a:lnTo>
                  <a:lnTo>
                    <a:pt x="496645" y="352167"/>
                  </a:lnTo>
                  <a:lnTo>
                    <a:pt x="0" y="352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23">
              <a:extLst>
                <a:ext uri="{FF2B5EF4-FFF2-40B4-BE49-F238E27FC236}">
                  <a16:creationId xmlns:a16="http://schemas.microsoft.com/office/drawing/2014/main" id="{5E594C22-9F18-541D-B880-CC56E2EBA2ED}"/>
                </a:ext>
              </a:extLst>
            </p:cNvPr>
            <p:cNvSpPr/>
            <p:nvPr/>
          </p:nvSpPr>
          <p:spPr>
            <a:xfrm>
              <a:off x="16125068" y="9288865"/>
              <a:ext cx="375137" cy="500789"/>
            </a:xfrm>
            <a:custGeom>
              <a:avLst/>
              <a:gdLst/>
              <a:ahLst/>
              <a:cxnLst/>
              <a:rect l="l" t="t" r="r" b="b"/>
              <a:pathLst>
                <a:path w="375137" h="500789">
                  <a:moveTo>
                    <a:pt x="0" y="0"/>
                  </a:moveTo>
                  <a:lnTo>
                    <a:pt x="375137" y="0"/>
                  </a:lnTo>
                  <a:lnTo>
                    <a:pt x="375137" y="500790"/>
                  </a:lnTo>
                  <a:lnTo>
                    <a:pt x="0" y="500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6E827DD-3EE8-7385-29DB-FBB29A9FDF0B}"/>
              </a:ext>
            </a:extLst>
          </p:cNvPr>
          <p:cNvGrpSpPr/>
          <p:nvPr/>
        </p:nvGrpSpPr>
        <p:grpSpPr>
          <a:xfrm>
            <a:off x="764210" y="9258300"/>
            <a:ext cx="16940154" cy="531354"/>
            <a:chOff x="764210" y="9258300"/>
            <a:chExt cx="16940154" cy="531354"/>
          </a:xfrm>
        </p:grpSpPr>
        <p:sp>
          <p:nvSpPr>
            <p:cNvPr id="3" name="Freeform 7">
              <a:extLst>
                <a:ext uri="{FF2B5EF4-FFF2-40B4-BE49-F238E27FC236}">
                  <a16:creationId xmlns:a16="http://schemas.microsoft.com/office/drawing/2014/main" id="{E7CBD89D-712A-6182-2144-3956041D5F79}"/>
                </a:ext>
              </a:extLst>
            </p:cNvPr>
            <p:cNvSpPr/>
            <p:nvPr/>
          </p:nvSpPr>
          <p:spPr>
            <a:xfrm>
              <a:off x="6454325" y="9365858"/>
              <a:ext cx="447698" cy="323157"/>
            </a:xfrm>
            <a:custGeom>
              <a:avLst/>
              <a:gdLst/>
              <a:ahLst/>
              <a:cxnLst/>
              <a:rect l="l" t="t" r="r" b="b"/>
              <a:pathLst>
                <a:path w="447698" h="323157">
                  <a:moveTo>
                    <a:pt x="0" y="0"/>
                  </a:moveTo>
                  <a:lnTo>
                    <a:pt x="447698" y="0"/>
                  </a:lnTo>
                  <a:lnTo>
                    <a:pt x="447698" y="323157"/>
                  </a:lnTo>
                  <a:lnTo>
                    <a:pt x="0" y="323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BA9EEA66-98AE-EF10-B88D-6F296FA9ED6C}"/>
                </a:ext>
              </a:extLst>
            </p:cNvPr>
            <p:cNvSpPr/>
            <p:nvPr/>
          </p:nvSpPr>
          <p:spPr>
            <a:xfrm>
              <a:off x="7553432" y="9294196"/>
              <a:ext cx="311270" cy="466481"/>
            </a:xfrm>
            <a:custGeom>
              <a:avLst/>
              <a:gdLst/>
              <a:ahLst/>
              <a:cxnLst/>
              <a:rect l="l" t="t" r="r" b="b"/>
              <a:pathLst>
                <a:path w="311270" h="466481">
                  <a:moveTo>
                    <a:pt x="0" y="0"/>
                  </a:moveTo>
                  <a:lnTo>
                    <a:pt x="311270" y="0"/>
                  </a:lnTo>
                  <a:lnTo>
                    <a:pt x="311270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D12D2603-9447-D363-6543-09AE5E51AD72}"/>
                </a:ext>
              </a:extLst>
            </p:cNvPr>
            <p:cNvSpPr/>
            <p:nvPr/>
          </p:nvSpPr>
          <p:spPr>
            <a:xfrm>
              <a:off x="8516111" y="9337485"/>
              <a:ext cx="379192" cy="400298"/>
            </a:xfrm>
            <a:custGeom>
              <a:avLst/>
              <a:gdLst/>
              <a:ahLst/>
              <a:cxnLst/>
              <a:rect l="l" t="t" r="r" b="b"/>
              <a:pathLst>
                <a:path w="379192" h="400298">
                  <a:moveTo>
                    <a:pt x="0" y="0"/>
                  </a:moveTo>
                  <a:lnTo>
                    <a:pt x="379191" y="0"/>
                  </a:lnTo>
                  <a:lnTo>
                    <a:pt x="379191" y="400298"/>
                  </a:lnTo>
                  <a:lnTo>
                    <a:pt x="0" y="400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978247C1-87DB-30CC-8611-2E9C5B30E2AF}"/>
                </a:ext>
              </a:extLst>
            </p:cNvPr>
            <p:cNvSpPr/>
            <p:nvPr/>
          </p:nvSpPr>
          <p:spPr>
            <a:xfrm>
              <a:off x="1643316" y="9337485"/>
              <a:ext cx="451732" cy="351530"/>
            </a:xfrm>
            <a:custGeom>
              <a:avLst/>
              <a:gdLst/>
              <a:ahLst/>
              <a:cxnLst/>
              <a:rect l="l" t="t" r="r" b="b"/>
              <a:pathLst>
                <a:path w="451732" h="351530">
                  <a:moveTo>
                    <a:pt x="0" y="0"/>
                  </a:moveTo>
                  <a:lnTo>
                    <a:pt x="451732" y="0"/>
                  </a:lnTo>
                  <a:lnTo>
                    <a:pt x="451732" y="351530"/>
                  </a:lnTo>
                  <a:lnTo>
                    <a:pt x="0" y="351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70000"/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C9446011-E57F-D06A-4D01-4B8CC4061BDF}"/>
                </a:ext>
              </a:extLst>
            </p:cNvPr>
            <p:cNvSpPr/>
            <p:nvPr/>
          </p:nvSpPr>
          <p:spPr>
            <a:xfrm>
              <a:off x="2746457" y="9258300"/>
              <a:ext cx="186592" cy="466481"/>
            </a:xfrm>
            <a:custGeom>
              <a:avLst/>
              <a:gdLst/>
              <a:ahLst/>
              <a:cxnLst/>
              <a:rect l="l" t="t" r="r" b="b"/>
              <a:pathLst>
                <a:path w="186592" h="466481">
                  <a:moveTo>
                    <a:pt x="0" y="0"/>
                  </a:moveTo>
                  <a:lnTo>
                    <a:pt x="186592" y="0"/>
                  </a:lnTo>
                  <a:lnTo>
                    <a:pt x="186592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70000"/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0962860F-E98A-76AD-D81F-77AC5F54FDA3}"/>
                </a:ext>
              </a:extLst>
            </p:cNvPr>
            <p:cNvSpPr/>
            <p:nvPr/>
          </p:nvSpPr>
          <p:spPr>
            <a:xfrm>
              <a:off x="4404956" y="9294066"/>
              <a:ext cx="397115" cy="394949"/>
            </a:xfrm>
            <a:custGeom>
              <a:avLst/>
              <a:gdLst/>
              <a:ahLst/>
              <a:cxnLst/>
              <a:rect l="l" t="t" r="r" b="b"/>
              <a:pathLst>
                <a:path w="397115" h="394949">
                  <a:moveTo>
                    <a:pt x="0" y="0"/>
                  </a:moveTo>
                  <a:lnTo>
                    <a:pt x="397115" y="0"/>
                  </a:lnTo>
                  <a:lnTo>
                    <a:pt x="397115" y="394949"/>
                  </a:lnTo>
                  <a:lnTo>
                    <a:pt x="0" y="394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70000"/>
                <a:extLs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2084D276-E715-8AA9-2BD4-178F5CED3B08}"/>
                </a:ext>
              </a:extLst>
            </p:cNvPr>
            <p:cNvSpPr/>
            <p:nvPr/>
          </p:nvSpPr>
          <p:spPr>
            <a:xfrm>
              <a:off x="3584458" y="9258300"/>
              <a:ext cx="170477" cy="466481"/>
            </a:xfrm>
            <a:custGeom>
              <a:avLst/>
              <a:gdLst/>
              <a:ahLst/>
              <a:cxnLst/>
              <a:rect l="l" t="t" r="r" b="b"/>
              <a:pathLst>
                <a:path w="170477" h="466481">
                  <a:moveTo>
                    <a:pt x="0" y="0"/>
                  </a:moveTo>
                  <a:lnTo>
                    <a:pt x="170478" y="0"/>
                  </a:lnTo>
                  <a:lnTo>
                    <a:pt x="170478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70000"/>
                <a:extLst>
                  <a:ext uri="{96DAC541-7B7A-43D3-8B79-37D633B846F1}">
                    <asvg:svgBlip xmlns:asvg="http://schemas.microsoft.com/office/drawing/2016/SVG/main" xmlns="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DBBA5E7C-F1E2-780D-F16F-10D603586C2F}"/>
                </a:ext>
              </a:extLst>
            </p:cNvPr>
            <p:cNvSpPr/>
            <p:nvPr/>
          </p:nvSpPr>
          <p:spPr>
            <a:xfrm>
              <a:off x="9546711" y="9315775"/>
              <a:ext cx="364703" cy="466481"/>
            </a:xfrm>
            <a:custGeom>
              <a:avLst/>
              <a:gdLst/>
              <a:ahLst/>
              <a:cxnLst/>
              <a:rect l="l" t="t" r="r" b="b"/>
              <a:pathLst>
                <a:path w="364703" h="466481">
                  <a:moveTo>
                    <a:pt x="0" y="0"/>
                  </a:moveTo>
                  <a:lnTo>
                    <a:pt x="364703" y="0"/>
                  </a:lnTo>
                  <a:lnTo>
                    <a:pt x="364703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70000"/>
                <a:extLst>
                  <a:ext uri="{96DAC541-7B7A-43D3-8B79-37D633B846F1}">
                    <asvg:svgBlip xmlns:asvg="http://schemas.microsoft.com/office/drawing/2016/SVG/main" xmlns="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05C290CE-9FC6-05FE-7142-CA3366F90A44}"/>
                </a:ext>
              </a:extLst>
            </p:cNvPr>
            <p:cNvSpPr/>
            <p:nvPr/>
          </p:nvSpPr>
          <p:spPr>
            <a:xfrm>
              <a:off x="10562823" y="9384996"/>
              <a:ext cx="462620" cy="328040"/>
            </a:xfrm>
            <a:custGeom>
              <a:avLst/>
              <a:gdLst/>
              <a:ahLst/>
              <a:cxnLst/>
              <a:rect l="l" t="t" r="r" b="b"/>
              <a:pathLst>
                <a:path w="462620" h="328040">
                  <a:moveTo>
                    <a:pt x="0" y="0"/>
                  </a:moveTo>
                  <a:lnTo>
                    <a:pt x="462621" y="0"/>
                  </a:lnTo>
                  <a:lnTo>
                    <a:pt x="462621" y="328040"/>
                  </a:lnTo>
                  <a:lnTo>
                    <a:pt x="0" y="328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5337929B-E591-6D93-7878-F1C0902BA0EA}"/>
                </a:ext>
              </a:extLst>
            </p:cNvPr>
            <p:cNvSpPr/>
            <p:nvPr/>
          </p:nvSpPr>
          <p:spPr>
            <a:xfrm>
              <a:off x="764210" y="9305727"/>
              <a:ext cx="433615" cy="420212"/>
            </a:xfrm>
            <a:custGeom>
              <a:avLst/>
              <a:gdLst/>
              <a:ahLst/>
              <a:cxnLst/>
              <a:rect l="l" t="t" r="r" b="b"/>
              <a:pathLst>
                <a:path w="433615" h="420212">
                  <a:moveTo>
                    <a:pt x="0" y="0"/>
                  </a:moveTo>
                  <a:lnTo>
                    <a:pt x="433615" y="0"/>
                  </a:lnTo>
                  <a:lnTo>
                    <a:pt x="433615" y="420212"/>
                  </a:lnTo>
                  <a:lnTo>
                    <a:pt x="0" y="420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alphaModFix amt="70000"/>
                <a:extLst>
                  <a:ext uri="{96DAC541-7B7A-43D3-8B79-37D633B846F1}">
                    <asvg:svgBlip xmlns:asvg="http://schemas.microsoft.com/office/drawing/2016/SVG/main" xmlns="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4E54ACCA-6917-D39D-624D-DA25A4B94701}"/>
                </a:ext>
              </a:extLst>
            </p:cNvPr>
            <p:cNvSpPr/>
            <p:nvPr/>
          </p:nvSpPr>
          <p:spPr>
            <a:xfrm>
              <a:off x="11676853" y="9304394"/>
              <a:ext cx="472494" cy="466481"/>
            </a:xfrm>
            <a:custGeom>
              <a:avLst/>
              <a:gdLst/>
              <a:ahLst/>
              <a:cxnLst/>
              <a:rect l="l" t="t" r="r" b="b"/>
              <a:pathLst>
                <a:path w="472494" h="466481">
                  <a:moveTo>
                    <a:pt x="0" y="0"/>
                  </a:moveTo>
                  <a:lnTo>
                    <a:pt x="472494" y="0"/>
                  </a:lnTo>
                  <a:lnTo>
                    <a:pt x="472494" y="466480"/>
                  </a:lnTo>
                  <a:lnTo>
                    <a:pt x="0" y="46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70000"/>
                <a:extLst>
                  <a:ext uri="{96DAC541-7B7A-43D3-8B79-37D633B846F1}">
                    <asvg:svgBlip xmlns:asvg="http://schemas.microsoft.com/office/drawing/2016/SVG/main" xmlns="" r:embed="rId2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04D733A1-BA93-F667-5AD4-50CC208C974C}"/>
                </a:ext>
              </a:extLst>
            </p:cNvPr>
            <p:cNvSpPr/>
            <p:nvPr/>
          </p:nvSpPr>
          <p:spPr>
            <a:xfrm>
              <a:off x="5453480" y="9315775"/>
              <a:ext cx="349436" cy="466481"/>
            </a:xfrm>
            <a:custGeom>
              <a:avLst/>
              <a:gdLst/>
              <a:ahLst/>
              <a:cxnLst/>
              <a:rect l="l" t="t" r="r" b="b"/>
              <a:pathLst>
                <a:path w="349436" h="466481">
                  <a:moveTo>
                    <a:pt x="0" y="0"/>
                  </a:moveTo>
                  <a:lnTo>
                    <a:pt x="349436" y="0"/>
                  </a:lnTo>
                  <a:lnTo>
                    <a:pt x="349436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DFA218FD-8422-AFF1-D11C-80AC8231F48C}"/>
                </a:ext>
              </a:extLst>
            </p:cNvPr>
            <p:cNvSpPr/>
            <p:nvPr/>
          </p:nvSpPr>
          <p:spPr>
            <a:xfrm>
              <a:off x="12797047" y="9342632"/>
              <a:ext cx="480625" cy="346924"/>
            </a:xfrm>
            <a:custGeom>
              <a:avLst/>
              <a:gdLst/>
              <a:ahLst/>
              <a:cxnLst/>
              <a:rect l="l" t="t" r="r" b="b"/>
              <a:pathLst>
                <a:path w="480625" h="346924">
                  <a:moveTo>
                    <a:pt x="0" y="0"/>
                  </a:moveTo>
                  <a:lnTo>
                    <a:pt x="480625" y="0"/>
                  </a:lnTo>
                  <a:lnTo>
                    <a:pt x="480625" y="346924"/>
                  </a:lnTo>
                  <a:lnTo>
                    <a:pt x="0" y="346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11BC9CC8-AA7D-4DF0-29D9-FFF1E0931E27}"/>
                </a:ext>
              </a:extLst>
            </p:cNvPr>
            <p:cNvSpPr/>
            <p:nvPr/>
          </p:nvSpPr>
          <p:spPr>
            <a:xfrm>
              <a:off x="13976992" y="9265699"/>
              <a:ext cx="334163" cy="500789"/>
            </a:xfrm>
            <a:custGeom>
              <a:avLst/>
              <a:gdLst/>
              <a:ahLst/>
              <a:cxnLst/>
              <a:rect l="l" t="t" r="r" b="b"/>
              <a:pathLst>
                <a:path w="334163" h="500789">
                  <a:moveTo>
                    <a:pt x="0" y="0"/>
                  </a:moveTo>
                  <a:lnTo>
                    <a:pt x="334163" y="0"/>
                  </a:lnTo>
                  <a:lnTo>
                    <a:pt x="334163" y="500789"/>
                  </a:lnTo>
                  <a:lnTo>
                    <a:pt x="0" y="500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78A8D49C-1039-77A0-D772-E22FAEF249C8}"/>
                </a:ext>
              </a:extLst>
            </p:cNvPr>
            <p:cNvSpPr/>
            <p:nvPr/>
          </p:nvSpPr>
          <p:spPr>
            <a:xfrm>
              <a:off x="15010474" y="9312172"/>
              <a:ext cx="407081" cy="429740"/>
            </a:xfrm>
            <a:custGeom>
              <a:avLst/>
              <a:gdLst/>
              <a:ahLst/>
              <a:cxnLst/>
              <a:rect l="l" t="t" r="r" b="b"/>
              <a:pathLst>
                <a:path w="407081" h="429740">
                  <a:moveTo>
                    <a:pt x="0" y="0"/>
                  </a:moveTo>
                  <a:lnTo>
                    <a:pt x="407080" y="0"/>
                  </a:lnTo>
                  <a:lnTo>
                    <a:pt x="407080" y="429739"/>
                  </a:lnTo>
                  <a:lnTo>
                    <a:pt x="0" y="429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359BC2BF-655C-C114-3A14-9AD8AB7BAAA3}"/>
                </a:ext>
              </a:extLst>
            </p:cNvPr>
            <p:cNvSpPr/>
            <p:nvPr/>
          </p:nvSpPr>
          <p:spPr>
            <a:xfrm>
              <a:off x="17207719" y="9363177"/>
              <a:ext cx="496645" cy="352167"/>
            </a:xfrm>
            <a:custGeom>
              <a:avLst/>
              <a:gdLst/>
              <a:ahLst/>
              <a:cxnLst/>
              <a:rect l="l" t="t" r="r" b="b"/>
              <a:pathLst>
                <a:path w="496645" h="352167">
                  <a:moveTo>
                    <a:pt x="0" y="0"/>
                  </a:moveTo>
                  <a:lnTo>
                    <a:pt x="496645" y="0"/>
                  </a:lnTo>
                  <a:lnTo>
                    <a:pt x="496645" y="352167"/>
                  </a:lnTo>
                  <a:lnTo>
                    <a:pt x="0" y="352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23">
              <a:extLst>
                <a:ext uri="{FF2B5EF4-FFF2-40B4-BE49-F238E27FC236}">
                  <a16:creationId xmlns:a16="http://schemas.microsoft.com/office/drawing/2014/main" id="{5E594C22-9F18-541D-B880-CC56E2EBA2ED}"/>
                </a:ext>
              </a:extLst>
            </p:cNvPr>
            <p:cNvSpPr/>
            <p:nvPr/>
          </p:nvSpPr>
          <p:spPr>
            <a:xfrm>
              <a:off x="16125068" y="9288865"/>
              <a:ext cx="375137" cy="500789"/>
            </a:xfrm>
            <a:custGeom>
              <a:avLst/>
              <a:gdLst/>
              <a:ahLst/>
              <a:cxnLst/>
              <a:rect l="l" t="t" r="r" b="b"/>
              <a:pathLst>
                <a:path w="375137" h="500789">
                  <a:moveTo>
                    <a:pt x="0" y="0"/>
                  </a:moveTo>
                  <a:lnTo>
                    <a:pt x="375137" y="0"/>
                  </a:lnTo>
                  <a:lnTo>
                    <a:pt x="375137" y="500790"/>
                  </a:lnTo>
                  <a:lnTo>
                    <a:pt x="0" y="500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21" name="Рисунок 2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754936" y="1028700"/>
            <a:ext cx="12856664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07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091626"/>
              </p:ext>
            </p:extLst>
          </p:nvPr>
        </p:nvGraphicFramePr>
        <p:xfrm>
          <a:off x="742951" y="495300"/>
          <a:ext cx="16802098" cy="9216514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75121">
                  <a:extLst>
                    <a:ext uri="{9D8B030D-6E8A-4147-A177-3AD203B41FA5}">
                      <a16:colId xmlns:a16="http://schemas.microsoft.com/office/drawing/2014/main" val="1290907960"/>
                    </a:ext>
                  </a:extLst>
                </a:gridCol>
                <a:gridCol w="5325665">
                  <a:extLst>
                    <a:ext uri="{9D8B030D-6E8A-4147-A177-3AD203B41FA5}">
                      <a16:colId xmlns:a16="http://schemas.microsoft.com/office/drawing/2014/main" val="392593512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3743107676"/>
                    </a:ext>
                  </a:extLst>
                </a:gridCol>
                <a:gridCol w="1897497">
                  <a:extLst>
                    <a:ext uri="{9D8B030D-6E8A-4147-A177-3AD203B41FA5}">
                      <a16:colId xmlns:a16="http://schemas.microsoft.com/office/drawing/2014/main" val="1849628725"/>
                    </a:ext>
                  </a:extLst>
                </a:gridCol>
                <a:gridCol w="1327905">
                  <a:extLst>
                    <a:ext uri="{9D8B030D-6E8A-4147-A177-3AD203B41FA5}">
                      <a16:colId xmlns:a16="http://schemas.microsoft.com/office/drawing/2014/main" val="2939318548"/>
                    </a:ext>
                  </a:extLst>
                </a:gridCol>
                <a:gridCol w="825103">
                  <a:extLst>
                    <a:ext uri="{9D8B030D-6E8A-4147-A177-3AD203B41FA5}">
                      <a16:colId xmlns:a16="http://schemas.microsoft.com/office/drawing/2014/main" val="3463699158"/>
                    </a:ext>
                  </a:extLst>
                </a:gridCol>
                <a:gridCol w="825103">
                  <a:extLst>
                    <a:ext uri="{9D8B030D-6E8A-4147-A177-3AD203B41FA5}">
                      <a16:colId xmlns:a16="http://schemas.microsoft.com/office/drawing/2014/main" val="4080436693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3180504922"/>
                    </a:ext>
                  </a:extLst>
                </a:gridCol>
                <a:gridCol w="1275160">
                  <a:extLst>
                    <a:ext uri="{9D8B030D-6E8A-4147-A177-3AD203B41FA5}">
                      <a16:colId xmlns:a16="http://schemas.microsoft.com/office/drawing/2014/main" val="2948563326"/>
                    </a:ext>
                  </a:extLst>
                </a:gridCol>
                <a:gridCol w="830927">
                  <a:extLst>
                    <a:ext uri="{9D8B030D-6E8A-4147-A177-3AD203B41FA5}">
                      <a16:colId xmlns:a16="http://schemas.microsoft.com/office/drawing/2014/main" val="2013506287"/>
                    </a:ext>
                  </a:extLst>
                </a:gridCol>
                <a:gridCol w="1419355">
                  <a:extLst>
                    <a:ext uri="{9D8B030D-6E8A-4147-A177-3AD203B41FA5}">
                      <a16:colId xmlns:a16="http://schemas.microsoft.com/office/drawing/2014/main" val="2195336640"/>
                    </a:ext>
                  </a:extLst>
                </a:gridCol>
              </a:tblGrid>
              <a:tr h="520352"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i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2250</a:t>
                      </a: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ru-RU" sz="2000" b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ЗАБОЛЕВАНИЯ И ПРИЧИНЫ СМЕРТИ НОВОРОЖДЕННЫХ (ПЛОДОВ), РОДИВШИХСЯ С МАССОЙ ТЕЛА 500-999 ГРАММ</a:t>
                      </a:r>
                      <a:endParaRPr lang="ru-RU" sz="2000" b="1" i="0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ru-RU" sz="2000" b="1" u="none" strike="noStrike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ЗАБОЛЕВАНИЯ И ПРИЧИНЫ СМЕРТИ НОВОРОЖДЕННЫХ (ПЛОДОВ), РОДИВШИХСЯ С МАССОЙ ТЕЛА 500-999 ГРАММ</a:t>
                      </a:r>
                      <a:endParaRPr lang="ru-RU" sz="2000" b="1" i="0" u="none" strike="noStrike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514235"/>
                  </a:ext>
                </a:extLst>
              </a:tr>
              <a:tr h="208372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Наименование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№ строки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Шифр по МКБ Х пересмотра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Родились  больными и заболело 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из них умерли      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Родились мертвыми</a:t>
                      </a:r>
                      <a:endParaRPr lang="ru-RU" sz="1400" b="1" i="0" u="none" strike="noStrike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77981"/>
                  </a:ext>
                </a:extLst>
              </a:tr>
              <a:tr h="412881">
                <a:tc gridSpan="2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Всего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0-6 суток 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7-27 суток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28 суток и более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Всего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 т.ч. антенатально</a:t>
                      </a:r>
                      <a:endParaRPr lang="ru-RU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335365"/>
                  </a:ext>
                </a:extLst>
              </a:tr>
              <a:tr h="27029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А</a:t>
                      </a: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Б</a:t>
                      </a: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</a:t>
                      </a: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4030" marR="4030" marT="403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161931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Всего детей 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625837"/>
                  </a:ext>
                </a:extLst>
              </a:tr>
              <a:tr h="60469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число заболеваний: у них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A50, J00-06, J20-J22, J12-18, L00-L08,Q00-Q99,P00-P96, T20-T50,T70-Т74,T80, T81.2</a:t>
                      </a:r>
                      <a:endParaRPr lang="fr-FR" sz="105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313916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Острые респираторные инфекции 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2.0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J00-06, J20-J22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879356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Пневмония 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3.0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J12-J18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732619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Инфекции кожи и подкожной клетчатки 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4.0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L00-L08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68979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Врожденные аномалии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5.0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Q00-Q99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258071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Отдельные состояния, возникающие в перинатальном периоде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6.0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P00-P96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497653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из них: замедленный рост и недостаточность питания плода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7.0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P05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140916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Родовые травмы из них: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8.0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P10-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Р15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592331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внутричерепная родовая травма 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8.1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P10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336934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Внутриутробная гипоксия и асфиксия при рождении 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9.0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P20, P21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93353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Синдром дыхательных расстройств 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10.0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P22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864797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Врожденные пневмонии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11.0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P23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823713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Неонатальные синдромы аспирации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12.0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P24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981813"/>
                  </a:ext>
                </a:extLst>
              </a:tr>
              <a:tr h="41288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Другие респираторные нарушения, </a:t>
                      </a:r>
                    </a:p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возникающие в перинатальном периоде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13.0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 Р25-</a:t>
                      </a:r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P29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96362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Инфекции, специфичные для перинатального периода 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14.0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Р35, Р37-Р39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827597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бактериальная инфекция новорожденных 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15.0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Р36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446356"/>
                  </a:ext>
                </a:extLst>
              </a:tr>
              <a:tr h="41288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Геморрагические и гематологические нарушения у плода и новорожденного, из них: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16.0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P50-</a:t>
                      </a:r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Р61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459631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Внутрижелудочковое кровоизлияние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16.1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P52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176973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Геморрагическая болезнь плода и новорожденного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16.2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P53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552393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Гемолитическая болезнь плода и новорожденного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16.3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P55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98977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Желтухи новорожденного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16.4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P58-P59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454472"/>
                  </a:ext>
                </a:extLst>
              </a:tr>
              <a:tr h="336792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Расстройства системы пищеварения у плода и новорожденного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17.0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Р75-Р78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524603"/>
                  </a:ext>
                </a:extLst>
              </a:tr>
              <a:tr h="41288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Состояния, вовлекающие наружные покровы </a:t>
                      </a:r>
                    </a:p>
                    <a:p>
                      <a:pPr algn="ctr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и терморегуляцию плода и новорожденного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18.0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Р80-Р83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293143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Другие нарушения, возникающие в перинатальном периоде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19.0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Р90-Р96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052305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Прочие болезни новорожденного (расшифровать)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20.0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А50, </a:t>
                      </a: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T20-T50, T70-</a:t>
                      </a:r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Т74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688394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в том числе сифилис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20.1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А50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30" marR="4030" marT="40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5227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600700"/>
            <a:ext cx="7277100" cy="38862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485900"/>
            <a:ext cx="6668431" cy="341042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538" y="1485900"/>
            <a:ext cx="7716327" cy="344853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5460" y="5618328"/>
            <a:ext cx="7220958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9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245596"/>
              </p:ext>
            </p:extLst>
          </p:nvPr>
        </p:nvGraphicFramePr>
        <p:xfrm>
          <a:off x="685800" y="495300"/>
          <a:ext cx="16916400" cy="9133523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{D113A9D2-9D6B-4929-AA2D-F23B5EE8CBE7}</a:tableStyleId>
              </a:tblPr>
              <a:tblGrid>
                <a:gridCol w="6019796">
                  <a:extLst>
                    <a:ext uri="{9D8B030D-6E8A-4147-A177-3AD203B41FA5}">
                      <a16:colId xmlns:a16="http://schemas.microsoft.com/office/drawing/2014/main" val="258875957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92266342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82488252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3222325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84179193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90480410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25954241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83099441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120548760"/>
                    </a:ext>
                  </a:extLst>
                </a:gridCol>
                <a:gridCol w="990604">
                  <a:extLst>
                    <a:ext uri="{9D8B030D-6E8A-4147-A177-3AD203B41FA5}">
                      <a16:colId xmlns:a16="http://schemas.microsoft.com/office/drawing/2014/main" val="3384215826"/>
                    </a:ext>
                  </a:extLst>
                </a:gridCol>
              </a:tblGrid>
              <a:tr h="3048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Наименование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№ строки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Шифр по МКБ Х- пересмотра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Всего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из них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5770"/>
                  </a:ext>
                </a:extLst>
              </a:tr>
              <a:tr h="37402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у женщин в возрасте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по срокам беременности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032786"/>
                  </a:ext>
                </a:extLst>
              </a:tr>
              <a:tr h="74536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до 15 лет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15- 18 лет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19- 34 лет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35 лет и старше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до 12 недель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13-21 недель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17755"/>
                  </a:ext>
                </a:extLst>
              </a:tr>
              <a:tr h="18835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А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Б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В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  <a:endParaRPr lang="ru-RU" sz="1400" b="1" i="1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1" u="none" strike="noStrike" dirty="0"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  <a:endParaRPr lang="ru-RU" sz="1400" b="1" i="1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80991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Всего абортов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О02-О07, 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Z30.3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630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из них: самопроизвольные аборты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О02-</a:t>
                      </a: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O03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3923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медицинские аборты до 12 недель (кюретаж)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 04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3938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мини-аборты (вакуум аспирация)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Z30.3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11522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из них: медикаментозный аборт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4.1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04327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аборты по медицинским показаниям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 05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60619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аборты искусственные (по социальным показаниям)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6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O06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6903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криминальные аборты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7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O07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638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Из общего числа, аборты у первобеременных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3763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Осложнения, вызванные абортом, всего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9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O08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81212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в том числе: перфорация матки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10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O08.6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646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кровотечения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11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O08.1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45779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инфекции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12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O08.0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11282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прочие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13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О08.2-О08.5, О08.7-О08.9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2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Число женщин, умерших после аборта, всего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14</a:t>
                      </a:r>
                      <a:endParaRPr lang="ru-RU" sz="1400" b="1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41804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из них: от кровотечения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15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O08.1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29385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эклампсии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16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O15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39603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разрыва матки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17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O08.6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3344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сепсиса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18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O08.0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54842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акушерской эмболии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19</a:t>
                      </a:r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O08.2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410753"/>
                  </a:ext>
                </a:extLst>
              </a:tr>
              <a:tr h="583089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прочих причин (тромбоэмболия, наркозные осложнения, анафилактический шок, гемотрансфузионный шок и другие)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20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О08.3-О08.5, О08.7-О08.8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689827"/>
                  </a:ext>
                </a:extLst>
              </a:tr>
              <a:tr h="374024"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от экстрагенитальной патологии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21</a:t>
                      </a:r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O98-O99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082" marR="3082" marT="308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9602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104900"/>
            <a:ext cx="7315200" cy="83058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073624"/>
            <a:ext cx="7278169" cy="856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302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4BDFCFBF-A558-1268-35CB-928D9E05CE3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16275772"/>
              </p:ext>
            </p:extLst>
          </p:nvPr>
        </p:nvGraphicFramePr>
        <p:xfrm>
          <a:off x="838200" y="723900"/>
          <a:ext cx="16611600" cy="283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00">
                  <a:extLst>
                    <a:ext uri="{9D8B030D-6E8A-4147-A177-3AD203B41FA5}">
                      <a16:colId xmlns:a16="http://schemas.microsoft.com/office/drawing/2014/main" val="70742443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2858075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3522285631"/>
                    </a:ext>
                  </a:extLst>
                </a:gridCol>
              </a:tblGrid>
              <a:tr h="5334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entury Gothic" panose="020B0502020202020204" pitchFamily="34" charset="0"/>
                        </a:rPr>
                        <a:t>МЕЖФОРМЕННЫЙ КОНТРОЛЬ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45564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latin typeface="Century Gothic" panose="020B0502020202020204" pitchFamily="34" charset="0"/>
                        </a:rPr>
                        <a:t>03,14,2400,1,01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latin typeface="Century Gothic" panose="020B0502020202020204" pitchFamily="34" charset="0"/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Century Gothic" panose="020B0502020202020204" pitchFamily="34" charset="0"/>
                        </a:rPr>
                        <a:t>32,2212,19,01+02+03+04-32,2213,1,05*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66958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27,14,2000,170,03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>
                          <a:latin typeface="Century Gothic" panose="020B0502020202020204" pitchFamily="34" charset="0"/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32,2212,19,01П04-32,2213,1,05*</a:t>
                      </a:r>
                      <a:endParaRPr lang="ru-RU" sz="14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69918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27,32,2247,1,01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>
                          <a:latin typeface="Century Gothic" panose="020B0502020202020204" pitchFamily="34" charset="0"/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14,2100,1,02*</a:t>
                      </a:r>
                      <a:endParaRPr lang="ru-RU" sz="14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99356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27,14,2200,1,01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>
                          <a:latin typeface="Century Gothic" panose="020B0502020202020204" pitchFamily="34" charset="0"/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32,2250,10,03+32,2260,10,03+32,2270,10,03+32,2280,10,05</a:t>
                      </a:r>
                      <a:endParaRPr lang="ru-RU" sz="14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778936"/>
                  </a:ext>
                </a:extLst>
              </a:tr>
            </a:tbl>
          </a:graphicData>
        </a:graphic>
      </p:graphicFrame>
      <p:graphicFrame>
        <p:nvGraphicFramePr>
          <p:cNvPr id="7" name="Объект 5">
            <a:extLst>
              <a:ext uri="{FF2B5EF4-FFF2-40B4-BE49-F238E27FC236}">
                <a16:creationId xmlns:a16="http://schemas.microsoft.com/office/drawing/2014/main" id="{2492C8CE-01C4-1794-FF42-7952B6A995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1217433"/>
              </p:ext>
            </p:extLst>
          </p:nvPr>
        </p:nvGraphicFramePr>
        <p:xfrm>
          <a:off x="838200" y="3771900"/>
          <a:ext cx="16611600" cy="4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00">
                  <a:extLst>
                    <a:ext uri="{9D8B030D-6E8A-4147-A177-3AD203B41FA5}">
                      <a16:colId xmlns:a16="http://schemas.microsoft.com/office/drawing/2014/main" val="70742443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285807530"/>
                    </a:ext>
                  </a:extLst>
                </a:gridCol>
                <a:gridCol w="7848600">
                  <a:extLst>
                    <a:ext uri="{9D8B030D-6E8A-4147-A177-3AD203B41FA5}">
                      <a16:colId xmlns:a16="http://schemas.microsoft.com/office/drawing/2014/main" val="3522285631"/>
                    </a:ext>
                  </a:extLst>
                </a:gridCol>
              </a:tblGrid>
              <a:tr h="5334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entury Gothic" panose="020B0502020202020204" pitchFamily="34" charset="0"/>
                        </a:rPr>
                        <a:t>ВНУТРИФОРМЕННЫЙ КОНТРОЛЬ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45564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03,32,2210,1:2,09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entury Gothic" panose="020B0502020202020204" pitchFamily="34" charset="0"/>
                        </a:rPr>
                        <a:t>&gt;</a:t>
                      </a:r>
                      <a:endParaRPr lang="ru-RU" b="1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Century Gothic" panose="020B0502020202020204" pitchFamily="34" charset="0"/>
                        </a:rPr>
                        <a:t>32,2210,1:2,10*</a:t>
                      </a:r>
                      <a:endParaRPr lang="ru-RU" sz="14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66958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04,32,2245,2,01:06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entury Gothic" panose="020B0502020202020204" pitchFamily="34" charset="0"/>
                        </a:rPr>
                        <a:t>&gt;</a:t>
                      </a:r>
                      <a:endParaRPr lang="ru-RU" b="1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Century Gothic" panose="020B0502020202020204" pitchFamily="34" charset="0"/>
                        </a:rPr>
                        <a:t>32,2245,4,01:06*</a:t>
                      </a:r>
                      <a:endParaRPr lang="ru-RU" sz="14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69918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04,32,3000,10,01:07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entury Gothic" panose="020B0502020202020204" pitchFamily="34" charset="0"/>
                        </a:rPr>
                        <a:t>&gt;</a:t>
                      </a:r>
                      <a:endParaRPr lang="ru-RU" b="1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Century Gothic" panose="020B0502020202020204" pitchFamily="34" charset="0"/>
                        </a:rPr>
                        <a:t>32,3000,80,01:07</a:t>
                      </a:r>
                      <a:endParaRPr lang="ru-RU" sz="14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99356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03,32,2210,1:2,09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entury Gothic" panose="020B0502020202020204" pitchFamily="34" charset="0"/>
                        </a:rPr>
                        <a:t>&gt;</a:t>
                      </a:r>
                      <a:endParaRPr lang="ru-RU" b="1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32,2210,1:2,10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77893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04,32,3000,10,01:07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entury Gothic" panose="020B0502020202020204" pitchFamily="34" charset="0"/>
                        </a:rPr>
                        <a:t>&gt;</a:t>
                      </a:r>
                      <a:endParaRPr lang="ru-RU" b="1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32,3000,140,01:07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29346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04,32,2245,2,01:06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entury Gothic" panose="020B0502020202020204" pitchFamily="34" charset="0"/>
                        </a:rPr>
                        <a:t>&gt;</a:t>
                      </a:r>
                      <a:endParaRPr lang="ru-RU" b="1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32,2245,4,01:06*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11142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03,32,2110,2,02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entury Gothic" panose="020B0502020202020204" pitchFamily="34" charset="0"/>
                        </a:rPr>
                        <a:t>&gt;</a:t>
                      </a:r>
                      <a:endParaRPr lang="ru-RU" b="1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32,2110,2,03*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667300"/>
                  </a:ext>
                </a:extLst>
              </a:tr>
            </a:tbl>
          </a:graphicData>
        </a:graphic>
      </p:graphicFrame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1247292-F3B4-2E04-62B4-C149D6E3DECB}"/>
              </a:ext>
            </a:extLst>
          </p:cNvPr>
          <p:cNvGrpSpPr/>
          <p:nvPr/>
        </p:nvGrpSpPr>
        <p:grpSpPr>
          <a:xfrm>
            <a:off x="764210" y="9258300"/>
            <a:ext cx="16940154" cy="531354"/>
            <a:chOff x="764210" y="9258300"/>
            <a:chExt cx="16940154" cy="531354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378AEE3B-9993-2103-72F1-E28A15DB3114}"/>
                </a:ext>
              </a:extLst>
            </p:cNvPr>
            <p:cNvSpPr/>
            <p:nvPr/>
          </p:nvSpPr>
          <p:spPr>
            <a:xfrm>
              <a:off x="6454325" y="9365858"/>
              <a:ext cx="447698" cy="323157"/>
            </a:xfrm>
            <a:custGeom>
              <a:avLst/>
              <a:gdLst/>
              <a:ahLst/>
              <a:cxnLst/>
              <a:rect l="l" t="t" r="r" b="b"/>
              <a:pathLst>
                <a:path w="447698" h="323157">
                  <a:moveTo>
                    <a:pt x="0" y="0"/>
                  </a:moveTo>
                  <a:lnTo>
                    <a:pt x="447698" y="0"/>
                  </a:lnTo>
                  <a:lnTo>
                    <a:pt x="447698" y="323157"/>
                  </a:lnTo>
                  <a:lnTo>
                    <a:pt x="0" y="323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6361EAB4-3D6B-F281-1189-A9B2386A6767}"/>
                </a:ext>
              </a:extLst>
            </p:cNvPr>
            <p:cNvSpPr/>
            <p:nvPr/>
          </p:nvSpPr>
          <p:spPr>
            <a:xfrm>
              <a:off x="7553432" y="9294196"/>
              <a:ext cx="311270" cy="466481"/>
            </a:xfrm>
            <a:custGeom>
              <a:avLst/>
              <a:gdLst/>
              <a:ahLst/>
              <a:cxnLst/>
              <a:rect l="l" t="t" r="r" b="b"/>
              <a:pathLst>
                <a:path w="311270" h="466481">
                  <a:moveTo>
                    <a:pt x="0" y="0"/>
                  </a:moveTo>
                  <a:lnTo>
                    <a:pt x="311270" y="0"/>
                  </a:lnTo>
                  <a:lnTo>
                    <a:pt x="311270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687F3A0D-3CD2-2BBC-60C2-7A8A44EC64F5}"/>
                </a:ext>
              </a:extLst>
            </p:cNvPr>
            <p:cNvSpPr/>
            <p:nvPr/>
          </p:nvSpPr>
          <p:spPr>
            <a:xfrm>
              <a:off x="8516111" y="9337485"/>
              <a:ext cx="379192" cy="400298"/>
            </a:xfrm>
            <a:custGeom>
              <a:avLst/>
              <a:gdLst/>
              <a:ahLst/>
              <a:cxnLst/>
              <a:rect l="l" t="t" r="r" b="b"/>
              <a:pathLst>
                <a:path w="379192" h="400298">
                  <a:moveTo>
                    <a:pt x="0" y="0"/>
                  </a:moveTo>
                  <a:lnTo>
                    <a:pt x="379191" y="0"/>
                  </a:lnTo>
                  <a:lnTo>
                    <a:pt x="379191" y="400298"/>
                  </a:lnTo>
                  <a:lnTo>
                    <a:pt x="0" y="400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DE2AAD81-D0EE-FCF9-86AB-C960A4821EDE}"/>
                </a:ext>
              </a:extLst>
            </p:cNvPr>
            <p:cNvSpPr/>
            <p:nvPr/>
          </p:nvSpPr>
          <p:spPr>
            <a:xfrm>
              <a:off x="1643316" y="9337485"/>
              <a:ext cx="451732" cy="351530"/>
            </a:xfrm>
            <a:custGeom>
              <a:avLst/>
              <a:gdLst/>
              <a:ahLst/>
              <a:cxnLst/>
              <a:rect l="l" t="t" r="r" b="b"/>
              <a:pathLst>
                <a:path w="451732" h="351530">
                  <a:moveTo>
                    <a:pt x="0" y="0"/>
                  </a:moveTo>
                  <a:lnTo>
                    <a:pt x="451732" y="0"/>
                  </a:lnTo>
                  <a:lnTo>
                    <a:pt x="451732" y="351530"/>
                  </a:lnTo>
                  <a:lnTo>
                    <a:pt x="0" y="351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70000"/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C4592FBE-D7F2-DE02-B430-A50680516FBC}"/>
                </a:ext>
              </a:extLst>
            </p:cNvPr>
            <p:cNvSpPr/>
            <p:nvPr/>
          </p:nvSpPr>
          <p:spPr>
            <a:xfrm>
              <a:off x="2746457" y="9258300"/>
              <a:ext cx="186592" cy="466481"/>
            </a:xfrm>
            <a:custGeom>
              <a:avLst/>
              <a:gdLst/>
              <a:ahLst/>
              <a:cxnLst/>
              <a:rect l="l" t="t" r="r" b="b"/>
              <a:pathLst>
                <a:path w="186592" h="466481">
                  <a:moveTo>
                    <a:pt x="0" y="0"/>
                  </a:moveTo>
                  <a:lnTo>
                    <a:pt x="186592" y="0"/>
                  </a:lnTo>
                  <a:lnTo>
                    <a:pt x="186592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70000"/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AA487C76-690D-E252-134D-C086DDB51A8F}"/>
                </a:ext>
              </a:extLst>
            </p:cNvPr>
            <p:cNvSpPr/>
            <p:nvPr/>
          </p:nvSpPr>
          <p:spPr>
            <a:xfrm>
              <a:off x="4404956" y="9294066"/>
              <a:ext cx="397115" cy="394949"/>
            </a:xfrm>
            <a:custGeom>
              <a:avLst/>
              <a:gdLst/>
              <a:ahLst/>
              <a:cxnLst/>
              <a:rect l="l" t="t" r="r" b="b"/>
              <a:pathLst>
                <a:path w="397115" h="394949">
                  <a:moveTo>
                    <a:pt x="0" y="0"/>
                  </a:moveTo>
                  <a:lnTo>
                    <a:pt x="397115" y="0"/>
                  </a:lnTo>
                  <a:lnTo>
                    <a:pt x="397115" y="394949"/>
                  </a:lnTo>
                  <a:lnTo>
                    <a:pt x="0" y="394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70000"/>
                <a:extLs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A6B9B69D-E21D-52A0-0B4C-0A433C504B14}"/>
                </a:ext>
              </a:extLst>
            </p:cNvPr>
            <p:cNvSpPr/>
            <p:nvPr/>
          </p:nvSpPr>
          <p:spPr>
            <a:xfrm>
              <a:off x="3584458" y="9258300"/>
              <a:ext cx="170477" cy="466481"/>
            </a:xfrm>
            <a:custGeom>
              <a:avLst/>
              <a:gdLst/>
              <a:ahLst/>
              <a:cxnLst/>
              <a:rect l="l" t="t" r="r" b="b"/>
              <a:pathLst>
                <a:path w="170477" h="466481">
                  <a:moveTo>
                    <a:pt x="0" y="0"/>
                  </a:moveTo>
                  <a:lnTo>
                    <a:pt x="170478" y="0"/>
                  </a:lnTo>
                  <a:lnTo>
                    <a:pt x="170478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70000"/>
                <a:extLst>
                  <a:ext uri="{96DAC541-7B7A-43D3-8B79-37D633B846F1}">
                    <asvg:svgBlip xmlns:asvg="http://schemas.microsoft.com/office/drawing/2016/SVG/main" xmlns="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219CBA3-8A6C-2270-13E9-ABDD7324512A}"/>
                </a:ext>
              </a:extLst>
            </p:cNvPr>
            <p:cNvSpPr/>
            <p:nvPr/>
          </p:nvSpPr>
          <p:spPr>
            <a:xfrm>
              <a:off x="9546711" y="9315775"/>
              <a:ext cx="364703" cy="466481"/>
            </a:xfrm>
            <a:custGeom>
              <a:avLst/>
              <a:gdLst/>
              <a:ahLst/>
              <a:cxnLst/>
              <a:rect l="l" t="t" r="r" b="b"/>
              <a:pathLst>
                <a:path w="364703" h="466481">
                  <a:moveTo>
                    <a:pt x="0" y="0"/>
                  </a:moveTo>
                  <a:lnTo>
                    <a:pt x="364703" y="0"/>
                  </a:lnTo>
                  <a:lnTo>
                    <a:pt x="364703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70000"/>
                <a:extLst>
                  <a:ext uri="{96DAC541-7B7A-43D3-8B79-37D633B846F1}">
                    <asvg:svgBlip xmlns:asvg="http://schemas.microsoft.com/office/drawing/2016/SVG/main" xmlns="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E5274643-B353-034B-1483-EB484BE36333}"/>
                </a:ext>
              </a:extLst>
            </p:cNvPr>
            <p:cNvSpPr/>
            <p:nvPr/>
          </p:nvSpPr>
          <p:spPr>
            <a:xfrm>
              <a:off x="10562823" y="9384996"/>
              <a:ext cx="462620" cy="328040"/>
            </a:xfrm>
            <a:custGeom>
              <a:avLst/>
              <a:gdLst/>
              <a:ahLst/>
              <a:cxnLst/>
              <a:rect l="l" t="t" r="r" b="b"/>
              <a:pathLst>
                <a:path w="462620" h="328040">
                  <a:moveTo>
                    <a:pt x="0" y="0"/>
                  </a:moveTo>
                  <a:lnTo>
                    <a:pt x="462621" y="0"/>
                  </a:lnTo>
                  <a:lnTo>
                    <a:pt x="462621" y="328040"/>
                  </a:lnTo>
                  <a:lnTo>
                    <a:pt x="0" y="328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BBF5E2CF-FFC2-A3EC-D8F1-7A38F91D6D93}"/>
                </a:ext>
              </a:extLst>
            </p:cNvPr>
            <p:cNvSpPr/>
            <p:nvPr/>
          </p:nvSpPr>
          <p:spPr>
            <a:xfrm>
              <a:off x="764210" y="9305727"/>
              <a:ext cx="433615" cy="420212"/>
            </a:xfrm>
            <a:custGeom>
              <a:avLst/>
              <a:gdLst/>
              <a:ahLst/>
              <a:cxnLst/>
              <a:rect l="l" t="t" r="r" b="b"/>
              <a:pathLst>
                <a:path w="433615" h="420212">
                  <a:moveTo>
                    <a:pt x="0" y="0"/>
                  </a:moveTo>
                  <a:lnTo>
                    <a:pt x="433615" y="0"/>
                  </a:lnTo>
                  <a:lnTo>
                    <a:pt x="433615" y="420212"/>
                  </a:lnTo>
                  <a:lnTo>
                    <a:pt x="0" y="420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alphaModFix amt="70000"/>
                <a:extLst>
                  <a:ext uri="{96DAC541-7B7A-43D3-8B79-37D633B846F1}">
                    <asvg:svgBlip xmlns:asvg="http://schemas.microsoft.com/office/drawing/2016/SVG/main" xmlns="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CF121364-7A45-AE16-9596-4D722DD20A6B}"/>
                </a:ext>
              </a:extLst>
            </p:cNvPr>
            <p:cNvSpPr/>
            <p:nvPr/>
          </p:nvSpPr>
          <p:spPr>
            <a:xfrm>
              <a:off x="11676853" y="9304394"/>
              <a:ext cx="472494" cy="466481"/>
            </a:xfrm>
            <a:custGeom>
              <a:avLst/>
              <a:gdLst/>
              <a:ahLst/>
              <a:cxnLst/>
              <a:rect l="l" t="t" r="r" b="b"/>
              <a:pathLst>
                <a:path w="472494" h="466481">
                  <a:moveTo>
                    <a:pt x="0" y="0"/>
                  </a:moveTo>
                  <a:lnTo>
                    <a:pt x="472494" y="0"/>
                  </a:lnTo>
                  <a:lnTo>
                    <a:pt x="472494" y="466480"/>
                  </a:lnTo>
                  <a:lnTo>
                    <a:pt x="0" y="46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70000"/>
                <a:extLst>
                  <a:ext uri="{96DAC541-7B7A-43D3-8B79-37D633B846F1}">
                    <asvg:svgBlip xmlns:asvg="http://schemas.microsoft.com/office/drawing/2016/SVG/main" xmlns="" r:embed="rId2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D0A755E5-8EB6-A813-EEB6-588F5B5BA67A}"/>
                </a:ext>
              </a:extLst>
            </p:cNvPr>
            <p:cNvSpPr/>
            <p:nvPr/>
          </p:nvSpPr>
          <p:spPr>
            <a:xfrm>
              <a:off x="5453480" y="9315775"/>
              <a:ext cx="349436" cy="466481"/>
            </a:xfrm>
            <a:custGeom>
              <a:avLst/>
              <a:gdLst/>
              <a:ahLst/>
              <a:cxnLst/>
              <a:rect l="l" t="t" r="r" b="b"/>
              <a:pathLst>
                <a:path w="349436" h="466481">
                  <a:moveTo>
                    <a:pt x="0" y="0"/>
                  </a:moveTo>
                  <a:lnTo>
                    <a:pt x="349436" y="0"/>
                  </a:lnTo>
                  <a:lnTo>
                    <a:pt x="349436" y="466481"/>
                  </a:lnTo>
                  <a:lnTo>
                    <a:pt x="0" y="466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7E1FC83D-4D58-EB03-0870-FB0B1F276FD7}"/>
                </a:ext>
              </a:extLst>
            </p:cNvPr>
            <p:cNvSpPr/>
            <p:nvPr/>
          </p:nvSpPr>
          <p:spPr>
            <a:xfrm>
              <a:off x="12797047" y="9342632"/>
              <a:ext cx="480625" cy="346924"/>
            </a:xfrm>
            <a:custGeom>
              <a:avLst/>
              <a:gdLst/>
              <a:ahLst/>
              <a:cxnLst/>
              <a:rect l="l" t="t" r="r" b="b"/>
              <a:pathLst>
                <a:path w="480625" h="346924">
                  <a:moveTo>
                    <a:pt x="0" y="0"/>
                  </a:moveTo>
                  <a:lnTo>
                    <a:pt x="480625" y="0"/>
                  </a:lnTo>
                  <a:lnTo>
                    <a:pt x="480625" y="346924"/>
                  </a:lnTo>
                  <a:lnTo>
                    <a:pt x="0" y="346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DBE5DA29-5C1A-AED5-207E-A6DB75BA1D91}"/>
                </a:ext>
              </a:extLst>
            </p:cNvPr>
            <p:cNvSpPr/>
            <p:nvPr/>
          </p:nvSpPr>
          <p:spPr>
            <a:xfrm>
              <a:off x="13976992" y="9265699"/>
              <a:ext cx="334163" cy="500789"/>
            </a:xfrm>
            <a:custGeom>
              <a:avLst/>
              <a:gdLst/>
              <a:ahLst/>
              <a:cxnLst/>
              <a:rect l="l" t="t" r="r" b="b"/>
              <a:pathLst>
                <a:path w="334163" h="500789">
                  <a:moveTo>
                    <a:pt x="0" y="0"/>
                  </a:moveTo>
                  <a:lnTo>
                    <a:pt x="334163" y="0"/>
                  </a:lnTo>
                  <a:lnTo>
                    <a:pt x="334163" y="500789"/>
                  </a:lnTo>
                  <a:lnTo>
                    <a:pt x="0" y="500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689D6FE1-F0B4-164F-0458-40C526FABA98}"/>
                </a:ext>
              </a:extLst>
            </p:cNvPr>
            <p:cNvSpPr/>
            <p:nvPr/>
          </p:nvSpPr>
          <p:spPr>
            <a:xfrm>
              <a:off x="15010474" y="9312172"/>
              <a:ext cx="407081" cy="429740"/>
            </a:xfrm>
            <a:custGeom>
              <a:avLst/>
              <a:gdLst/>
              <a:ahLst/>
              <a:cxnLst/>
              <a:rect l="l" t="t" r="r" b="b"/>
              <a:pathLst>
                <a:path w="407081" h="429740">
                  <a:moveTo>
                    <a:pt x="0" y="0"/>
                  </a:moveTo>
                  <a:lnTo>
                    <a:pt x="407080" y="0"/>
                  </a:lnTo>
                  <a:lnTo>
                    <a:pt x="407080" y="429739"/>
                  </a:lnTo>
                  <a:lnTo>
                    <a:pt x="0" y="429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82E11A4A-E58E-5B10-3016-ACE632534246}"/>
                </a:ext>
              </a:extLst>
            </p:cNvPr>
            <p:cNvSpPr/>
            <p:nvPr/>
          </p:nvSpPr>
          <p:spPr>
            <a:xfrm>
              <a:off x="17207719" y="9363177"/>
              <a:ext cx="496645" cy="352167"/>
            </a:xfrm>
            <a:custGeom>
              <a:avLst/>
              <a:gdLst/>
              <a:ahLst/>
              <a:cxnLst/>
              <a:rect l="l" t="t" r="r" b="b"/>
              <a:pathLst>
                <a:path w="496645" h="352167">
                  <a:moveTo>
                    <a:pt x="0" y="0"/>
                  </a:moveTo>
                  <a:lnTo>
                    <a:pt x="496645" y="0"/>
                  </a:lnTo>
                  <a:lnTo>
                    <a:pt x="496645" y="352167"/>
                  </a:lnTo>
                  <a:lnTo>
                    <a:pt x="0" y="352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70000"/>
                <a:extLst>
                  <a:ext uri="{96DAC541-7B7A-43D3-8B79-37D633B846F1}">
                    <asvg:svgBlip xmlns:asvg="http://schemas.microsoft.com/office/drawing/2016/SVG/main" xmlns="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6AC2772F-4EB9-6410-9933-6287BC979FD3}"/>
                </a:ext>
              </a:extLst>
            </p:cNvPr>
            <p:cNvSpPr/>
            <p:nvPr/>
          </p:nvSpPr>
          <p:spPr>
            <a:xfrm>
              <a:off x="16125068" y="9288865"/>
              <a:ext cx="375137" cy="500789"/>
            </a:xfrm>
            <a:custGeom>
              <a:avLst/>
              <a:gdLst/>
              <a:ahLst/>
              <a:cxnLst/>
              <a:rect l="l" t="t" r="r" b="b"/>
              <a:pathLst>
                <a:path w="375137" h="500789">
                  <a:moveTo>
                    <a:pt x="0" y="0"/>
                  </a:moveTo>
                  <a:lnTo>
                    <a:pt x="375137" y="0"/>
                  </a:lnTo>
                  <a:lnTo>
                    <a:pt x="375137" y="500790"/>
                  </a:lnTo>
                  <a:lnTo>
                    <a:pt x="0" y="500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70000"/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292507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1653</Words>
  <Application>Microsoft Office PowerPoint</Application>
  <PresentationFormat>Произвольный</PresentationFormat>
  <Paragraphs>675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Century Gothic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Медстат</dc:title>
  <cp:lastModifiedBy>Анель М. Шабанбаева</cp:lastModifiedBy>
  <cp:revision>39</cp:revision>
  <dcterms:created xsi:type="dcterms:W3CDTF">2006-08-16T00:00:00Z</dcterms:created>
  <dcterms:modified xsi:type="dcterms:W3CDTF">2023-12-22T10:47:04Z</dcterms:modified>
  <dc:identifier>DAFvhq77pbY</dc:identifier>
</cp:coreProperties>
</file>