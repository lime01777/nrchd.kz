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6" r:id="rId1"/>
  </p:sldMasterIdLst>
  <p:handoutMasterIdLst>
    <p:handoutMasterId r:id="rId10"/>
  </p:handoutMasterIdLst>
  <p:sldIdLst>
    <p:sldId id="261" r:id="rId2"/>
    <p:sldId id="267" r:id="rId3"/>
    <p:sldId id="263" r:id="rId4"/>
    <p:sldId id="268" r:id="rId5"/>
    <p:sldId id="269" r:id="rId6"/>
    <p:sldId id="270" r:id="rId7"/>
    <p:sldId id="258" r:id="rId8"/>
    <p:sldId id="262" r:id="rId9"/>
  </p:sldIdLst>
  <p:sldSz cx="12192000" cy="6858000"/>
  <p:notesSz cx="6797675" cy="992822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Анара М. Касымова" initials="АМК" lastIdx="2" clrIdx="0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1496" autoAdjust="0"/>
  </p:normalViewPr>
  <p:slideViewPr>
    <p:cSldViewPr snapToGrid="0">
      <p:cViewPr varScale="1">
        <p:scale>
          <a:sx n="52" d="100"/>
          <a:sy n="52" d="100"/>
        </p:scale>
        <p:origin x="114" y="22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C3256D-0BE0-4F36-B27C-8A19EE762B30}" type="datetimeFigureOut">
              <a:rPr lang="ru-RU" smtClean="0"/>
              <a:t>22.12.2023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50443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86266F-832C-424E-B76B-67081CF4E7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31972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54563-8B7F-45AB-B8A0-DE351F949849}" type="datetimeFigureOut">
              <a:rPr lang="ru-RU" smtClean="0"/>
              <a:t>22.12.2023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29A4C-32CB-4EFC-97FD-6DA12D2F6E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0051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54563-8B7F-45AB-B8A0-DE351F949849}" type="datetimeFigureOut">
              <a:rPr lang="ru-RU" smtClean="0"/>
              <a:t>22.12.2023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29A4C-32CB-4EFC-97FD-6DA12D2F6E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5198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54563-8B7F-45AB-B8A0-DE351F949849}" type="datetimeFigureOut">
              <a:rPr lang="ru-RU" smtClean="0"/>
              <a:t>22.12.2023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29A4C-32CB-4EFC-97FD-6DA12D2F6E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8923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54563-8B7F-45AB-B8A0-DE351F949849}" type="datetimeFigureOut">
              <a:rPr lang="ru-RU" smtClean="0"/>
              <a:t>22.12.2023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29A4C-32CB-4EFC-97FD-6DA12D2F6E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8368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54563-8B7F-45AB-B8A0-DE351F949849}" type="datetimeFigureOut">
              <a:rPr lang="ru-RU" smtClean="0"/>
              <a:t>22.12.2023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29A4C-32CB-4EFC-97FD-6DA12D2F6E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4173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54563-8B7F-45AB-B8A0-DE351F949849}" type="datetimeFigureOut">
              <a:rPr lang="ru-RU" smtClean="0"/>
              <a:t>22.12.2023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29A4C-32CB-4EFC-97FD-6DA12D2F6E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05190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54563-8B7F-45AB-B8A0-DE351F949849}" type="datetimeFigureOut">
              <a:rPr lang="ru-RU" smtClean="0"/>
              <a:t>22.12.2023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29A4C-32CB-4EFC-97FD-6DA12D2F6E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4984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54563-8B7F-45AB-B8A0-DE351F949849}" type="datetimeFigureOut">
              <a:rPr lang="ru-RU" smtClean="0"/>
              <a:t>22.12.2023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29A4C-32CB-4EFC-97FD-6DA12D2F6E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45440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54563-8B7F-45AB-B8A0-DE351F949849}" type="datetimeFigureOut">
              <a:rPr lang="ru-RU" smtClean="0"/>
              <a:t>22.12.2023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29A4C-32CB-4EFC-97FD-6DA12D2F6E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16970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54563-8B7F-45AB-B8A0-DE351F949849}" type="datetimeFigureOut">
              <a:rPr lang="ru-RU" smtClean="0"/>
              <a:t>22.12.2023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29A4C-32CB-4EFC-97FD-6DA12D2F6E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80738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54563-8B7F-45AB-B8A0-DE351F949849}" type="datetimeFigureOut">
              <a:rPr lang="ru-RU" smtClean="0"/>
              <a:t>22.12.2023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29A4C-32CB-4EFC-97FD-6DA12D2F6E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3256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C54563-8B7F-45AB-B8A0-DE351F949849}" type="datetimeFigureOut">
              <a:rPr lang="ru-RU" smtClean="0"/>
              <a:t>22.12.2023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029A4C-32CB-4EFC-97FD-6DA12D2F6E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78010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7" r:id="rId1"/>
    <p:sldLayoutId id="2147483808" r:id="rId2"/>
    <p:sldLayoutId id="2147483809" r:id="rId3"/>
    <p:sldLayoutId id="2147483810" r:id="rId4"/>
    <p:sldLayoutId id="2147483811" r:id="rId5"/>
    <p:sldLayoutId id="2147483812" r:id="rId6"/>
    <p:sldLayoutId id="2147483813" r:id="rId7"/>
    <p:sldLayoutId id="2147483814" r:id="rId8"/>
    <p:sldLayoutId id="2147483815" r:id="rId9"/>
    <p:sldLayoutId id="2147483816" r:id="rId10"/>
    <p:sldLayoutId id="214748381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.emf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idx="4294967295"/>
          </p:nvPr>
        </p:nvSpPr>
        <p:spPr>
          <a:xfrm>
            <a:off x="1189886" y="1822046"/>
            <a:ext cx="9766283" cy="3192247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 smtClean="0"/>
              <a:t/>
            </a:r>
            <a:br>
              <a:rPr lang="ru-RU" dirty="0" smtClean="0"/>
            </a:br>
            <a:r>
              <a:rPr lang="ru-RU" dirty="0"/>
              <a:t/>
            </a:r>
            <a:br>
              <a:rPr lang="ru-RU" dirty="0"/>
            </a:br>
            <a:r>
              <a:rPr lang="ru-RU" sz="3100" b="1" dirty="0" smtClean="0">
                <a:latin typeface="Century" panose="02040604050505020304" pitchFamily="18" charset="0"/>
              </a:rPr>
              <a:t>Пояснительная информация по </a:t>
            </a:r>
            <a:r>
              <a:rPr lang="ru-RU" sz="3100" b="1" dirty="0">
                <a:latin typeface="Century" panose="02040604050505020304" pitchFamily="18" charset="0"/>
              </a:rPr>
              <a:t>сбора административных данных </a:t>
            </a:r>
            <a:r>
              <a:rPr lang="ru-RU" sz="3100" b="1" dirty="0" smtClean="0">
                <a:latin typeface="Century" panose="02040604050505020304" pitchFamily="18" charset="0"/>
              </a:rPr>
              <a:t/>
            </a:r>
            <a:br>
              <a:rPr lang="ru-RU" sz="3100" b="1" dirty="0" smtClean="0">
                <a:latin typeface="Century" panose="02040604050505020304" pitchFamily="18" charset="0"/>
              </a:rPr>
            </a:br>
            <a:r>
              <a:rPr lang="ru-RU" sz="3100" b="1" dirty="0" smtClean="0">
                <a:latin typeface="Century" panose="02040604050505020304" pitchFamily="18" charset="0"/>
              </a:rPr>
              <a:t>"</a:t>
            </a:r>
            <a:r>
              <a:rPr lang="ru-RU" sz="3100" b="1" dirty="0">
                <a:latin typeface="Century" panose="02040604050505020304" pitchFamily="18" charset="0"/>
              </a:rPr>
              <a:t>Отчет о медицинских и фармацевтических кадрах"</a:t>
            </a:r>
            <a:r>
              <a:rPr lang="ru-RU" sz="3100" dirty="0">
                <a:latin typeface="Century" panose="02040604050505020304" pitchFamily="18" charset="0"/>
              </a:rPr>
              <a:t/>
            </a:r>
            <a:br>
              <a:rPr lang="ru-RU" sz="3100" dirty="0">
                <a:latin typeface="Century" panose="02040604050505020304" pitchFamily="18" charset="0"/>
              </a:rPr>
            </a:br>
            <a:r>
              <a:rPr lang="ru-RU" sz="2200" dirty="0" smtClean="0">
                <a:latin typeface="Century" panose="02040604050505020304" pitchFamily="18" charset="0"/>
              </a:rPr>
              <a:t/>
            </a:r>
            <a:br>
              <a:rPr lang="ru-RU" sz="2200" dirty="0" smtClean="0">
                <a:latin typeface="Century" panose="02040604050505020304" pitchFamily="18" charset="0"/>
              </a:rPr>
            </a:br>
            <a:r>
              <a:rPr lang="ru-RU" sz="2200" dirty="0" smtClean="0">
                <a:latin typeface="Century" panose="02040604050505020304" pitchFamily="18" charset="0"/>
              </a:rPr>
              <a:t>(индекс</a:t>
            </a:r>
            <a:r>
              <a:rPr lang="kk-KZ" sz="2200" dirty="0" smtClean="0">
                <a:latin typeface="Century" panose="02040604050505020304" pitchFamily="18" charset="0"/>
              </a:rPr>
              <a:t>:</a:t>
            </a:r>
            <a:r>
              <a:rPr lang="ru-RU" sz="2200" dirty="0" smtClean="0">
                <a:latin typeface="Century" panose="02040604050505020304" pitchFamily="18" charset="0"/>
              </a:rPr>
              <a:t> </a:t>
            </a:r>
            <a:r>
              <a:rPr lang="ru-RU" sz="2200" dirty="0">
                <a:latin typeface="Century" panose="02040604050505020304" pitchFamily="18" charset="0"/>
              </a:rPr>
              <a:t>17-Кадры, периодичность: годовая)</a:t>
            </a:r>
            <a:r>
              <a:rPr lang="ru-RU" sz="2200" dirty="0" smtClean="0">
                <a:latin typeface="Century" panose="02040604050505020304" pitchFamily="18" charset="0"/>
              </a:rPr>
              <a:t/>
            </a:r>
            <a:br>
              <a:rPr lang="ru-RU" sz="2200" dirty="0" smtClean="0">
                <a:latin typeface="Century" panose="02040604050505020304" pitchFamily="18" charset="0"/>
              </a:rPr>
            </a:br>
            <a:r>
              <a:rPr lang="ru-RU" dirty="0" smtClean="0"/>
              <a:t/>
            </a:r>
            <a:br>
              <a:rPr lang="ru-RU" dirty="0" smtClean="0"/>
            </a:br>
            <a:r>
              <a:rPr lang="ru-RU" dirty="0"/>
              <a:t/>
            </a:r>
            <a:br>
              <a:rPr lang="ru-RU" dirty="0"/>
            </a:br>
            <a:r>
              <a:rPr lang="ru-RU" dirty="0" smtClean="0"/>
              <a:t/>
            </a:r>
            <a:br>
              <a:rPr lang="ru-RU" dirty="0" smtClean="0"/>
            </a:br>
            <a:r>
              <a:rPr lang="ru-RU" sz="2200" dirty="0" smtClean="0">
                <a:latin typeface="Century" panose="02040604050505020304" pitchFamily="18" charset="0"/>
              </a:rPr>
              <a:t>Астана -</a:t>
            </a:r>
            <a:r>
              <a:rPr lang="ru-RU" dirty="0" smtClean="0">
                <a:latin typeface="Century" panose="02040604050505020304" pitchFamily="18" charset="0"/>
              </a:rPr>
              <a:t> </a:t>
            </a:r>
            <a:r>
              <a:rPr lang="ru-RU" sz="2000" b="1" dirty="0" smtClean="0">
                <a:latin typeface="Century" panose="02040604050505020304" pitchFamily="18" charset="0"/>
              </a:rPr>
              <a:t>2023 год</a:t>
            </a:r>
            <a:endParaRPr lang="ru-RU" sz="2000" b="1" dirty="0">
              <a:latin typeface="Century" panose="02040604050505020304" pitchFamily="18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4294967295"/>
          </p:nvPr>
        </p:nvSpPr>
        <p:spPr>
          <a:xfrm>
            <a:off x="6073027" y="4831230"/>
            <a:ext cx="6521979" cy="996555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ru-RU" sz="1400" b="1" dirty="0" smtClean="0">
                <a:latin typeface="Century" panose="02040604050505020304" pitchFamily="18" charset="0"/>
              </a:rPr>
              <a:t>Управление статистического учёта и отчетности в области здравоохранения Департамента </a:t>
            </a:r>
            <a:r>
              <a:rPr lang="ru-RU" sz="1400" b="1" dirty="0">
                <a:latin typeface="Century" panose="02040604050505020304" pitchFamily="18" charset="0"/>
              </a:rPr>
              <a:t>медико-статистического </a:t>
            </a:r>
            <a:r>
              <a:rPr lang="ru-RU" sz="1400" b="1" dirty="0" smtClean="0">
                <a:latin typeface="Century" panose="02040604050505020304" pitchFamily="18" charset="0"/>
              </a:rPr>
              <a:t>анализа ННЦРЗ МЗ РК</a:t>
            </a:r>
            <a:endParaRPr lang="ru-RU" sz="1400" b="1" dirty="0">
              <a:latin typeface="Century" panose="02040604050505020304" pitchFamily="18" charset="0"/>
            </a:endParaRP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0469"/>
          <a:stretch>
            <a:fillRect/>
          </a:stretch>
        </p:blipFill>
        <p:spPr bwMode="auto">
          <a:xfrm>
            <a:off x="964556" y="59105"/>
            <a:ext cx="1522967" cy="12553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Прямоугольник 7"/>
          <p:cNvSpPr/>
          <p:nvPr/>
        </p:nvSpPr>
        <p:spPr>
          <a:xfrm>
            <a:off x="2177521" y="215707"/>
            <a:ext cx="747268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latin typeface="Century" panose="02040604050505020304" pitchFamily="18" charset="0"/>
              </a:rPr>
              <a:t>Министерство здравоохранения Республики Казахстан</a:t>
            </a:r>
            <a:br>
              <a:rPr lang="ru-RU" b="1" dirty="0">
                <a:latin typeface="Century" panose="02040604050505020304" pitchFamily="18" charset="0"/>
              </a:rPr>
            </a:br>
            <a:r>
              <a:rPr lang="ru-RU" b="1" dirty="0">
                <a:latin typeface="Century" panose="02040604050505020304" pitchFamily="18" charset="0"/>
              </a:rPr>
              <a:t>Национальный научный центр развития здравоохранения </a:t>
            </a:r>
          </a:p>
          <a:p>
            <a:pPr algn="ctr"/>
            <a:r>
              <a:rPr lang="ru-RU" b="1" dirty="0">
                <a:latin typeface="Century" panose="02040604050505020304" pitchFamily="18" charset="0"/>
              </a:rPr>
              <a:t>имени </a:t>
            </a:r>
            <a:r>
              <a:rPr lang="ru-RU" b="1" dirty="0" err="1">
                <a:latin typeface="Century" panose="02040604050505020304" pitchFamily="18" charset="0"/>
              </a:rPr>
              <a:t>Салидат</a:t>
            </a:r>
            <a:r>
              <a:rPr lang="ru-RU" b="1" dirty="0">
                <a:latin typeface="Century" panose="02040604050505020304" pitchFamily="18" charset="0"/>
              </a:rPr>
              <a:t> </a:t>
            </a:r>
            <a:r>
              <a:rPr lang="ru-RU" b="1" dirty="0" err="1">
                <a:latin typeface="Century" panose="02040604050505020304" pitchFamily="18" charset="0"/>
              </a:rPr>
              <a:t>Каирбековой</a:t>
            </a:r>
            <a:endParaRPr lang="en-CA" b="1" dirty="0">
              <a:latin typeface="Century" panose="02040604050505020304" pitchFamily="18" charset="0"/>
            </a:endParaRPr>
          </a:p>
          <a:p>
            <a:endParaRPr lang="ru-RU" dirty="0"/>
          </a:p>
        </p:txBody>
      </p:sp>
      <p:pic>
        <p:nvPicPr>
          <p:cNvPr id="9" name="Picture 2" descr="http://www.rcrz.kz/images/banners/logoru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1" r="68285"/>
          <a:stretch/>
        </p:blipFill>
        <p:spPr bwMode="auto">
          <a:xfrm>
            <a:off x="9689157" y="59105"/>
            <a:ext cx="1934860" cy="1447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2284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: скругленные углы 18">
            <a:extLst>
              <a:ext uri="{FF2B5EF4-FFF2-40B4-BE49-F238E27FC236}">
                <a16:creationId xmlns:a16="http://schemas.microsoft.com/office/drawing/2014/main" id="{6D9E426A-8855-4F11-9198-522FC06C79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43"/>
            <a:ext cx="10515600" cy="574756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tx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>
            <a:noAutofit/>
          </a:bodyPr>
          <a:lstStyle/>
          <a:p>
            <a:pPr algn="ctr"/>
            <a:r>
              <a:rPr lang="ru-RU" sz="3200" dirty="0" smtClean="0">
                <a:solidFill>
                  <a:schemeClr val="accent1"/>
                </a:solidFill>
              </a:rPr>
              <a:t>Общие сведения</a:t>
            </a:r>
            <a:endParaRPr lang="ru-RU" sz="3200" dirty="0">
              <a:solidFill>
                <a:schemeClr val="accent1"/>
              </a:solidFill>
            </a:endParaRPr>
          </a:p>
        </p:txBody>
      </p:sp>
      <p:sp>
        <p:nvSpPr>
          <p:cNvPr id="4" name="Объект 3"/>
          <p:cNvSpPr>
            <a:spLocks noGrp="1"/>
          </p:cNvSpPr>
          <p:nvPr>
            <p:ph sz="half" idx="1"/>
          </p:nvPr>
        </p:nvSpPr>
        <p:spPr>
          <a:xfrm>
            <a:off x="0" y="851486"/>
            <a:ext cx="5713697" cy="3142016"/>
          </a:xfr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ru-RU" sz="2400" b="1" i="1" dirty="0" smtClean="0"/>
              <a:t>Основание</a:t>
            </a:r>
            <a:r>
              <a:rPr lang="ru-RU" sz="2400" dirty="0" smtClean="0"/>
              <a:t>: </a:t>
            </a:r>
            <a:r>
              <a:rPr lang="en-US" sz="2400" dirty="0" err="1"/>
              <a:t>Приказ</a:t>
            </a:r>
            <a:r>
              <a:rPr lang="en-US" sz="2400" dirty="0"/>
              <a:t> </a:t>
            </a:r>
            <a:r>
              <a:rPr lang="en-US" sz="2400" dirty="0" err="1"/>
              <a:t>Министра</a:t>
            </a:r>
            <a:r>
              <a:rPr lang="en-US" sz="2400" dirty="0"/>
              <a:t> </a:t>
            </a:r>
            <a:r>
              <a:rPr lang="en-US" sz="2400" dirty="0" err="1"/>
              <a:t>здравоохранения</a:t>
            </a:r>
            <a:r>
              <a:rPr lang="en-US" sz="2400" dirty="0"/>
              <a:t> </a:t>
            </a:r>
            <a:r>
              <a:rPr lang="en-US" sz="2400" dirty="0" err="1"/>
              <a:t>Республики</a:t>
            </a:r>
            <a:r>
              <a:rPr lang="en-US" sz="2400" dirty="0"/>
              <a:t> </a:t>
            </a:r>
            <a:r>
              <a:rPr lang="en-US" sz="2400" dirty="0" err="1"/>
              <a:t>Казахстан</a:t>
            </a:r>
            <a:r>
              <a:rPr lang="en-US" sz="2400" dirty="0"/>
              <a:t> </a:t>
            </a:r>
            <a:r>
              <a:rPr lang="en-US" sz="2400" dirty="0" err="1"/>
              <a:t>от</a:t>
            </a:r>
            <a:r>
              <a:rPr lang="en-US" sz="2400" dirty="0"/>
              <a:t> 22 </a:t>
            </a:r>
            <a:r>
              <a:rPr lang="en-US" sz="2400" dirty="0" err="1"/>
              <a:t>декабря</a:t>
            </a:r>
            <a:r>
              <a:rPr lang="en-US" sz="2400" dirty="0"/>
              <a:t> 2020 </a:t>
            </a:r>
            <a:r>
              <a:rPr lang="en-US" sz="2400" dirty="0" err="1"/>
              <a:t>года</a:t>
            </a:r>
            <a:r>
              <a:rPr lang="en-US" sz="2400" dirty="0"/>
              <a:t> № ҚР ДСМ-313/2020</a:t>
            </a:r>
            <a:endParaRPr lang="ru-RU" sz="2400" dirty="0"/>
          </a:p>
          <a:p>
            <a:pPr marL="0" indent="0" algn="ctr">
              <a:buNone/>
            </a:pPr>
            <a:r>
              <a:rPr lang="ru-RU" sz="2400" dirty="0" smtClean="0"/>
              <a:t> «</a:t>
            </a:r>
            <a:r>
              <a:rPr lang="en-US" sz="2400" b="1" dirty="0" err="1" smtClean="0">
                <a:solidFill>
                  <a:schemeClr val="accent1">
                    <a:lumMod val="75000"/>
                  </a:schemeClr>
                </a:solidFill>
              </a:rPr>
              <a:t>Об</a:t>
            </a:r>
            <a:r>
              <a:rPr lang="en-US" sz="2400" b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</a:rPr>
              <a:t>утверждении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</a:rPr>
              <a:t>форм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</a:rPr>
              <a:t>отчетной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</a:rPr>
              <a:t>документации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 в </a:t>
            </a: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</a:rPr>
              <a:t>области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2400" b="1" dirty="0" err="1" smtClean="0">
                <a:solidFill>
                  <a:schemeClr val="accent1">
                    <a:lumMod val="75000"/>
                  </a:schemeClr>
                </a:solidFill>
              </a:rPr>
              <a:t>здравоохранения</a:t>
            </a:r>
            <a:r>
              <a:rPr lang="ru-RU" sz="2000" b="1" dirty="0" smtClean="0">
                <a:latin typeface="Century" panose="02040604050505020304" pitchFamily="18" charset="0"/>
              </a:rPr>
              <a:t>»</a:t>
            </a:r>
            <a:endParaRPr lang="ru-RU" sz="2000" dirty="0">
              <a:latin typeface="Century" panose="02040604050505020304" pitchFamily="18" charset="0"/>
            </a:endParaRPr>
          </a:p>
        </p:txBody>
      </p:sp>
      <p:sp>
        <p:nvSpPr>
          <p:cNvPr id="5" name="Объект 4"/>
          <p:cNvSpPr>
            <a:spLocks noGrp="1"/>
          </p:cNvSpPr>
          <p:nvPr>
            <p:ph sz="half" idx="2"/>
          </p:nvPr>
        </p:nvSpPr>
        <p:spPr>
          <a:xfrm>
            <a:off x="6096000" y="851486"/>
            <a:ext cx="6019800" cy="2573489"/>
          </a:xfr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ru-RU" sz="2000" b="1" dirty="0" smtClean="0">
                <a:solidFill>
                  <a:schemeClr val="accent1">
                    <a:lumMod val="75000"/>
                  </a:schemeClr>
                </a:solidFill>
              </a:rPr>
              <a:t>Сбор </a:t>
            </a:r>
            <a:r>
              <a:rPr lang="ru-RU" sz="2000" b="1" dirty="0">
                <a:solidFill>
                  <a:schemeClr val="accent1">
                    <a:lumMod val="75000"/>
                  </a:schemeClr>
                </a:solidFill>
              </a:rPr>
              <a:t>административных данных </a:t>
            </a:r>
            <a:r>
              <a:rPr lang="ru-RU" sz="2000" b="1" dirty="0" smtClean="0"/>
              <a:t> формируют: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ru-RU" sz="2000" dirty="0" smtClean="0"/>
              <a:t>Органы управления здравоохранением;</a:t>
            </a:r>
            <a:endParaRPr lang="ru-RU" sz="2000" dirty="0"/>
          </a:p>
          <a:p>
            <a:pPr>
              <a:buFont typeface="Wingdings" panose="05000000000000000000" pitchFamily="2" charset="2"/>
              <a:buChar char="ü"/>
            </a:pPr>
            <a:r>
              <a:rPr lang="ru-RU" sz="2000" dirty="0" smtClean="0"/>
              <a:t>Организации здравоохранения (районов</a:t>
            </a:r>
            <a:r>
              <a:rPr lang="ru-RU" sz="2000" dirty="0"/>
              <a:t>, областей, города республиканского значения и </a:t>
            </a:r>
            <a:r>
              <a:rPr lang="ru-RU" sz="2000" dirty="0" smtClean="0"/>
              <a:t>столицы);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ru-RU" sz="2000" dirty="0" smtClean="0"/>
              <a:t>Организации образования</a:t>
            </a:r>
            <a:r>
              <a:rPr lang="ru-RU" sz="2000" dirty="0"/>
              <a:t>;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ru-RU" sz="2000" dirty="0" smtClean="0"/>
              <a:t>Научные организации </a:t>
            </a:r>
            <a:endParaRPr lang="ru-RU" sz="2000" dirty="0"/>
          </a:p>
        </p:txBody>
      </p:sp>
      <p:sp>
        <p:nvSpPr>
          <p:cNvPr id="7" name="Объект 3"/>
          <p:cNvSpPr txBox="1">
            <a:spLocks/>
          </p:cNvSpPr>
          <p:nvPr/>
        </p:nvSpPr>
        <p:spPr>
          <a:xfrm>
            <a:off x="6096000" y="3825550"/>
            <a:ext cx="6019800" cy="3032449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8100000" scaled="1"/>
            <a:tileRect/>
          </a:gra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q"/>
            </a:pPr>
            <a:r>
              <a:rPr lang="ru-RU" sz="2000" b="1" dirty="0" smtClean="0">
                <a:solidFill>
                  <a:schemeClr val="accent1">
                    <a:lumMod val="75000"/>
                  </a:schemeClr>
                </a:solidFill>
              </a:rPr>
              <a:t>Сведения </a:t>
            </a:r>
            <a:r>
              <a:rPr lang="ru-RU" sz="2000" b="1" dirty="0">
                <a:solidFill>
                  <a:schemeClr val="accent1">
                    <a:lumMod val="75000"/>
                  </a:schemeClr>
                </a:solidFill>
              </a:rPr>
              <a:t>медицинских </a:t>
            </a:r>
            <a:r>
              <a:rPr lang="ru-RU" sz="2000" b="1" dirty="0" smtClean="0">
                <a:solidFill>
                  <a:schemeClr val="accent1">
                    <a:lumMod val="75000"/>
                  </a:schemeClr>
                </a:solidFill>
              </a:rPr>
              <a:t>работников</a:t>
            </a:r>
            <a:r>
              <a:rPr lang="ru-RU" sz="2000" b="1" dirty="0" smtClean="0"/>
              <a:t>:</a:t>
            </a:r>
            <a:endParaRPr lang="ru-RU" sz="2000" b="1" dirty="0"/>
          </a:p>
          <a:p>
            <a:pPr>
              <a:buFont typeface="Wingdings" panose="05000000000000000000" pitchFamily="2" charset="2"/>
              <a:buChar char="ü"/>
            </a:pPr>
            <a:r>
              <a:rPr lang="ru-RU" sz="2000" dirty="0"/>
              <a:t>диплом государственного </a:t>
            </a:r>
            <a:r>
              <a:rPr lang="ru-RU" sz="2000" dirty="0" smtClean="0"/>
              <a:t>образца;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ru-RU" sz="2000" dirty="0" smtClean="0"/>
              <a:t>Свидетельство о прохождении сертифицированного курса повышения квалификации;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ru-RU" sz="2000" dirty="0" smtClean="0"/>
              <a:t>свидетельство об </a:t>
            </a:r>
            <a:r>
              <a:rPr lang="ru-RU" sz="2000" dirty="0"/>
              <a:t>окончании </a:t>
            </a:r>
            <a:r>
              <a:rPr lang="ru-RU" sz="2000" dirty="0" smtClean="0"/>
              <a:t>интернатуры, магистратуры, докторантуры и </a:t>
            </a:r>
            <a:r>
              <a:rPr lang="ru-RU" sz="2000" dirty="0" err="1" smtClean="0"/>
              <a:t>тд</a:t>
            </a:r>
            <a:r>
              <a:rPr lang="ru-RU" sz="2000" dirty="0" smtClean="0"/>
              <a:t>;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ru-RU" sz="2000" dirty="0" smtClean="0"/>
              <a:t>документ о присвоении квалификационной категории</a:t>
            </a:r>
            <a:endParaRPr lang="ru-RU" sz="2000" dirty="0"/>
          </a:p>
        </p:txBody>
      </p:sp>
      <p:sp>
        <p:nvSpPr>
          <p:cNvPr id="8" name="Объект 3"/>
          <p:cNvSpPr txBox="1">
            <a:spLocks/>
          </p:cNvSpPr>
          <p:nvPr/>
        </p:nvSpPr>
        <p:spPr>
          <a:xfrm>
            <a:off x="-172754" y="4170617"/>
            <a:ext cx="5886451" cy="2687383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Font typeface="Wingdings" panose="05000000000000000000" pitchFamily="2" charset="2"/>
              <a:buChar char="q"/>
            </a:pPr>
            <a:r>
              <a:rPr lang="ru-RU" sz="2400" b="1" dirty="0" smtClean="0"/>
              <a:t>Разрезы здравоохранения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ru-RU" sz="2400" b="1" dirty="0" smtClean="0">
                <a:solidFill>
                  <a:schemeClr val="accent1">
                    <a:lumMod val="75000"/>
                  </a:schemeClr>
                </a:solidFill>
              </a:rPr>
              <a:t>Государственные </a:t>
            </a:r>
            <a:r>
              <a:rPr lang="ru-RU" sz="2400" b="1" dirty="0">
                <a:solidFill>
                  <a:schemeClr val="accent1">
                    <a:lumMod val="75000"/>
                  </a:schemeClr>
                </a:solidFill>
              </a:rPr>
              <a:t>организации здравоохранения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ru-RU" sz="2400" b="1" dirty="0">
                <a:solidFill>
                  <a:schemeClr val="accent1">
                    <a:lumMod val="75000"/>
                  </a:schemeClr>
                </a:solidFill>
              </a:rPr>
              <a:t>Частные медицинские организации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ru-RU" sz="2400" b="1" dirty="0">
                <a:solidFill>
                  <a:schemeClr val="accent1">
                    <a:lumMod val="75000"/>
                  </a:schemeClr>
                </a:solidFill>
              </a:rPr>
              <a:t>Другие ведомства</a:t>
            </a:r>
          </a:p>
          <a:p>
            <a:pPr marL="0" indent="0">
              <a:buNone/>
            </a:pPr>
            <a:endParaRPr lang="ru-RU" sz="2000" dirty="0" smtClean="0">
              <a:latin typeface="Century" panose="02040604050505020304" pitchFamily="18" charset="0"/>
            </a:endParaRPr>
          </a:p>
          <a:p>
            <a:pPr algn="ctr">
              <a:buFont typeface="Wingdings" panose="05000000000000000000" pitchFamily="2" charset="2"/>
              <a:buChar char="ü"/>
            </a:pPr>
            <a:endParaRPr lang="ru-RU" sz="2000" dirty="0">
              <a:latin typeface="Century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93563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14400" y="101138"/>
            <a:ext cx="10474219" cy="594360"/>
          </a:xfrm>
        </p:spPr>
        <p:txBody>
          <a:bodyPr>
            <a:noAutofit/>
          </a:bodyPr>
          <a:lstStyle/>
          <a:p>
            <a:pPr algn="ctr"/>
            <a:r>
              <a:rPr lang="ru-RU" sz="3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Сведения о медицинских и фармацевтических </a:t>
            </a:r>
            <a:r>
              <a:rPr lang="ru-RU" sz="3200" b="1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кадрах</a:t>
            </a:r>
            <a:endParaRPr lang="ru-RU" sz="3200" b="1" i="1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Прямоугольник: скругленные углы 18">
            <a:extLst>
              <a:ext uri="{FF2B5EF4-FFF2-40B4-BE49-F238E27FC236}">
                <a16:creationId xmlns:a16="http://schemas.microsoft.com/office/drawing/2014/main" id="{6D9E426A-8855-4F11-9198-522FC06C7985}"/>
              </a:ext>
            </a:extLst>
          </p:cNvPr>
          <p:cNvSpPr/>
          <p:nvPr/>
        </p:nvSpPr>
        <p:spPr>
          <a:xfrm>
            <a:off x="559837" y="597160"/>
            <a:ext cx="11383347" cy="539309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tx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ru-RU" sz="2400" b="1" dirty="0">
                <a:solidFill>
                  <a:schemeClr val="accent1"/>
                </a:solidFill>
              </a:rPr>
              <a:t>ПОРЯДОК СОСТАВЛЕНИЯ ОТЧЕТА</a:t>
            </a:r>
            <a:endParaRPr lang="x-none" sz="2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24282"/>
            <a:ext cx="8109031" cy="5319114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9641" y="1216564"/>
            <a:ext cx="4216497" cy="2722785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8558" y="3996584"/>
            <a:ext cx="4258662" cy="2799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5797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: скругленные углы 18">
            <a:extLst>
              <a:ext uri="{FF2B5EF4-FFF2-40B4-BE49-F238E27FC236}">
                <a16:creationId xmlns:a16="http://schemas.microsoft.com/office/drawing/2014/main" id="{6D9E426A-8855-4F11-9198-522FC06C79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9275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tx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>
            <a:noAutofit/>
          </a:bodyPr>
          <a:lstStyle/>
          <a:p>
            <a:pPr algn="ctr"/>
            <a:r>
              <a:rPr lang="ru-RU" sz="2400" b="1" dirty="0">
                <a:solidFill>
                  <a:schemeClr val="accent1"/>
                </a:solidFill>
              </a:rPr>
              <a:t>ПОРЯДОК СОСТАВЛЕНИЯ ОТЧЕТА</a:t>
            </a:r>
            <a:endParaRPr lang="ru-RU" sz="2400" dirty="0">
              <a:solidFill>
                <a:schemeClr val="accent1"/>
              </a:solidFill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6612" y="1545622"/>
            <a:ext cx="8297494" cy="1533479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5750" y="914400"/>
            <a:ext cx="4218798" cy="2719052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9171" y="3743171"/>
            <a:ext cx="4255377" cy="2798307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4653" y="3633451"/>
            <a:ext cx="7644517" cy="2580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4298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: скругленные углы 18">
            <a:extLst>
              <a:ext uri="{FF2B5EF4-FFF2-40B4-BE49-F238E27FC236}">
                <a16:creationId xmlns:a16="http://schemas.microsoft.com/office/drawing/2014/main" id="{6D9E426A-8855-4F11-9198-522FC06C79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910" y="-91440"/>
            <a:ext cx="10515600" cy="549275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tx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>
            <a:noAutofit/>
          </a:bodyPr>
          <a:lstStyle/>
          <a:p>
            <a:pPr algn="ctr"/>
            <a:r>
              <a:rPr lang="ru-RU" sz="2400" b="1" dirty="0">
                <a:solidFill>
                  <a:schemeClr val="accent1"/>
                </a:solidFill>
              </a:rPr>
              <a:t>ПОРЯДОК СОСТАВЛЕНИЯ ОТЧЕТА</a:t>
            </a:r>
            <a:endParaRPr lang="ru-RU" sz="2400" dirty="0">
              <a:solidFill>
                <a:schemeClr val="accent1"/>
              </a:solidFill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827" y="604584"/>
            <a:ext cx="7487211" cy="3178746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661" y="3686026"/>
            <a:ext cx="5613049" cy="2598633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3712" y="3472694"/>
            <a:ext cx="5918288" cy="2686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67937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338" y="187569"/>
            <a:ext cx="10632346" cy="749873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233" y="937442"/>
            <a:ext cx="6874459" cy="3285172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233" y="4359293"/>
            <a:ext cx="7400280" cy="2209808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5"/>
          <a:srcRect l="3815" t="1257"/>
          <a:stretch/>
        </p:blipFill>
        <p:spPr>
          <a:xfrm>
            <a:off x="7592993" y="1145901"/>
            <a:ext cx="4599008" cy="275408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6"/>
          <a:srcRect l="3291" t="58"/>
          <a:stretch/>
        </p:blipFill>
        <p:spPr>
          <a:xfrm>
            <a:off x="7566344" y="4051146"/>
            <a:ext cx="4625657" cy="2349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3938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/>
        </p:nvSpPr>
        <p:spPr>
          <a:xfrm>
            <a:off x="3343275" y="2181226"/>
            <a:ext cx="419100" cy="24003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100" b="1" dirty="0" smtClean="0">
                <a:solidFill>
                  <a:schemeClr val="bg1"/>
                </a:solidFill>
                <a:latin typeface="Calibri" panose="020F0502020204030204" pitchFamily="34" charset="0"/>
              </a:rPr>
              <a:t>384%</a:t>
            </a:r>
            <a:endParaRPr lang="ru-RU" sz="1100" b="1" dirty="0">
              <a:solidFill>
                <a:schemeClr val="bg1"/>
              </a:solidFill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267" y="246067"/>
            <a:ext cx="10632346" cy="749873"/>
          </a:xfrm>
          <a:prstGeom prst="rect">
            <a:avLst/>
          </a:prstGeom>
        </p:spPr>
      </p:pic>
      <p:sp>
        <p:nvSpPr>
          <p:cNvPr id="9" name="Прямоугольник 8"/>
          <p:cNvSpPr/>
          <p:nvPr/>
        </p:nvSpPr>
        <p:spPr>
          <a:xfrm>
            <a:off x="1322070" y="1102943"/>
            <a:ext cx="6096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2400" b="1" dirty="0"/>
              <a:t>При отнесении медицинского работника к той или иной специальности следует учесть: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88855"/>
            <a:ext cx="10721340" cy="3337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84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3188970" y="2980174"/>
            <a:ext cx="667512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600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 за внимание !!!</a:t>
            </a:r>
          </a:p>
        </p:txBody>
      </p:sp>
    </p:spTree>
    <p:extLst>
      <p:ext uri="{BB962C8B-B14F-4D97-AF65-F5344CB8AC3E}">
        <p14:creationId xmlns:p14="http://schemas.microsoft.com/office/powerpoint/2010/main" val="638896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2398</TotalTime>
  <Words>148</Words>
  <Application>Microsoft Office PowerPoint</Application>
  <PresentationFormat>Широкоэкранный</PresentationFormat>
  <Paragraphs>28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5" baseType="lpstr">
      <vt:lpstr>Arial</vt:lpstr>
      <vt:lpstr>Calibri</vt:lpstr>
      <vt:lpstr>Calibri Light</vt:lpstr>
      <vt:lpstr>Century</vt:lpstr>
      <vt:lpstr>Times New Roman</vt:lpstr>
      <vt:lpstr>Wingdings</vt:lpstr>
      <vt:lpstr>Office Theme</vt:lpstr>
      <vt:lpstr>  Пояснительная информация по сбора административных данных  "Отчет о медицинских и фармацевтических кадрах"  (индекс: 17-Кадры, периодичность: годовая)    Астана - 2023 год</vt:lpstr>
      <vt:lpstr>Общие сведения</vt:lpstr>
      <vt:lpstr>Сведения о медицинских и фармацевтических кадрах</vt:lpstr>
      <vt:lpstr>ПОРЯДОК СОСТАВЛЕНИЯ ОТЧЕТА</vt:lpstr>
      <vt:lpstr>ПОРЯДОК СОСТАВЛЕНИЯ ОТЧЕТА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Пояснение к ГОФ 17 Кадры</dc:title>
  <dc:creator>Kenzhekulova_R</dc:creator>
  <cp:lastModifiedBy>Рауза Н. Кенжекулова</cp:lastModifiedBy>
  <cp:revision>157</cp:revision>
  <cp:lastPrinted>2023-02-13T03:29:00Z</cp:lastPrinted>
  <dcterms:created xsi:type="dcterms:W3CDTF">2022-06-19T08:53:45Z</dcterms:created>
  <dcterms:modified xsi:type="dcterms:W3CDTF">2023-12-22T05:56:58Z</dcterms:modified>
</cp:coreProperties>
</file>