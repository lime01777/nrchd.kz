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8" r:id="rId2"/>
    <p:sldId id="259" r:id="rId3"/>
  </p:sldIdLst>
  <p:sldSz cx="12192000" cy="6858000"/>
  <p:notesSz cx="6797675" cy="9928225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0D31A9F7-887C-4791-8B37-70EEBC3E1388}">
          <p14:sldIdLst/>
        </p14:section>
        <p14:section name="Раздел без заголовка" id="{1F3A7D0D-B1A7-48B3-999E-C8340B604042}">
          <p14:sldIdLst>
            <p14:sldId id="258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135" autoAdjust="0"/>
  </p:normalViewPr>
  <p:slideViewPr>
    <p:cSldViewPr snapToGrid="0">
      <p:cViewPr varScale="1">
        <p:scale>
          <a:sx n="108" d="100"/>
          <a:sy n="108" d="100"/>
        </p:scale>
        <p:origin x="7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CA44C1-B642-4E85-9B5F-41697F073C10}" type="datetimeFigureOut">
              <a:rPr lang="ru-KZ" smtClean="0"/>
              <a:t>20.11.2023</a:t>
            </a:fld>
            <a:endParaRPr lang="ru-KZ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KZ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A30526-F3B2-4E5B-939D-9A33945EEB59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261332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A30526-F3B2-4E5B-939D-9A33945EEB59}" type="slidenum">
              <a:rPr lang="ru-KZ" smtClean="0"/>
              <a:t>1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935728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20.11.2023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2026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20.11.2023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8950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20.11.2023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9618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20.11.2023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6819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20.11.2023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7155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20.11.2023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0880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20.11.2023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8286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20.11.2023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824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20.11.2023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3270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20.11.2023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0286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20.11.2023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9855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73A58A-76BB-4C85-9022-94AB6AFDD339}" type="datetimeFigureOut">
              <a:rPr lang="ru-RU" smtClean="0"/>
              <a:t>20.11.2023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1313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E55935E7-5006-C693-DFA5-7253FF321A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1233757"/>
              </p:ext>
            </p:extLst>
          </p:nvPr>
        </p:nvGraphicFramePr>
        <p:xfrm>
          <a:off x="224217" y="886284"/>
          <a:ext cx="11689865" cy="58371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81">
                  <a:extLst>
                    <a:ext uri="{9D8B030D-6E8A-4147-A177-3AD203B41FA5}">
                      <a16:colId xmlns:a16="http://schemas.microsoft.com/office/drawing/2014/main" val="1921380296"/>
                    </a:ext>
                  </a:extLst>
                </a:gridCol>
                <a:gridCol w="4184920">
                  <a:extLst>
                    <a:ext uri="{9D8B030D-6E8A-4147-A177-3AD203B41FA5}">
                      <a16:colId xmlns:a16="http://schemas.microsoft.com/office/drawing/2014/main" val="4068803403"/>
                    </a:ext>
                  </a:extLst>
                </a:gridCol>
                <a:gridCol w="1848276">
                  <a:extLst>
                    <a:ext uri="{9D8B030D-6E8A-4147-A177-3AD203B41FA5}">
                      <a16:colId xmlns:a16="http://schemas.microsoft.com/office/drawing/2014/main" val="4046413179"/>
                    </a:ext>
                  </a:extLst>
                </a:gridCol>
                <a:gridCol w="1781584">
                  <a:extLst>
                    <a:ext uri="{9D8B030D-6E8A-4147-A177-3AD203B41FA5}">
                      <a16:colId xmlns:a16="http://schemas.microsoft.com/office/drawing/2014/main" val="3772268787"/>
                    </a:ext>
                  </a:extLst>
                </a:gridCol>
                <a:gridCol w="1867330">
                  <a:extLst>
                    <a:ext uri="{9D8B030D-6E8A-4147-A177-3AD203B41FA5}">
                      <a16:colId xmlns:a16="http://schemas.microsoft.com/office/drawing/2014/main" val="1926070561"/>
                    </a:ext>
                  </a:extLst>
                </a:gridCol>
                <a:gridCol w="1743474">
                  <a:extLst>
                    <a:ext uri="{9D8B030D-6E8A-4147-A177-3AD203B41FA5}">
                      <a16:colId xmlns:a16="http://schemas.microsoft.com/office/drawing/2014/main" val="1255268918"/>
                    </a:ext>
                  </a:extLst>
                </a:gridCol>
              </a:tblGrid>
              <a:tr h="503129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№</a:t>
                      </a:r>
                      <a:endParaRPr lang="ru-KZ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ru-RU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Наименования </a:t>
                      </a:r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по разделам</a:t>
                      </a:r>
                      <a:endParaRPr lang="ru-RU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.10.2023 г. - 2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.10.2023 г.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30.10.2023 г. - 05.11.2023 г.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06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.1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.2023 г. - 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.11.2023 г.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13.1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.2023 г. - 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9.11.2023 г.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49249354"/>
                  </a:ext>
                </a:extLst>
              </a:tr>
              <a:tr h="20099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Плановые госпитализации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23 552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27 989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26 626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27 313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3492190"/>
                  </a:ext>
                </a:extLst>
              </a:tr>
              <a:tr h="20099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Количество беременных женщин поступивших под наблюдение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6 270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7 483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7 849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7 704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4958052"/>
                  </a:ext>
                </a:extLst>
              </a:tr>
              <a:tr h="20099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Родившиеся, из них: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6 903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6 691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7 309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6 817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07844902"/>
                  </a:ext>
                </a:extLst>
              </a:tr>
              <a:tr h="221610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kk-KZ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</a:t>
                      </a:r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альчиков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3 573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3 484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3 674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3 507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1762358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девочек 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3 330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3 207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3 635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3 310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91897885"/>
                  </a:ext>
                </a:extLst>
              </a:tr>
              <a:tr h="20099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Пролеченных иностранцев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7922413"/>
                  </a:ext>
                </a:extLst>
              </a:tr>
              <a:tr h="22057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Количество оперированных больных на открытом сердце 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136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196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228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22298685"/>
                  </a:ext>
                </a:extLst>
              </a:tr>
              <a:tr h="311388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средняя стоимость операций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3 398 053,6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2 875 660,38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2 790 732,57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2 665 724,93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54270390"/>
                  </a:ext>
                </a:extLst>
              </a:tr>
              <a:tr h="269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Число </a:t>
                      </a:r>
                      <a:r>
                        <a:rPr lang="ru-RU" sz="1000" u="none" strike="noStrike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стентирований</a:t>
                      </a:r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коронарных сосудов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366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460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486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434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33699336"/>
                  </a:ext>
                </a:extLst>
              </a:tr>
              <a:tr h="130313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                                                                                 экстренно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258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40661728"/>
                  </a:ext>
                </a:extLst>
              </a:tr>
              <a:tr h="175491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                                                                                    </a:t>
                      </a:r>
                      <a:r>
                        <a:rPr lang="ru-RU" sz="800" i="1" u="none" strike="noStrike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планово</a:t>
                      </a:r>
                      <a:endParaRPr lang="ru-RU" sz="800" b="0" i="1" u="none" strike="noStrike" noProof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162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223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280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176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48221019"/>
                  </a:ext>
                </a:extLst>
              </a:tr>
              <a:tr h="21911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Число имплантаций электрокардиостимулятора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82559232"/>
                  </a:ext>
                </a:extLst>
              </a:tr>
              <a:tr h="223877">
                <a:tc>
                  <a:txBody>
                    <a:bodyPr/>
                    <a:lstStyle/>
                    <a:p>
                      <a:pPr algn="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                                                                                 экстренно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75572856"/>
                  </a:ext>
                </a:extLst>
              </a:tr>
              <a:tr h="322441">
                <a:tc>
                  <a:txBody>
                    <a:bodyPr/>
                    <a:lstStyle/>
                    <a:p>
                      <a:pPr algn="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                                                                                    планово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18320095"/>
                  </a:ext>
                </a:extLst>
              </a:tr>
              <a:tr h="364691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just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Радиохирургический метод лечения заболеваний ЦНС с применением аппарата Гамма-нож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99497073"/>
                  </a:ext>
                </a:extLst>
              </a:tr>
              <a:tr h="20099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Число полных, частичных замен суставов</a:t>
                      </a:r>
                    </a:p>
                    <a:p>
                      <a:pPr algn="l" rtl="0" fontAlgn="t"/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254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329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288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290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88244396"/>
                  </a:ext>
                </a:extLst>
              </a:tr>
              <a:tr h="35869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just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Число офтальмологических операций  (факоэмульсификация катаракты и факоэмульсификация сублюксированного хрусталика)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868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1 237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1 171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1 242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06868572"/>
                  </a:ext>
                </a:extLst>
              </a:tr>
              <a:tr h="285706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произведено в  круглосуточных стационарах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360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549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458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64962537"/>
                  </a:ext>
                </a:extLst>
              </a:tr>
              <a:tr h="212437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произведено в дневных стационарах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784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59894772"/>
                  </a:ext>
                </a:extLst>
              </a:tr>
              <a:tr h="20099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Число трансплантаций органов и тканей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38659342"/>
                  </a:ext>
                </a:extLst>
              </a:tr>
              <a:tr h="311388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средняя стоимость трансплантаций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1 748 965,46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4 689 832,24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4 278 404,18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2 548 320,95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88336694"/>
                  </a:ext>
                </a:extLst>
              </a:tr>
              <a:tr h="11569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Количество посещений ПМСП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2 196 888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2 438 174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2 500 209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2 626 183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2584185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CB086A3-5556-6602-15D1-9ABE6CCE8C97}"/>
              </a:ext>
            </a:extLst>
          </p:cNvPr>
          <p:cNvSpPr txBox="1"/>
          <p:nvPr/>
        </p:nvSpPr>
        <p:spPr>
          <a:xfrm>
            <a:off x="3348276" y="44194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Еженедельный медико-статистический обзор</a:t>
            </a:r>
            <a:endParaRPr lang="ru-KZ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3560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1EE9E549-B70E-0D27-5510-182C74F4FA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4179926"/>
              </p:ext>
            </p:extLst>
          </p:nvPr>
        </p:nvGraphicFramePr>
        <p:xfrm>
          <a:off x="301502" y="935122"/>
          <a:ext cx="11473542" cy="55107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826">
                  <a:extLst>
                    <a:ext uri="{9D8B030D-6E8A-4147-A177-3AD203B41FA5}">
                      <a16:colId xmlns:a16="http://schemas.microsoft.com/office/drawing/2014/main" val="4147502599"/>
                    </a:ext>
                  </a:extLst>
                </a:gridCol>
                <a:gridCol w="3686574">
                  <a:extLst>
                    <a:ext uri="{9D8B030D-6E8A-4147-A177-3AD203B41FA5}">
                      <a16:colId xmlns:a16="http://schemas.microsoft.com/office/drawing/2014/main" val="1901606157"/>
                    </a:ext>
                  </a:extLst>
                </a:gridCol>
                <a:gridCol w="1894114">
                  <a:extLst>
                    <a:ext uri="{9D8B030D-6E8A-4147-A177-3AD203B41FA5}">
                      <a16:colId xmlns:a16="http://schemas.microsoft.com/office/drawing/2014/main" val="1739884761"/>
                    </a:ext>
                  </a:extLst>
                </a:gridCol>
                <a:gridCol w="1940767">
                  <a:extLst>
                    <a:ext uri="{9D8B030D-6E8A-4147-A177-3AD203B41FA5}">
                      <a16:colId xmlns:a16="http://schemas.microsoft.com/office/drawing/2014/main" val="2764365992"/>
                    </a:ext>
                  </a:extLst>
                </a:gridCol>
                <a:gridCol w="1810139">
                  <a:extLst>
                    <a:ext uri="{9D8B030D-6E8A-4147-A177-3AD203B41FA5}">
                      <a16:colId xmlns:a16="http://schemas.microsoft.com/office/drawing/2014/main" val="219877528"/>
                    </a:ext>
                  </a:extLst>
                </a:gridCol>
                <a:gridCol w="1866122">
                  <a:extLst>
                    <a:ext uri="{9D8B030D-6E8A-4147-A177-3AD203B41FA5}">
                      <a16:colId xmlns:a16="http://schemas.microsoft.com/office/drawing/2014/main" val="1353662163"/>
                    </a:ext>
                  </a:extLst>
                </a:gridCol>
              </a:tblGrid>
              <a:tr h="34877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№</a:t>
                      </a:r>
                      <a:endParaRPr lang="ru-KZ" sz="1000" u="none" strike="noStrike" kern="12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u="none" strike="noStrike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Бөлімдер бойынша атауы</a:t>
                      </a:r>
                      <a:endParaRPr lang="ru-RU" sz="1000" u="none" strike="noStrike" kern="12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.10.2023 </a:t>
                      </a:r>
                      <a:r>
                        <a:rPr lang="kk-KZ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- 2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.10.2023 </a:t>
                      </a:r>
                      <a:r>
                        <a:rPr lang="kk-KZ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endParaRPr lang="ru-RU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30.10.2023 </a:t>
                      </a:r>
                      <a:r>
                        <a:rPr lang="kk-KZ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- 05.11.2023 </a:t>
                      </a:r>
                      <a:r>
                        <a:rPr lang="kk-KZ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endParaRPr lang="ru-RU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06.11.2023 </a:t>
                      </a:r>
                      <a:r>
                        <a:rPr lang="kk-KZ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- 12.11.2023 </a:t>
                      </a:r>
                      <a:r>
                        <a:rPr lang="kk-KZ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endParaRPr lang="ru-RU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13.11.2023 </a:t>
                      </a:r>
                      <a:r>
                        <a:rPr lang="kk-KZ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- 19.11.2023 </a:t>
                      </a:r>
                      <a:r>
                        <a:rPr lang="kk-KZ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endParaRPr lang="ru-RU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00993765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</a:t>
                      </a:r>
                      <a:endParaRPr lang="ru-KZ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Жоспарлы емдеуге</a:t>
                      </a:r>
                      <a:r>
                        <a:rPr lang="ru-RU" sz="1000" u="none" strike="noStrike" kern="1200" baseline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жатқызылғандар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23 552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27 989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26 626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27 313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01437224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Бақылауға алынған жүкті әйелдердің саны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6 270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7 483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7 849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7 704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62943156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Дүниеге келген сәбилер, оның ішінде: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6 903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6 691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7 309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6 817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87560162"/>
                  </a:ext>
                </a:extLst>
              </a:tr>
              <a:tr h="207698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Ұлдар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3 573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3 484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3 674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3 507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78441133"/>
                  </a:ext>
                </a:extLst>
              </a:tr>
              <a:tr h="193964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Қыздар 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3 330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3 207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3 635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3 310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3661935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Емделіп шыққан шетел азаматтары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3440052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Жүрекке ашық ота жасалған науқастардың</a:t>
                      </a:r>
                      <a:r>
                        <a:rPr lang="ru-RU" sz="1000" u="none" strike="noStrike" kern="1200" baseline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саны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136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196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228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9495006"/>
                  </a:ext>
                </a:extLst>
              </a:tr>
              <a:tr h="302803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отаның орташа құны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3 398 053,6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2 875 660,38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2 790 732,57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2 665 724,93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79066671"/>
                  </a:ext>
                </a:extLst>
              </a:tr>
              <a:tr h="21104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Коронарлық тамырларды стенттеу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366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460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486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434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23816123"/>
                  </a:ext>
                </a:extLst>
              </a:tr>
              <a:tr h="175755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жедел түрде 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258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66811862"/>
                  </a:ext>
                </a:extLst>
              </a:tr>
              <a:tr h="184727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жоспарлы түрде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162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223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280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176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66491788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Электрокардиостимуляторды импланттау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60937987"/>
                  </a:ext>
                </a:extLst>
              </a:tr>
              <a:tr h="303235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                                                                                                          жедел түрде 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78470743"/>
                  </a:ext>
                </a:extLst>
              </a:tr>
              <a:tr h="192755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жоспарлы түрде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43208198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just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Гамма-пышақ аппаратын қолдана отырып, ОЖЖ ауруларын емдеудің радиохирургиялық әдісімен жасалған оталар саны</a:t>
                      </a:r>
                    </a:p>
                    <a:p>
                      <a:pPr algn="l" rtl="0" fontAlgn="t"/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13521727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Буындарды толық, ішінара ауыстырулар саны</a:t>
                      </a:r>
                    </a:p>
                    <a:p>
                      <a:pPr algn="l" rtl="0" fontAlgn="t"/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254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329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288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290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34849936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just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Офтальмологиялық операциялар саны (факоэмульсификациялық катаракта)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868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1 237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1 171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1 242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07569514"/>
                  </a:ext>
                </a:extLst>
              </a:tr>
              <a:tr h="218973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тәулік бойы жұмыс істейтін стационарларда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360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549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458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76527969"/>
                  </a:ext>
                </a:extLst>
              </a:tr>
              <a:tr h="221672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күндізгі стационарларда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784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66386256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Мүшелер мен тіндерді трансплантациялаулар саны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22327453"/>
                  </a:ext>
                </a:extLst>
              </a:tr>
              <a:tr h="302803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трансплантанциялаудың орташа құны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1 748 965,46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4 689 832,24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4 278 404,18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2 548 320,95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76726203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МСАК-</a:t>
                      </a:r>
                      <a:r>
                        <a:rPr lang="ru-RU" sz="10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қа</a:t>
                      </a:r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0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жүгінгендер</a:t>
                      </a:r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саны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2 196 888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2 438 174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2 500 209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2 626 183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618218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8C5730C-2DDE-EEA6-77FB-0CB9A06178E3}"/>
              </a:ext>
            </a:extLst>
          </p:cNvPr>
          <p:cNvSpPr txBox="1"/>
          <p:nvPr/>
        </p:nvSpPr>
        <p:spPr>
          <a:xfrm>
            <a:off x="3317739" y="41800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k-KZ" sz="1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Апталық медициналық-статистикалық шолу </a:t>
            </a: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350021598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1848</TotalTime>
  <Words>605</Words>
  <Application>Microsoft Macintosh PowerPoint</Application>
  <PresentationFormat>Широкоэкранный</PresentationFormat>
  <Paragraphs>279</Paragraphs>
  <Slides>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Еженедельный медико-статистический анализ</dc:title>
  <dc:creator>Зарема С. Казангапова</dc:creator>
  <cp:lastModifiedBy>Gulim Nietzhanova</cp:lastModifiedBy>
  <cp:revision>218</cp:revision>
  <cp:lastPrinted>2023-09-25T05:00:53Z</cp:lastPrinted>
  <dcterms:created xsi:type="dcterms:W3CDTF">2023-08-08T08:45:03Z</dcterms:created>
  <dcterms:modified xsi:type="dcterms:W3CDTF">2023-11-20T09:20:21Z</dcterms:modified>
</cp:coreProperties>
</file>