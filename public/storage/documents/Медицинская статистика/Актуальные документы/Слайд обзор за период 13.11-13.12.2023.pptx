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D31A9F7-887C-4791-8B37-70EEBC3E1388}">
          <p14:sldIdLst/>
        </p14:section>
        <p14:section name="Раздел без заголовка" id="{1F3A7D0D-B1A7-48B3-999E-C8340B604042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2"/>
    <p:restoredTop sz="94127" autoAdjust="0"/>
  </p:normalViewPr>
  <p:slideViewPr>
    <p:cSldViewPr snapToGrid="0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A44C1-B642-4E85-9B5F-41697F073C10}" type="datetimeFigureOut">
              <a:rPr lang="ru-KZ" smtClean="0"/>
              <a:t>13.12.2023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0526-F3B2-4E5B-939D-9A33945EEB5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13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0526-F3B2-4E5B-939D-9A33945EEB5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572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0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95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A58A-76BB-4C85-9022-94AB6AFDD339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5935E7-5006-C693-DFA5-7253FF32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719094"/>
              </p:ext>
            </p:extLst>
          </p:nvPr>
        </p:nvGraphicFramePr>
        <p:xfrm>
          <a:off x="763272" y="826909"/>
          <a:ext cx="10665456" cy="5761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588">
                  <a:extLst>
                    <a:ext uri="{9D8B030D-6E8A-4147-A177-3AD203B41FA5}">
                      <a16:colId xmlns:a16="http://schemas.microsoft.com/office/drawing/2014/main" val="1921380296"/>
                    </a:ext>
                  </a:extLst>
                </a:gridCol>
                <a:gridCol w="7087613">
                  <a:extLst>
                    <a:ext uri="{9D8B030D-6E8A-4147-A177-3AD203B41FA5}">
                      <a16:colId xmlns:a16="http://schemas.microsoft.com/office/drawing/2014/main" val="4068803403"/>
                    </a:ext>
                  </a:extLst>
                </a:gridCol>
                <a:gridCol w="3130255">
                  <a:extLst>
                    <a:ext uri="{9D8B030D-6E8A-4147-A177-3AD203B41FA5}">
                      <a16:colId xmlns:a16="http://schemas.microsoft.com/office/drawing/2014/main" val="4046413179"/>
                    </a:ext>
                  </a:extLst>
                </a:gridCol>
              </a:tblGrid>
              <a:tr h="49578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Наименования по разделам</a:t>
                      </a:r>
                      <a:endParaRPr lang="ru-RU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13.1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- 1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249354"/>
                  </a:ext>
                </a:extLst>
              </a:tr>
              <a:tr h="198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Плановые госпитализации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121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92190"/>
                  </a:ext>
                </a:extLst>
              </a:tr>
              <a:tr h="198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беременных женщин поступивших под наблюдение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958052"/>
                  </a:ext>
                </a:extLst>
              </a:tr>
              <a:tr h="198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Родившиеся, из них: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31 609</a:t>
                      </a:r>
                      <a:endParaRPr lang="ru-KZ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7844902"/>
                  </a:ext>
                </a:extLst>
              </a:tr>
              <a:tr h="21837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kk-KZ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альчиков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16 320</a:t>
                      </a:r>
                      <a:endParaRPr lang="ru-KZ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7623583"/>
                  </a:ext>
                </a:extLst>
              </a:tr>
              <a:tr h="20023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девочек 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15 289</a:t>
                      </a:r>
                      <a:endParaRPr lang="ru-KZ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897885"/>
                  </a:ext>
                </a:extLst>
              </a:tr>
              <a:tr h="198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Пролеченных иностранцев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170</a:t>
                      </a:r>
                      <a:endParaRPr lang="ru-KZ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922413"/>
                  </a:ext>
                </a:extLst>
              </a:tr>
              <a:tr h="21736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оперированных больных на открытом сердце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1 026</a:t>
                      </a:r>
                      <a:endParaRPr lang="ru-KZ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298685"/>
                  </a:ext>
                </a:extLst>
              </a:tr>
              <a:tr h="30684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операций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839</a:t>
                      </a:r>
                      <a:r>
                        <a:rPr lang="en-US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396,93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4270390"/>
                  </a:ext>
                </a:extLst>
              </a:tr>
              <a:tr h="26598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</a:t>
                      </a:r>
                      <a:r>
                        <a:rPr lang="ru-RU" sz="10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стентирований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коронарных сосудов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2 438</a:t>
                      </a:r>
                      <a:endParaRPr lang="ru-KZ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3699336"/>
                  </a:ext>
                </a:extLst>
              </a:tr>
              <a:tr h="154809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1 602</a:t>
                      </a:r>
                      <a:endParaRPr lang="ru-KZ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0661728"/>
                  </a:ext>
                </a:extLst>
              </a:tr>
              <a:tr h="172931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</a:t>
                      </a:r>
                      <a:r>
                        <a:rPr lang="ru-RU" sz="800" i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планово</a:t>
                      </a:r>
                      <a:endParaRPr lang="ru-RU" sz="800" b="0" i="1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836</a:t>
                      </a:r>
                      <a:endParaRPr lang="ru-KZ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221019"/>
                  </a:ext>
                </a:extLst>
              </a:tr>
              <a:tr h="21591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имплантаций электрокардиостимулятора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219</a:t>
                      </a:r>
                      <a:endParaRPr lang="ru-KZ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2559232"/>
                  </a:ext>
                </a:extLst>
              </a:tr>
              <a:tr h="220611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93</a:t>
                      </a:r>
                      <a:endParaRPr lang="ru-KZ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5572856"/>
                  </a:ext>
                </a:extLst>
              </a:tr>
              <a:tr h="317737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планово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126</a:t>
                      </a:r>
                      <a:endParaRPr lang="ru-KZ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8320095"/>
                  </a:ext>
                </a:extLst>
              </a:tr>
              <a:tr h="35937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9497073"/>
                  </a:ext>
                </a:extLst>
              </a:tr>
              <a:tr h="30498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полных, частичных замен суставов</a:t>
                      </a:r>
                    </a:p>
                    <a:p>
                      <a:pPr algn="l" rtl="0" fontAlgn="t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1 564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244396"/>
                  </a:ext>
                </a:extLst>
              </a:tr>
              <a:tr h="353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6 302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6868572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 круглосуточных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4962537"/>
                  </a:ext>
                </a:extLst>
              </a:tr>
              <a:tr h="20933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дневных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9894772"/>
                  </a:ext>
                </a:extLst>
              </a:tr>
              <a:tr h="198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трансплантаций органов и тканей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8659342"/>
                  </a:ext>
                </a:extLst>
              </a:tr>
              <a:tr h="30684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трансплантаций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2 291 738,38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336694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посещений ПМСП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247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58418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B086A3-5556-6602-15D1-9ABE6CCE8C97}"/>
              </a:ext>
            </a:extLst>
          </p:cNvPr>
          <p:cNvSpPr txBox="1"/>
          <p:nvPr/>
        </p:nvSpPr>
        <p:spPr>
          <a:xfrm>
            <a:off x="4587551" y="269901"/>
            <a:ext cx="3634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Медико-статистический обзор</a:t>
            </a:r>
            <a:endParaRPr lang="ru-KZ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E9E549-B70E-0D27-5510-182C74F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131659"/>
              </p:ext>
            </p:extLst>
          </p:nvPr>
        </p:nvGraphicFramePr>
        <p:xfrm>
          <a:off x="550884" y="934294"/>
          <a:ext cx="10885055" cy="5505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657">
                  <a:extLst>
                    <a:ext uri="{9D8B030D-6E8A-4147-A177-3AD203B41FA5}">
                      <a16:colId xmlns:a16="http://schemas.microsoft.com/office/drawing/2014/main" val="4147502599"/>
                    </a:ext>
                  </a:extLst>
                </a:gridCol>
                <a:gridCol w="6851953">
                  <a:extLst>
                    <a:ext uri="{9D8B030D-6E8A-4147-A177-3AD203B41FA5}">
                      <a16:colId xmlns:a16="http://schemas.microsoft.com/office/drawing/2014/main" val="1901606157"/>
                    </a:ext>
                  </a:extLst>
                </a:gridCol>
                <a:gridCol w="3520445">
                  <a:extLst>
                    <a:ext uri="{9D8B030D-6E8A-4147-A177-3AD203B41FA5}">
                      <a16:colId xmlns:a16="http://schemas.microsoft.com/office/drawing/2014/main" val="1739884761"/>
                    </a:ext>
                  </a:extLst>
                </a:gridCol>
              </a:tblGrid>
              <a:tr h="3484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4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Бөлімдер бойынша атауы</a:t>
                      </a:r>
                      <a:endParaRPr lang="ru-RU" sz="14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13.11.2023 </a:t>
                      </a:r>
                      <a:r>
                        <a:rPr lang="kk-KZ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</a:t>
                      </a: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0993765"/>
                  </a:ext>
                </a:extLst>
              </a:tr>
              <a:tr h="195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емдеуге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жатқызылғандар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121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1437224"/>
                  </a:ext>
                </a:extLst>
              </a:tr>
              <a:tr h="195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Бақылауға алынған жүкті әйелдердің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2943156"/>
                  </a:ext>
                </a:extLst>
              </a:tr>
              <a:tr h="195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Дүниеге келген сәбилер, оның ішінде: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31 609</a:t>
                      </a:r>
                      <a:endParaRPr lang="ru-KZ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7560162"/>
                  </a:ext>
                </a:extLst>
              </a:tr>
              <a:tr h="20747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Ұлдар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16 320</a:t>
                      </a:r>
                      <a:endParaRPr lang="ru-KZ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441133"/>
                  </a:ext>
                </a:extLst>
              </a:tr>
              <a:tr h="19375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Қыздар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15 289</a:t>
                      </a:r>
                      <a:endParaRPr lang="ru-KZ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61935"/>
                  </a:ext>
                </a:extLst>
              </a:tr>
              <a:tr h="195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Емделіп шыққан шетел азаматтары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170</a:t>
                      </a:r>
                      <a:endParaRPr lang="ru-KZ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440052"/>
                  </a:ext>
                </a:extLst>
              </a:tr>
              <a:tr h="195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Жүрекке ашық ота жасалған науқастардың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1 026</a:t>
                      </a:r>
                      <a:endParaRPr lang="ru-KZ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95006"/>
                  </a:ext>
                </a:extLst>
              </a:tr>
              <a:tr h="30247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отаның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839</a:t>
                      </a:r>
                      <a:r>
                        <a:rPr lang="en-US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396,93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066671"/>
                  </a:ext>
                </a:extLst>
              </a:tr>
              <a:tr h="2108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Коронарлық тамырларды стенттеу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2 438</a:t>
                      </a:r>
                      <a:endParaRPr lang="ru-KZ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3816123"/>
                  </a:ext>
                </a:extLst>
              </a:tr>
              <a:tr h="17556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1 602</a:t>
                      </a:r>
                      <a:endParaRPr lang="ru-KZ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811862"/>
                  </a:ext>
                </a:extLst>
              </a:tr>
              <a:tr h="184529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836</a:t>
                      </a:r>
                      <a:endParaRPr lang="ru-KZ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491788"/>
                  </a:ext>
                </a:extLst>
              </a:tr>
              <a:tr h="195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Электрокардиостимуляторды импланттау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219</a:t>
                      </a:r>
                      <a:endParaRPr lang="ru-KZ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937987"/>
                  </a:ext>
                </a:extLst>
              </a:tr>
              <a:tr h="30291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93</a:t>
                      </a:r>
                      <a:endParaRPr lang="ru-KZ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8470743"/>
                  </a:ext>
                </a:extLst>
              </a:tr>
              <a:tr h="19254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126</a:t>
                      </a:r>
                      <a:endParaRPr lang="ru-KZ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3208198"/>
                  </a:ext>
                </a:extLst>
              </a:tr>
              <a:tr h="461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3521727"/>
                  </a:ext>
                </a:extLst>
              </a:tr>
              <a:tr h="3096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Буындарды толық, ішінара ауыстырулар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1 564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849936"/>
                  </a:ext>
                </a:extLst>
              </a:tr>
              <a:tr h="3096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Офтальмологиялық операциялар саны (факоэмульсификациялық катаракта)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6 302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7569514"/>
                  </a:ext>
                </a:extLst>
              </a:tr>
              <a:tr h="21873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тәулік бойы жұмыс істейтін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6527969"/>
                  </a:ext>
                </a:extLst>
              </a:tr>
              <a:tr h="221434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күндізгі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386256"/>
                  </a:ext>
                </a:extLst>
              </a:tr>
              <a:tr h="195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Мүшелер мен тіндерді трансплантациялаулар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27453"/>
                  </a:ext>
                </a:extLst>
              </a:tr>
              <a:tr h="30247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трансплантанциялаудың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2 291 738,38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6726203"/>
                  </a:ext>
                </a:extLst>
              </a:tr>
              <a:tr h="195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МСАК-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қа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жүгінгендер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247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821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C5730C-2DDE-EEA6-77FB-0CB9A06178E3}"/>
              </a:ext>
            </a:extLst>
          </p:cNvPr>
          <p:cNvSpPr txBox="1"/>
          <p:nvPr/>
        </p:nvSpPr>
        <p:spPr>
          <a:xfrm>
            <a:off x="4267764" y="420380"/>
            <a:ext cx="4401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Медициналық-статистикалық шолу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021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2293</TotalTime>
  <Words>365</Words>
  <Application>Microsoft Macintosh PowerPoint</Application>
  <PresentationFormat>Широкоэкранный</PresentationFormat>
  <Paragraphs>141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Еженедельный медико-статистический анализ</dc:title>
  <dc:creator>Зарема С. Казангапова</dc:creator>
  <cp:lastModifiedBy>Gulim Nietzhanova</cp:lastModifiedBy>
  <cp:revision>232</cp:revision>
  <cp:lastPrinted>2023-09-25T05:00:53Z</cp:lastPrinted>
  <dcterms:created xsi:type="dcterms:W3CDTF">2023-08-08T08:45:03Z</dcterms:created>
  <dcterms:modified xsi:type="dcterms:W3CDTF">2023-12-13T11:45:59Z</dcterms:modified>
</cp:coreProperties>
</file>