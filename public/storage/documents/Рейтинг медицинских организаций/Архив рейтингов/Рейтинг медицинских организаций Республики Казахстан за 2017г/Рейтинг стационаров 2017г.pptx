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8" r:id="rId4"/>
    <p:sldId id="289" r:id="rId5"/>
    <p:sldId id="290" r:id="rId6"/>
    <p:sldId id="291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78" autoAdjust="0"/>
    <p:restoredTop sz="94675" autoAdjust="0"/>
  </p:normalViewPr>
  <p:slideViewPr>
    <p:cSldViewPr>
      <p:cViewPr>
        <p:scale>
          <a:sx n="100" d="100"/>
          <a:sy n="100" d="100"/>
        </p:scale>
        <p:origin x="-1392" y="-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13.07.2018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827584" y="3153968"/>
            <a:ext cx="7582349" cy="1364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/>
          <a:p>
            <a:pPr algn="ctr">
              <a:defRPr sz="5000">
                <a:solidFill>
                  <a:srgbClr val="53585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ru-RU" sz="2800" b="1" dirty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РЕЙТИНГОВАЯ ОЦЕНКА ДЕЯТЕЛЬНОСТИ</a:t>
            </a:r>
          </a:p>
          <a:p>
            <a:pPr algn="ctr">
              <a:defRPr sz="5000">
                <a:solidFill>
                  <a:srgbClr val="53585F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pPr>
            <a:r>
              <a:rPr lang="ru-RU" sz="2800" b="1" dirty="0">
                <a:solidFill>
                  <a:srgbClr val="188AD8"/>
                </a:solidFill>
                <a:latin typeface="Arial" pitchFamily="34" charset="0"/>
                <a:ea typeface="Helvetica Neue"/>
                <a:cs typeface="Arial" pitchFamily="34" charset="0"/>
                <a:sym typeface="Helvetica Neue"/>
              </a:rPr>
              <a:t>СТАЦИОНАРОВ (детских, взрослых/  областных, городских)</a:t>
            </a:r>
          </a:p>
        </p:txBody>
      </p:sp>
      <p:sp>
        <p:nvSpPr>
          <p:cNvPr id="8" name="красная полоса" descr="Красная полоса"/>
          <p:cNvSpPr>
            <a:spLocks noGrp="1"/>
          </p:cNvSpPr>
          <p:nvPr>
            <p:ph type="ctrTitle"/>
          </p:nvPr>
        </p:nvSpPr>
        <p:spPr>
          <a:xfrm>
            <a:off x="323528" y="215900"/>
            <a:ext cx="8208912" cy="692150"/>
          </a:xfrm>
          <a:prstGeom prst="rect">
            <a:avLst/>
          </a:prstGeom>
          <a:solidFill>
            <a:srgbClr val="188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ru-RU" altLang="ru-RU" sz="1600" b="1" dirty="0">
                <a:solidFill>
                  <a:schemeClr val="bg1"/>
                </a:solidFill>
                <a:latin typeface="Arial" charset="0"/>
              </a:rPr>
              <a:t>РЕСПУБЛИКАНСКИЙ ЦЕНТР РАЗВИТИЯ ЗДРАВООХРАНЕНИЯ</a:t>
            </a:r>
            <a:br>
              <a:rPr lang="ru-RU" altLang="ru-RU" sz="1600" b="1" dirty="0">
                <a:solidFill>
                  <a:schemeClr val="bg1"/>
                </a:solidFill>
                <a:latin typeface="Arial" charset="0"/>
              </a:rPr>
            </a:br>
            <a:r>
              <a:rPr lang="ru-RU" altLang="ru-RU" sz="1600" b="1" dirty="0">
                <a:solidFill>
                  <a:schemeClr val="bg1"/>
                </a:solidFill>
                <a:latin typeface="Arial" charset="0"/>
              </a:rPr>
              <a:t>МИНИСТЕРСТВА ЗДРАВООХРАНЕНИЯ РЕСПУБЛИКИ </a:t>
            </a:r>
            <a:r>
              <a:rPr lang="ru-RU" altLang="ru-RU" sz="1600" b="1" dirty="0" smtClean="0">
                <a:solidFill>
                  <a:schemeClr val="bg1"/>
                </a:solidFill>
                <a:latin typeface="Arial" charset="0"/>
              </a:rPr>
              <a:t>КАЗАХСТАН</a:t>
            </a:r>
            <a:endParaRPr lang="ru-RU" dirty="0"/>
          </a:p>
        </p:txBody>
      </p:sp>
      <p:pic>
        <p:nvPicPr>
          <p:cNvPr id="9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469"/>
          <a:stretch>
            <a:fillRect/>
          </a:stretch>
        </p:blipFill>
        <p:spPr bwMode="auto">
          <a:xfrm>
            <a:off x="88161" y="138119"/>
            <a:ext cx="883439" cy="79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302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29666" y="0"/>
            <a:ext cx="9173666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084547"/>
              </p:ext>
            </p:extLst>
          </p:nvPr>
        </p:nvGraphicFramePr>
        <p:xfrm>
          <a:off x="1" y="476673"/>
          <a:ext cx="9144000" cy="6381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890613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6513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lang="en-US" sz="9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en-US" sz="9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9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endParaRPr lang="ru-RU" sz="9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268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ГКП на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ПХВ"Акмолинская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областная больница №2" при управлении здравоохранения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Акмолинской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02818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областная больница" при управлении здравоохранения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Акмолинской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1457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ГКП на ПХВ "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Актюбинская областная больница" </a:t>
                      </a:r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Государственного 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Учреждения "Управление Здравоохранения Актюбинской области" МЕДИЦИНСКИЙ ЦЕНТР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457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Актюбинская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РГП на ПХВ "Западно- 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Казахстанский государственный медицинский университет имени Марата Оспанова" с наблюдательным советом МЗСР Республики Казахстан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855889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Алматинская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Областной кардиологический центр" государственного учреждения "Управление здравоохранения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области"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85907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Областная больница города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Талдыкорган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" государственного учреждения "Управление здравоохранения Акима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области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ru-RU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75%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714577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grpSp>
        <p:nvGrpSpPr>
          <p:cNvPr id="4" name="Группа 3"/>
          <p:cNvGrpSpPr/>
          <p:nvPr/>
        </p:nvGrpSpPr>
        <p:grpSpPr>
          <a:xfrm>
            <a:off x="8132724" y="2162749"/>
            <a:ext cx="806733" cy="109788"/>
            <a:chOff x="4800372" y="271747"/>
            <a:chExt cx="806733" cy="148083"/>
          </a:xfrm>
        </p:grpSpPr>
        <p:sp>
          <p:nvSpPr>
            <p:cNvPr id="6" name="5-конечная звезда 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5-конечная звезда 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5-конечная звезда 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5-конечная звезда 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8132724" y="4762473"/>
            <a:ext cx="806733" cy="109788"/>
            <a:chOff x="4800372" y="271747"/>
            <a:chExt cx="806733" cy="148083"/>
          </a:xfrm>
        </p:grpSpPr>
        <p:sp>
          <p:nvSpPr>
            <p:cNvPr id="11" name="5-конечная звезда 1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5-конечная звезда 1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5-конечная звезда 1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5-конечная звезда 1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8120514" y="5587071"/>
            <a:ext cx="806733" cy="109788"/>
            <a:chOff x="4800372" y="271747"/>
            <a:chExt cx="806733" cy="148083"/>
          </a:xfrm>
        </p:grpSpPr>
        <p:sp>
          <p:nvSpPr>
            <p:cNvPr id="17" name="5-конечная звезда 1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5-конечная звезда 1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5-конечная звезда 1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5-конечная звезда 1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Группа 20"/>
          <p:cNvGrpSpPr/>
          <p:nvPr/>
        </p:nvGrpSpPr>
        <p:grpSpPr>
          <a:xfrm>
            <a:off x="5551213" y="2162748"/>
            <a:ext cx="582325" cy="109788"/>
            <a:chOff x="6236568" y="276066"/>
            <a:chExt cx="582325" cy="148083"/>
          </a:xfrm>
        </p:grpSpPr>
        <p:sp>
          <p:nvSpPr>
            <p:cNvPr id="22" name="5-конечная звезда 2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5-конечная звезда 2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5-конечная звезда 2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5554343" y="2716386"/>
            <a:ext cx="582325" cy="109788"/>
            <a:chOff x="6236568" y="276066"/>
            <a:chExt cx="582325" cy="148083"/>
          </a:xfrm>
        </p:grpSpPr>
        <p:sp>
          <p:nvSpPr>
            <p:cNvPr id="26" name="5-конечная звезда 2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5-конечная звезда 2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5-конечная звезда 2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9" name="Группа 28"/>
          <p:cNvGrpSpPr/>
          <p:nvPr/>
        </p:nvGrpSpPr>
        <p:grpSpPr>
          <a:xfrm>
            <a:off x="8227768" y="2716387"/>
            <a:ext cx="582325" cy="109788"/>
            <a:chOff x="6236568" y="276066"/>
            <a:chExt cx="582325" cy="148083"/>
          </a:xfrm>
        </p:grpSpPr>
        <p:sp>
          <p:nvSpPr>
            <p:cNvPr id="30" name="5-конечная звезда 2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1" name="5-конечная звезда 3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2" name="5-конечная звезда 3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3" name="Группа 32"/>
          <p:cNvGrpSpPr/>
          <p:nvPr/>
        </p:nvGrpSpPr>
        <p:grpSpPr>
          <a:xfrm>
            <a:off x="8224638" y="3308454"/>
            <a:ext cx="582325" cy="109788"/>
            <a:chOff x="6236568" y="276066"/>
            <a:chExt cx="582325" cy="148083"/>
          </a:xfrm>
        </p:grpSpPr>
        <p:sp>
          <p:nvSpPr>
            <p:cNvPr id="34" name="5-конечная звезда 3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5-конечная звезда 3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5-конечная звезда 3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37" name="Группа 36"/>
          <p:cNvGrpSpPr/>
          <p:nvPr/>
        </p:nvGrpSpPr>
        <p:grpSpPr>
          <a:xfrm>
            <a:off x="8224638" y="3997679"/>
            <a:ext cx="582325" cy="109788"/>
            <a:chOff x="6236568" y="276066"/>
            <a:chExt cx="582325" cy="148083"/>
          </a:xfrm>
        </p:grpSpPr>
        <p:sp>
          <p:nvSpPr>
            <p:cNvPr id="38" name="5-конечная звезда 3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5-конечная звезда 3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5-конечная звезда 3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1" name="Группа 40"/>
          <p:cNvGrpSpPr/>
          <p:nvPr/>
        </p:nvGrpSpPr>
        <p:grpSpPr>
          <a:xfrm>
            <a:off x="5554343" y="4769716"/>
            <a:ext cx="582325" cy="109788"/>
            <a:chOff x="6236568" y="276066"/>
            <a:chExt cx="582325" cy="148083"/>
          </a:xfrm>
        </p:grpSpPr>
        <p:sp>
          <p:nvSpPr>
            <p:cNvPr id="42" name="5-конечная звезда 4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3" name="5-конечная звезда 4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4" name="5-конечная звезда 4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5" name="Группа 44"/>
          <p:cNvGrpSpPr/>
          <p:nvPr/>
        </p:nvGrpSpPr>
        <p:grpSpPr>
          <a:xfrm>
            <a:off x="5557473" y="5587070"/>
            <a:ext cx="582325" cy="109788"/>
            <a:chOff x="6236568" y="276066"/>
            <a:chExt cx="582325" cy="148083"/>
          </a:xfrm>
        </p:grpSpPr>
        <p:sp>
          <p:nvSpPr>
            <p:cNvPr id="46" name="5-конечная звезда 4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5-конечная звезда 4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5-конечная звезда 4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9" name="Группа 48"/>
          <p:cNvGrpSpPr/>
          <p:nvPr/>
        </p:nvGrpSpPr>
        <p:grpSpPr>
          <a:xfrm>
            <a:off x="5695229" y="3997680"/>
            <a:ext cx="365246" cy="109788"/>
            <a:chOff x="7472157" y="269324"/>
            <a:chExt cx="365246" cy="148082"/>
          </a:xfrm>
        </p:grpSpPr>
        <p:sp>
          <p:nvSpPr>
            <p:cNvPr id="50" name="5-конечная звезда 4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5-конечная звезда 5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53" name="5-конечная звезда 52"/>
          <p:cNvSpPr/>
          <p:nvPr/>
        </p:nvSpPr>
        <p:spPr>
          <a:xfrm>
            <a:off x="5785432" y="330845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380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-9525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369097"/>
              </p:ext>
            </p:extLst>
          </p:nvPr>
        </p:nvGraphicFramePr>
        <p:xfrm>
          <a:off x="2" y="476672"/>
          <a:ext cx="9143999" cy="63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9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36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0788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4916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4704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224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областная офтальмологическая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224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областная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85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Атырауский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областной кардиологический центр"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314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"Восточно-Казахстанский областной реабилитационный центр" управления здравоохранения Восточно-Казахстанской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768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"Восточно-Казахстанская областная больница" УЗ ВКО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314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Жамбылский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областной офтальмологический центр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485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областная больница центр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725909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54" name="Группа 53"/>
          <p:cNvGrpSpPr/>
          <p:nvPr/>
        </p:nvGrpSpPr>
        <p:grpSpPr>
          <a:xfrm>
            <a:off x="8159952" y="2646526"/>
            <a:ext cx="806733" cy="109788"/>
            <a:chOff x="4800372" y="271747"/>
            <a:chExt cx="806733" cy="148083"/>
          </a:xfrm>
        </p:grpSpPr>
        <p:sp>
          <p:nvSpPr>
            <p:cNvPr id="55" name="5-конечная звезда 5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5-конечная звезда 5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5-конечная звезда 5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9" name="Группа 58"/>
          <p:cNvGrpSpPr/>
          <p:nvPr/>
        </p:nvGrpSpPr>
        <p:grpSpPr>
          <a:xfrm>
            <a:off x="8119349" y="4470697"/>
            <a:ext cx="806733" cy="109788"/>
            <a:chOff x="4800372" y="271747"/>
            <a:chExt cx="806733" cy="148083"/>
          </a:xfrm>
        </p:grpSpPr>
        <p:sp>
          <p:nvSpPr>
            <p:cNvPr id="60" name="5-конечная звезда 5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8119349" y="5143312"/>
            <a:ext cx="806733" cy="109788"/>
            <a:chOff x="4800372" y="271747"/>
            <a:chExt cx="806733" cy="148083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9" name="Группа 68"/>
          <p:cNvGrpSpPr/>
          <p:nvPr/>
        </p:nvGrpSpPr>
        <p:grpSpPr>
          <a:xfrm>
            <a:off x="7968875" y="3868185"/>
            <a:ext cx="1068903" cy="116437"/>
            <a:chOff x="3405227" y="254701"/>
            <a:chExt cx="1022757" cy="198726"/>
          </a:xfrm>
        </p:grpSpPr>
        <p:sp>
          <p:nvSpPr>
            <p:cNvPr id="70" name="5-конечная звезда 6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5" name="Группа 74"/>
          <p:cNvGrpSpPr/>
          <p:nvPr/>
        </p:nvGrpSpPr>
        <p:grpSpPr>
          <a:xfrm>
            <a:off x="8267036" y="1991464"/>
            <a:ext cx="582325" cy="109788"/>
            <a:chOff x="6236568" y="276066"/>
            <a:chExt cx="582325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8270166" y="3191070"/>
            <a:ext cx="582325" cy="109788"/>
            <a:chOff x="6236568" y="276066"/>
            <a:chExt cx="582325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8236140" y="5789070"/>
            <a:ext cx="582325" cy="109788"/>
            <a:chOff x="6236568" y="276066"/>
            <a:chExt cx="582325" cy="148083"/>
          </a:xfrm>
        </p:grpSpPr>
        <p:sp>
          <p:nvSpPr>
            <p:cNvPr id="84" name="5-конечная звезда 8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7" name="Группа 86"/>
          <p:cNvGrpSpPr/>
          <p:nvPr/>
        </p:nvGrpSpPr>
        <p:grpSpPr>
          <a:xfrm>
            <a:off x="5504973" y="5805263"/>
            <a:ext cx="582325" cy="109788"/>
            <a:chOff x="6236568" y="276066"/>
            <a:chExt cx="582325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1" name="Группа 90"/>
          <p:cNvGrpSpPr/>
          <p:nvPr/>
        </p:nvGrpSpPr>
        <p:grpSpPr>
          <a:xfrm>
            <a:off x="5501753" y="4515637"/>
            <a:ext cx="582325" cy="109788"/>
            <a:chOff x="6236568" y="276066"/>
            <a:chExt cx="582325" cy="148083"/>
          </a:xfrm>
        </p:grpSpPr>
        <p:sp>
          <p:nvSpPr>
            <p:cNvPr id="92" name="5-конечная звезда 9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5" name="Группа 94"/>
          <p:cNvGrpSpPr/>
          <p:nvPr/>
        </p:nvGrpSpPr>
        <p:grpSpPr>
          <a:xfrm>
            <a:off x="5652120" y="2036213"/>
            <a:ext cx="365246" cy="109788"/>
            <a:chOff x="7472157" y="269324"/>
            <a:chExt cx="365246" cy="148082"/>
          </a:xfrm>
        </p:grpSpPr>
        <p:sp>
          <p:nvSpPr>
            <p:cNvPr id="96" name="5-конечная звезда 9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5646824" y="3884959"/>
            <a:ext cx="365246" cy="109788"/>
            <a:chOff x="7472157" y="269324"/>
            <a:chExt cx="365246" cy="148082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1" name="5-конечная звезда 100"/>
          <p:cNvSpPr/>
          <p:nvPr/>
        </p:nvSpPr>
        <p:spPr>
          <a:xfrm>
            <a:off x="5754330" y="265312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2" name="5-конечная звезда 101"/>
          <p:cNvSpPr/>
          <p:nvPr/>
        </p:nvSpPr>
        <p:spPr>
          <a:xfrm>
            <a:off x="5753713" y="330085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" name="5-конечная звезда 102"/>
          <p:cNvSpPr/>
          <p:nvPr/>
        </p:nvSpPr>
        <p:spPr>
          <a:xfrm>
            <a:off x="5750343" y="514331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89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23038" y="-9525"/>
            <a:ext cx="9167038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5199274"/>
              </p:ext>
            </p:extLst>
          </p:nvPr>
        </p:nvGraphicFramePr>
        <p:xfrm>
          <a:off x="-36511" y="476672"/>
          <a:ext cx="9180512" cy="6381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4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864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63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111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676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825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6247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376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897645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algn="ctr"/>
                      <a:endParaRPr lang="ru-RU" sz="1200" b="1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072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39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ЗКО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"Областная клиническая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Западно-Казахстанской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786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ЗКО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"Областной кардиологический центр"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Западно-Казахстанской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11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"Областной центр травматологии и ортопедии имени профессора Х.Ж.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Макажанова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68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"Областная челюстно-лицевая больница"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39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"Областной кардиохирургический центр"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559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"Областная клиническая больница"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7649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"Областной медицинский центр" управления здравоохранения Карагандинской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68%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68%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96828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104" name="Группа 103"/>
          <p:cNvGrpSpPr/>
          <p:nvPr/>
        </p:nvGrpSpPr>
        <p:grpSpPr>
          <a:xfrm>
            <a:off x="5397852" y="3445655"/>
            <a:ext cx="806733" cy="109788"/>
            <a:chOff x="4800372" y="271747"/>
            <a:chExt cx="806733" cy="148083"/>
          </a:xfrm>
        </p:grpSpPr>
        <p:sp>
          <p:nvSpPr>
            <p:cNvPr id="105" name="5-конечная звезда 10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9" name="Группа 108"/>
          <p:cNvGrpSpPr/>
          <p:nvPr/>
        </p:nvGrpSpPr>
        <p:grpSpPr>
          <a:xfrm>
            <a:off x="5397852" y="4072804"/>
            <a:ext cx="806733" cy="109788"/>
            <a:chOff x="4800372" y="271747"/>
            <a:chExt cx="806733" cy="148083"/>
          </a:xfrm>
        </p:grpSpPr>
        <p:sp>
          <p:nvSpPr>
            <p:cNvPr id="110" name="5-конечная звезда 10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4" name="Группа 113"/>
          <p:cNvGrpSpPr/>
          <p:nvPr/>
        </p:nvGrpSpPr>
        <p:grpSpPr>
          <a:xfrm>
            <a:off x="5397852" y="4617422"/>
            <a:ext cx="806733" cy="109788"/>
            <a:chOff x="4800372" y="271747"/>
            <a:chExt cx="806733" cy="148083"/>
          </a:xfrm>
        </p:grpSpPr>
        <p:sp>
          <p:nvSpPr>
            <p:cNvPr id="115" name="5-конечная звезда 11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9" name="Группа 118"/>
          <p:cNvGrpSpPr/>
          <p:nvPr/>
        </p:nvGrpSpPr>
        <p:grpSpPr>
          <a:xfrm>
            <a:off x="8115273" y="4617424"/>
            <a:ext cx="806733" cy="109788"/>
            <a:chOff x="4800372" y="271747"/>
            <a:chExt cx="806733" cy="148083"/>
          </a:xfrm>
        </p:grpSpPr>
        <p:sp>
          <p:nvSpPr>
            <p:cNvPr id="120" name="5-конечная звезда 11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8134702" y="5127663"/>
            <a:ext cx="806733" cy="109788"/>
            <a:chOff x="4800372" y="271747"/>
            <a:chExt cx="806733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8003617" y="3439006"/>
            <a:ext cx="1068903" cy="116437"/>
            <a:chOff x="3405227" y="254701"/>
            <a:chExt cx="1022757" cy="198726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5" name="Группа 134"/>
          <p:cNvGrpSpPr/>
          <p:nvPr/>
        </p:nvGrpSpPr>
        <p:grpSpPr>
          <a:xfrm>
            <a:off x="8003617" y="4072804"/>
            <a:ext cx="1068903" cy="116437"/>
            <a:chOff x="3405227" y="254701"/>
            <a:chExt cx="1022757" cy="198726"/>
          </a:xfrm>
        </p:grpSpPr>
        <p:sp>
          <p:nvSpPr>
            <p:cNvPr id="136" name="5-конечная звезда 13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1" name="Группа 140"/>
          <p:cNvGrpSpPr/>
          <p:nvPr/>
        </p:nvGrpSpPr>
        <p:grpSpPr>
          <a:xfrm>
            <a:off x="5543745" y="2124314"/>
            <a:ext cx="582325" cy="109788"/>
            <a:chOff x="6236568" y="276066"/>
            <a:chExt cx="582325" cy="148083"/>
          </a:xfrm>
        </p:grpSpPr>
        <p:sp>
          <p:nvSpPr>
            <p:cNvPr id="142" name="5-конечная звезда 14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5543745" y="2677646"/>
            <a:ext cx="582325" cy="109788"/>
            <a:chOff x="6236568" y="276066"/>
            <a:chExt cx="582325" cy="148083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9" name="Группа 148"/>
          <p:cNvGrpSpPr/>
          <p:nvPr/>
        </p:nvGrpSpPr>
        <p:grpSpPr>
          <a:xfrm>
            <a:off x="8311503" y="2124313"/>
            <a:ext cx="582325" cy="109788"/>
            <a:chOff x="6236568" y="276066"/>
            <a:chExt cx="582325" cy="148083"/>
          </a:xfrm>
        </p:grpSpPr>
        <p:sp>
          <p:nvSpPr>
            <p:cNvPr id="150" name="5-конечная звезда 14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5501104" y="5161597"/>
            <a:ext cx="582325" cy="109788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5504234" y="5764799"/>
            <a:ext cx="582325" cy="109788"/>
            <a:chOff x="6236568" y="276066"/>
            <a:chExt cx="582325" cy="148083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1" name="Группа 160"/>
          <p:cNvGrpSpPr/>
          <p:nvPr/>
        </p:nvGrpSpPr>
        <p:grpSpPr>
          <a:xfrm>
            <a:off x="8215094" y="5806574"/>
            <a:ext cx="582325" cy="109788"/>
            <a:chOff x="6236568" y="276066"/>
            <a:chExt cx="582325" cy="148083"/>
          </a:xfrm>
        </p:grpSpPr>
        <p:sp>
          <p:nvSpPr>
            <p:cNvPr id="162" name="5-конечная звезда 16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5-конечная звезда 16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5" name="Группа 164"/>
          <p:cNvGrpSpPr/>
          <p:nvPr/>
        </p:nvGrpSpPr>
        <p:grpSpPr>
          <a:xfrm>
            <a:off x="8290278" y="2711551"/>
            <a:ext cx="582325" cy="109788"/>
            <a:chOff x="6236568" y="276066"/>
            <a:chExt cx="582325" cy="148083"/>
          </a:xfrm>
        </p:grpSpPr>
        <p:sp>
          <p:nvSpPr>
            <p:cNvPr id="166" name="5-конечная звезда 16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67644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882951"/>
              </p:ext>
            </p:extLst>
          </p:nvPr>
        </p:nvGraphicFramePr>
        <p:xfrm>
          <a:off x="0" y="476672"/>
          <a:ext cx="9143999" cy="63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761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37248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algn="ctr"/>
                      <a:endParaRPr lang="ru-RU" sz="1200" b="1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5883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областная офтальмологическая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Коммунальное государственное предприятие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областная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85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Кызылординская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"Областной медицинский центр"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3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Мангистауская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областная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Мангистауской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"Павлодарская областная больница имени Г. Султанова" управления здравоохранения Павлодарской области,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Павлодарской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"Павлодарский областной кардиологический центр" управления здравоохранения Павлодарской области,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Павлодарской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23160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grpSp>
        <p:nvGrpSpPr>
          <p:cNvPr id="69" name="Группа 68"/>
          <p:cNvGrpSpPr/>
          <p:nvPr/>
        </p:nvGrpSpPr>
        <p:grpSpPr>
          <a:xfrm>
            <a:off x="8132000" y="2245023"/>
            <a:ext cx="806733" cy="109788"/>
            <a:chOff x="4800372" y="271747"/>
            <a:chExt cx="806733" cy="148083"/>
          </a:xfrm>
        </p:grpSpPr>
        <p:sp>
          <p:nvSpPr>
            <p:cNvPr id="70" name="5-конечная звезда 6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4" name="Группа 73"/>
          <p:cNvGrpSpPr/>
          <p:nvPr/>
        </p:nvGrpSpPr>
        <p:grpSpPr>
          <a:xfrm>
            <a:off x="8109145" y="2908851"/>
            <a:ext cx="806733" cy="109788"/>
            <a:chOff x="4800372" y="271747"/>
            <a:chExt cx="806733" cy="148083"/>
          </a:xfrm>
        </p:grpSpPr>
        <p:sp>
          <p:nvSpPr>
            <p:cNvPr id="75" name="5-конечная звезда 7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8106770" y="5733257"/>
            <a:ext cx="806733" cy="109788"/>
            <a:chOff x="4800372" y="271747"/>
            <a:chExt cx="806733" cy="148083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5365722" y="4993095"/>
            <a:ext cx="806733" cy="109788"/>
            <a:chOff x="4800372" y="271747"/>
            <a:chExt cx="806733" cy="148083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9" name="Группа 88"/>
          <p:cNvGrpSpPr/>
          <p:nvPr/>
        </p:nvGrpSpPr>
        <p:grpSpPr>
          <a:xfrm>
            <a:off x="5365722" y="5730204"/>
            <a:ext cx="806733" cy="109788"/>
            <a:chOff x="4800372" y="271747"/>
            <a:chExt cx="806733" cy="148083"/>
          </a:xfrm>
        </p:grpSpPr>
        <p:sp>
          <p:nvSpPr>
            <p:cNvPr id="90" name="5-конечная звезда 8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4" name="Группа 93"/>
          <p:cNvGrpSpPr/>
          <p:nvPr/>
        </p:nvGrpSpPr>
        <p:grpSpPr>
          <a:xfrm>
            <a:off x="7960381" y="3669619"/>
            <a:ext cx="1068903" cy="116437"/>
            <a:chOff x="3405227" y="254701"/>
            <a:chExt cx="1022757" cy="198726"/>
          </a:xfrm>
        </p:grpSpPr>
        <p:sp>
          <p:nvSpPr>
            <p:cNvPr id="95" name="5-конечная звезда 9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7968033" y="5036744"/>
            <a:ext cx="1068903" cy="116437"/>
            <a:chOff x="3405227" y="254701"/>
            <a:chExt cx="1022757" cy="198726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5-конечная звезда 16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1" name="Группа 170"/>
          <p:cNvGrpSpPr/>
          <p:nvPr/>
        </p:nvGrpSpPr>
        <p:grpSpPr>
          <a:xfrm>
            <a:off x="5509764" y="4322159"/>
            <a:ext cx="582325" cy="109788"/>
            <a:chOff x="6236568" y="276066"/>
            <a:chExt cx="582325" cy="148083"/>
          </a:xfrm>
        </p:grpSpPr>
        <p:sp>
          <p:nvSpPr>
            <p:cNvPr id="172" name="5-конечная звезда 17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4" name="5-конечная звезда 17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5" name="Группа 174"/>
          <p:cNvGrpSpPr/>
          <p:nvPr/>
        </p:nvGrpSpPr>
        <p:grpSpPr>
          <a:xfrm>
            <a:off x="8221188" y="4343126"/>
            <a:ext cx="582325" cy="109788"/>
            <a:chOff x="6236568" y="276066"/>
            <a:chExt cx="582325" cy="148083"/>
          </a:xfrm>
        </p:grpSpPr>
        <p:sp>
          <p:nvSpPr>
            <p:cNvPr id="176" name="5-конечная звезда 17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9" name="Группа 178"/>
          <p:cNvGrpSpPr/>
          <p:nvPr/>
        </p:nvGrpSpPr>
        <p:grpSpPr>
          <a:xfrm>
            <a:off x="5688723" y="2264280"/>
            <a:ext cx="365246" cy="109788"/>
            <a:chOff x="7472157" y="269324"/>
            <a:chExt cx="365246" cy="148082"/>
          </a:xfrm>
        </p:grpSpPr>
        <p:sp>
          <p:nvSpPr>
            <p:cNvPr id="180" name="5-конечная звезда 17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2" name="Группа 181"/>
          <p:cNvGrpSpPr/>
          <p:nvPr/>
        </p:nvGrpSpPr>
        <p:grpSpPr>
          <a:xfrm>
            <a:off x="5649493" y="3669618"/>
            <a:ext cx="365246" cy="109788"/>
            <a:chOff x="7472157" y="269324"/>
            <a:chExt cx="365246" cy="148082"/>
          </a:xfrm>
        </p:grpSpPr>
        <p:sp>
          <p:nvSpPr>
            <p:cNvPr id="183" name="5-конечная звезда 18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4" name="5-конечная звезда 18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85" name="5-конечная звезда 184"/>
          <p:cNvSpPr/>
          <p:nvPr/>
        </p:nvSpPr>
        <p:spPr>
          <a:xfrm>
            <a:off x="5781052" y="296374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46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49408" y="0"/>
            <a:ext cx="9193407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6039112"/>
              </p:ext>
            </p:extLst>
          </p:nvPr>
        </p:nvGraphicFramePr>
        <p:xfrm>
          <a:off x="2" y="512992"/>
          <a:ext cx="9143999" cy="63450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761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18109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algn="ctr"/>
                      <a:endParaRPr lang="ru-RU" sz="1200" b="1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5348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28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"Областная больница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СКО МЗ РК"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28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"Кардиологический центр"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Северо-Казахстанской области Управления здравоохранения Северо-Казахстанской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940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ГККП "Областная клиническая больница" управления здравоохранения Южно-Казахстанской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44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"Областная офтальмологическая больница" управления здравоохранения Южно-Казахстанской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28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ГККП "Областной центр гипербарической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оксигенации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имени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Т.О.Орынбаева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 УЗ ЮКО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28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ГККП "Областной кардиологический центр" управления здравоохранения Южно-Казахстанской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1043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grpSp>
        <p:nvGrpSpPr>
          <p:cNvPr id="56" name="Группа 55"/>
          <p:cNvGrpSpPr/>
          <p:nvPr/>
        </p:nvGrpSpPr>
        <p:grpSpPr>
          <a:xfrm>
            <a:off x="5423472" y="2227666"/>
            <a:ext cx="806733" cy="109788"/>
            <a:chOff x="4800372" y="271747"/>
            <a:chExt cx="806733" cy="148083"/>
          </a:xfrm>
        </p:grpSpPr>
        <p:sp>
          <p:nvSpPr>
            <p:cNvPr id="57" name="5-конечная звезда 5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8162968" y="5086988"/>
            <a:ext cx="806733" cy="109788"/>
            <a:chOff x="4800372" y="271747"/>
            <a:chExt cx="806733" cy="148083"/>
          </a:xfrm>
        </p:grpSpPr>
        <p:sp>
          <p:nvSpPr>
            <p:cNvPr id="62" name="5-конечная звезда 6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5-конечная звезда 6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5-конечная звезда 6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8136201" y="5848410"/>
            <a:ext cx="806733" cy="109788"/>
            <a:chOff x="4800372" y="271747"/>
            <a:chExt cx="806733" cy="148083"/>
          </a:xfrm>
        </p:grpSpPr>
        <p:sp>
          <p:nvSpPr>
            <p:cNvPr id="67" name="5-конечная звезда 6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6" name="Группа 105"/>
          <p:cNvGrpSpPr/>
          <p:nvPr/>
        </p:nvGrpSpPr>
        <p:grpSpPr>
          <a:xfrm>
            <a:off x="7976055" y="2221015"/>
            <a:ext cx="1068903" cy="116437"/>
            <a:chOff x="3405227" y="254701"/>
            <a:chExt cx="1022757" cy="198726"/>
          </a:xfrm>
        </p:grpSpPr>
        <p:sp>
          <p:nvSpPr>
            <p:cNvPr id="107" name="5-конечная звезда 10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2" name="Группа 111"/>
          <p:cNvGrpSpPr/>
          <p:nvPr/>
        </p:nvGrpSpPr>
        <p:grpSpPr>
          <a:xfrm>
            <a:off x="7979493" y="2933538"/>
            <a:ext cx="1068903" cy="116437"/>
            <a:chOff x="3405227" y="254701"/>
            <a:chExt cx="1022757" cy="198726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7963742" y="3670256"/>
            <a:ext cx="1068903" cy="116437"/>
            <a:chOff x="3405227" y="254701"/>
            <a:chExt cx="1022757" cy="198726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7997464" y="4363915"/>
            <a:ext cx="1068903" cy="116437"/>
            <a:chOff x="3405227" y="254701"/>
            <a:chExt cx="1022757" cy="198726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0" name="Группа 129"/>
          <p:cNvGrpSpPr/>
          <p:nvPr/>
        </p:nvGrpSpPr>
        <p:grpSpPr>
          <a:xfrm>
            <a:off x="5543050" y="2938806"/>
            <a:ext cx="582325" cy="109788"/>
            <a:chOff x="6236568" y="276066"/>
            <a:chExt cx="582325" cy="148083"/>
          </a:xfrm>
        </p:grpSpPr>
        <p:sp>
          <p:nvSpPr>
            <p:cNvPr id="131" name="5-конечная звезда 13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5517922" y="3670255"/>
            <a:ext cx="582325" cy="109788"/>
            <a:chOff x="6236568" y="276066"/>
            <a:chExt cx="582325" cy="148083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8" name="Группа 137"/>
          <p:cNvGrpSpPr/>
          <p:nvPr/>
        </p:nvGrpSpPr>
        <p:grpSpPr>
          <a:xfrm>
            <a:off x="5646384" y="4424667"/>
            <a:ext cx="365246" cy="109788"/>
            <a:chOff x="7472157" y="269324"/>
            <a:chExt cx="365246" cy="148082"/>
          </a:xfrm>
        </p:grpSpPr>
        <p:sp>
          <p:nvSpPr>
            <p:cNvPr id="139" name="5-конечная звезда 13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1" name="Группа 140"/>
          <p:cNvGrpSpPr/>
          <p:nvPr/>
        </p:nvGrpSpPr>
        <p:grpSpPr>
          <a:xfrm>
            <a:off x="5669236" y="5824375"/>
            <a:ext cx="365246" cy="109788"/>
            <a:chOff x="7472157" y="269324"/>
            <a:chExt cx="365246" cy="148082"/>
          </a:xfrm>
        </p:grpSpPr>
        <p:sp>
          <p:nvSpPr>
            <p:cNvPr id="142" name="5-конечная звезда 14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4" name="5-конечная звезда 143"/>
          <p:cNvSpPr/>
          <p:nvPr/>
        </p:nvSpPr>
        <p:spPr>
          <a:xfrm>
            <a:off x="5762205" y="508698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106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13276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628118"/>
              </p:ext>
            </p:extLst>
          </p:nvPr>
        </p:nvGraphicFramePr>
        <p:xfrm>
          <a:off x="0" y="476673"/>
          <a:ext cx="9143999" cy="6381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7613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37247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algn="ctr"/>
                      <a:endParaRPr lang="ru-RU" sz="1200" b="1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5882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"Кокшетауская городская больница" при управлении здравоохранения Акмолинской области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Акмолинская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Кокшетауская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 с поликлиникой №2" при управлении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Акмолинской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085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Акмолинская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Степногорская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центральная городская больница" при управлении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Акмолинской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3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Акмолинская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ФАО "Железнодорожные госпитали медицины катастроф" -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Кокшетауская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Актюбинская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«Каргалинская городская больница» на ГУ «Управление здравоохранения Актюбинской области»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433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Актюбинская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"Реабилитационный медицинский центр "Клиника Дару"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23160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grpSp>
        <p:nvGrpSpPr>
          <p:cNvPr id="70" name="Группа 69"/>
          <p:cNvGrpSpPr/>
          <p:nvPr/>
        </p:nvGrpSpPr>
        <p:grpSpPr>
          <a:xfrm>
            <a:off x="8142163" y="2221791"/>
            <a:ext cx="806733" cy="109788"/>
            <a:chOff x="4800372" y="271747"/>
            <a:chExt cx="806733" cy="148083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5" name="Группа 74"/>
          <p:cNvGrpSpPr/>
          <p:nvPr/>
        </p:nvGrpSpPr>
        <p:grpSpPr>
          <a:xfrm>
            <a:off x="8142163" y="2937238"/>
            <a:ext cx="806733" cy="109788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8130959" y="3697726"/>
            <a:ext cx="806733" cy="109788"/>
            <a:chOff x="4800372" y="271747"/>
            <a:chExt cx="806733" cy="148083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8107220" y="5749802"/>
            <a:ext cx="806733" cy="109788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7986943" y="5004583"/>
            <a:ext cx="1068903" cy="116437"/>
            <a:chOff x="3405227" y="254701"/>
            <a:chExt cx="1022757" cy="198726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5560365" y="2276684"/>
            <a:ext cx="582325" cy="109788"/>
            <a:chOff x="6236568" y="276066"/>
            <a:chExt cx="582325" cy="148083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5510793" y="2992131"/>
            <a:ext cx="582325" cy="109788"/>
            <a:chOff x="6236568" y="276066"/>
            <a:chExt cx="582325" cy="148083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5542625" y="4316291"/>
            <a:ext cx="582325" cy="109788"/>
            <a:chOff x="6236568" y="276066"/>
            <a:chExt cx="582325" cy="148083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9" name="Группа 148"/>
          <p:cNvGrpSpPr/>
          <p:nvPr/>
        </p:nvGrpSpPr>
        <p:grpSpPr>
          <a:xfrm>
            <a:off x="8239336" y="4316290"/>
            <a:ext cx="582325" cy="109788"/>
            <a:chOff x="6236568" y="276066"/>
            <a:chExt cx="582325" cy="148083"/>
          </a:xfrm>
        </p:grpSpPr>
        <p:sp>
          <p:nvSpPr>
            <p:cNvPr id="150" name="5-конечная звезда 14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5529077" y="5004583"/>
            <a:ext cx="582325" cy="109788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5646561" y="3697725"/>
            <a:ext cx="365246" cy="109788"/>
            <a:chOff x="7472157" y="269324"/>
            <a:chExt cx="365246" cy="148082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0" name="5-конечная звезда 159"/>
          <p:cNvSpPr/>
          <p:nvPr/>
        </p:nvSpPr>
        <p:spPr>
          <a:xfrm>
            <a:off x="5751362" y="578198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12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6822" y="0"/>
            <a:ext cx="9150821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373576"/>
              </p:ext>
            </p:extLst>
          </p:nvPr>
        </p:nvGraphicFramePr>
        <p:xfrm>
          <a:off x="1" y="442568"/>
          <a:ext cx="9144001" cy="6415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09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761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053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8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84601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algn="ctr"/>
                      <a:endParaRPr lang="ru-RU" sz="1200" b="1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0285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14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Актюбинская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"БИОС".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554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Актюбинская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акционерного общества Железнодорожные госпитали медицины катастроф "Актюбинская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636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Актюбинская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Актюбинский филиал ТОО «Медицинский центр Евразия»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0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Актюбинская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"Куаныш"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34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Актюбинская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«Центр красоты и здоровья «Айгерим»»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808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Актюбинская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"Больница скорой медицинской помощи" Государственного учреждения Управление здравоохранения Актюбинской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7808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Негосударственное учреждение Медицинский центр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Нур-Авиценум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", г.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Талдыкорган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5464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54" name="Группа 53"/>
          <p:cNvGrpSpPr/>
          <p:nvPr/>
        </p:nvGrpSpPr>
        <p:grpSpPr>
          <a:xfrm>
            <a:off x="8097076" y="2833605"/>
            <a:ext cx="806733" cy="109788"/>
            <a:chOff x="4800372" y="271747"/>
            <a:chExt cx="806733" cy="148083"/>
          </a:xfrm>
        </p:grpSpPr>
        <p:sp>
          <p:nvSpPr>
            <p:cNvPr id="55" name="5-конечная звезда 5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5-конечная звезда 5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5-конечная звезда 5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9" name="Группа 58"/>
          <p:cNvGrpSpPr/>
          <p:nvPr/>
        </p:nvGrpSpPr>
        <p:grpSpPr>
          <a:xfrm>
            <a:off x="8071046" y="3486431"/>
            <a:ext cx="806733" cy="109788"/>
            <a:chOff x="4800372" y="271747"/>
            <a:chExt cx="806733" cy="148083"/>
          </a:xfrm>
        </p:grpSpPr>
        <p:sp>
          <p:nvSpPr>
            <p:cNvPr id="60" name="5-конечная звезда 5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1" name="5-конечная звезда 6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4" name="Группа 63"/>
          <p:cNvGrpSpPr/>
          <p:nvPr/>
        </p:nvGrpSpPr>
        <p:grpSpPr>
          <a:xfrm>
            <a:off x="8085084" y="3981216"/>
            <a:ext cx="806733" cy="109788"/>
            <a:chOff x="4800372" y="271747"/>
            <a:chExt cx="806733" cy="148083"/>
          </a:xfrm>
        </p:grpSpPr>
        <p:sp>
          <p:nvSpPr>
            <p:cNvPr id="65" name="5-конечная звезда 6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9" name="Группа 68"/>
          <p:cNvGrpSpPr/>
          <p:nvPr/>
        </p:nvGrpSpPr>
        <p:grpSpPr>
          <a:xfrm>
            <a:off x="8045655" y="4375426"/>
            <a:ext cx="806733" cy="109788"/>
            <a:chOff x="4800372" y="271747"/>
            <a:chExt cx="806733" cy="148083"/>
          </a:xfrm>
        </p:grpSpPr>
        <p:sp>
          <p:nvSpPr>
            <p:cNvPr id="104" name="5-конечная звезда 10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8062133" y="5728604"/>
            <a:ext cx="806733" cy="109788"/>
            <a:chOff x="4800372" y="271747"/>
            <a:chExt cx="806733" cy="148083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3" name="Группа 112"/>
          <p:cNvGrpSpPr/>
          <p:nvPr/>
        </p:nvGrpSpPr>
        <p:grpSpPr>
          <a:xfrm>
            <a:off x="7973428" y="2174796"/>
            <a:ext cx="1068903" cy="116437"/>
            <a:chOff x="3405227" y="254701"/>
            <a:chExt cx="1022757" cy="198726"/>
          </a:xfrm>
        </p:grpSpPr>
        <p:sp>
          <p:nvSpPr>
            <p:cNvPr id="114" name="5-конечная звезда 11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9" name="Группа 118"/>
          <p:cNvGrpSpPr/>
          <p:nvPr/>
        </p:nvGrpSpPr>
        <p:grpSpPr>
          <a:xfrm>
            <a:off x="8192381" y="4997138"/>
            <a:ext cx="582325" cy="109788"/>
            <a:chOff x="6236568" y="276066"/>
            <a:chExt cx="582325" cy="148083"/>
          </a:xfrm>
        </p:grpSpPr>
        <p:sp>
          <p:nvSpPr>
            <p:cNvPr id="120" name="5-конечная звезда 11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3" name="Группа 122"/>
          <p:cNvGrpSpPr/>
          <p:nvPr/>
        </p:nvGrpSpPr>
        <p:grpSpPr>
          <a:xfrm>
            <a:off x="5627415" y="4984126"/>
            <a:ext cx="365246" cy="109788"/>
            <a:chOff x="7472157" y="269324"/>
            <a:chExt cx="365246" cy="148082"/>
          </a:xfrm>
        </p:grpSpPr>
        <p:sp>
          <p:nvSpPr>
            <p:cNvPr id="124" name="5-конечная звезда 12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6" name="Группа 125"/>
          <p:cNvGrpSpPr/>
          <p:nvPr/>
        </p:nvGrpSpPr>
        <p:grpSpPr>
          <a:xfrm>
            <a:off x="5587188" y="5728605"/>
            <a:ext cx="365246" cy="109788"/>
            <a:chOff x="7472157" y="269324"/>
            <a:chExt cx="365246" cy="148082"/>
          </a:xfrm>
        </p:grpSpPr>
        <p:sp>
          <p:nvSpPr>
            <p:cNvPr id="127" name="5-конечная звезда 12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29" name="5-конечная звезда 128"/>
          <p:cNvSpPr/>
          <p:nvPr/>
        </p:nvSpPr>
        <p:spPr>
          <a:xfrm>
            <a:off x="5768253" y="218793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0" name="5-конечная звезда 129"/>
          <p:cNvSpPr/>
          <p:nvPr/>
        </p:nvSpPr>
        <p:spPr>
          <a:xfrm>
            <a:off x="5768253" y="281576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1" name="5-конечная звезда 130"/>
          <p:cNvSpPr/>
          <p:nvPr/>
        </p:nvSpPr>
        <p:spPr>
          <a:xfrm>
            <a:off x="5766928" y="344715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2" name="5-конечная звезда 131"/>
          <p:cNvSpPr/>
          <p:nvPr/>
        </p:nvSpPr>
        <p:spPr>
          <a:xfrm>
            <a:off x="5738030" y="397238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3" name="5-конечная звезда 132"/>
          <p:cNvSpPr/>
          <p:nvPr/>
        </p:nvSpPr>
        <p:spPr>
          <a:xfrm>
            <a:off x="5738030" y="442039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00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8334" y="0"/>
            <a:ext cx="9152334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6117534"/>
              </p:ext>
            </p:extLst>
          </p:nvPr>
        </p:nvGraphicFramePr>
        <p:xfrm>
          <a:off x="0" y="503296"/>
          <a:ext cx="9144000" cy="6354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1024292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algn="ctr"/>
                      <a:endParaRPr lang="ru-RU" sz="1200" b="1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9805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36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"ЗИРЕ"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99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"Городская больница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г.Текели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544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Капшагайская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больница" ГУ "Управление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области"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58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Алматинский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клинический центр профессора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Мустафаева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С.У."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Карасайский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район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01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ТОО "Медицинский центр ХАК"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8123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Талдыкорганская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больница" государственного учреждения "Управление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области"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9431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многопрофильная клиническая больница" государственного учреждения "Управление здравоохранения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области"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Алматинской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23%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81034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149" name="Группа 148"/>
          <p:cNvGrpSpPr/>
          <p:nvPr/>
        </p:nvGrpSpPr>
        <p:grpSpPr>
          <a:xfrm>
            <a:off x="5421803" y="3052260"/>
            <a:ext cx="806733" cy="109788"/>
            <a:chOff x="4800372" y="271747"/>
            <a:chExt cx="806733" cy="148083"/>
          </a:xfrm>
        </p:grpSpPr>
        <p:sp>
          <p:nvSpPr>
            <p:cNvPr id="150" name="5-конечная звезда 14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4" name="Группа 153"/>
          <p:cNvGrpSpPr/>
          <p:nvPr/>
        </p:nvGrpSpPr>
        <p:grpSpPr>
          <a:xfrm>
            <a:off x="8120797" y="2172474"/>
            <a:ext cx="806733" cy="109788"/>
            <a:chOff x="4800372" y="271747"/>
            <a:chExt cx="806733" cy="148083"/>
          </a:xfrm>
        </p:grpSpPr>
        <p:sp>
          <p:nvSpPr>
            <p:cNvPr id="155" name="5-конечная звезда 15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8" name="5-конечная звезда 15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9" name="Группа 158"/>
          <p:cNvGrpSpPr/>
          <p:nvPr/>
        </p:nvGrpSpPr>
        <p:grpSpPr>
          <a:xfrm>
            <a:off x="8117085" y="2490148"/>
            <a:ext cx="806733" cy="109788"/>
            <a:chOff x="4800372" y="271747"/>
            <a:chExt cx="806733" cy="148083"/>
          </a:xfrm>
        </p:grpSpPr>
        <p:sp>
          <p:nvSpPr>
            <p:cNvPr id="160" name="5-конечная звезда 15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5-конечная звезда 16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4" name="Группа 163"/>
          <p:cNvGrpSpPr/>
          <p:nvPr/>
        </p:nvGrpSpPr>
        <p:grpSpPr>
          <a:xfrm>
            <a:off x="8064738" y="3016028"/>
            <a:ext cx="806733" cy="109788"/>
            <a:chOff x="4800372" y="271747"/>
            <a:chExt cx="806733" cy="148083"/>
          </a:xfrm>
        </p:grpSpPr>
        <p:sp>
          <p:nvSpPr>
            <p:cNvPr id="165" name="5-конечная звезда 16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8145767" y="3656946"/>
            <a:ext cx="806733" cy="109788"/>
            <a:chOff x="4800372" y="271747"/>
            <a:chExt cx="806733" cy="148083"/>
          </a:xfrm>
        </p:grpSpPr>
        <p:sp>
          <p:nvSpPr>
            <p:cNvPr id="170" name="5-конечная звезда 16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4" name="Группа 173"/>
          <p:cNvGrpSpPr/>
          <p:nvPr/>
        </p:nvGrpSpPr>
        <p:grpSpPr>
          <a:xfrm>
            <a:off x="8136746" y="4165731"/>
            <a:ext cx="806733" cy="109788"/>
            <a:chOff x="4800372" y="271747"/>
            <a:chExt cx="806733" cy="148083"/>
          </a:xfrm>
        </p:grpSpPr>
        <p:sp>
          <p:nvSpPr>
            <p:cNvPr id="175" name="5-конечная звезда 17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9" name="Группа 178"/>
          <p:cNvGrpSpPr/>
          <p:nvPr/>
        </p:nvGrpSpPr>
        <p:grpSpPr>
          <a:xfrm>
            <a:off x="8136746" y="4841870"/>
            <a:ext cx="806733" cy="109788"/>
            <a:chOff x="4800372" y="271747"/>
            <a:chExt cx="806733" cy="148083"/>
          </a:xfrm>
        </p:grpSpPr>
        <p:sp>
          <p:nvSpPr>
            <p:cNvPr id="180" name="5-конечная звезда 1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3" name="5-конечная звезда 1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4" name="Группа 183"/>
          <p:cNvGrpSpPr/>
          <p:nvPr/>
        </p:nvGrpSpPr>
        <p:grpSpPr>
          <a:xfrm>
            <a:off x="8110006" y="5655131"/>
            <a:ext cx="806733" cy="109788"/>
            <a:chOff x="4800372" y="271747"/>
            <a:chExt cx="806733" cy="148083"/>
          </a:xfrm>
        </p:grpSpPr>
        <p:sp>
          <p:nvSpPr>
            <p:cNvPr id="185" name="5-конечная звезда 1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5-конечная звезда 18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9" name="Группа 188"/>
          <p:cNvGrpSpPr/>
          <p:nvPr/>
        </p:nvGrpSpPr>
        <p:grpSpPr>
          <a:xfrm>
            <a:off x="5594456" y="2490147"/>
            <a:ext cx="582325" cy="109788"/>
            <a:chOff x="6236568" y="276066"/>
            <a:chExt cx="582325" cy="148083"/>
          </a:xfrm>
        </p:grpSpPr>
        <p:sp>
          <p:nvSpPr>
            <p:cNvPr id="190" name="5-конечная звезда 18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1" name="5-конечная звезда 19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3" name="Группа 192"/>
          <p:cNvGrpSpPr/>
          <p:nvPr/>
        </p:nvGrpSpPr>
        <p:grpSpPr>
          <a:xfrm>
            <a:off x="5530877" y="4766190"/>
            <a:ext cx="582325" cy="109788"/>
            <a:chOff x="6236568" y="276066"/>
            <a:chExt cx="582325" cy="148083"/>
          </a:xfrm>
        </p:grpSpPr>
        <p:sp>
          <p:nvSpPr>
            <p:cNvPr id="194" name="5-конечная звезда 19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5-конечная звезда 19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5-конечная звезда 19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5-конечная звезда 196"/>
          <p:cNvSpPr/>
          <p:nvPr/>
        </p:nvSpPr>
        <p:spPr>
          <a:xfrm>
            <a:off x="5785550" y="2144671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8" name="5-конечная звезда 197"/>
          <p:cNvSpPr/>
          <p:nvPr/>
        </p:nvSpPr>
        <p:spPr>
          <a:xfrm>
            <a:off x="5748025" y="371184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9" name="5-конечная звезда 198"/>
          <p:cNvSpPr/>
          <p:nvPr/>
        </p:nvSpPr>
        <p:spPr>
          <a:xfrm>
            <a:off x="5748025" y="414382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0" name="5-конечная звезда 199"/>
          <p:cNvSpPr/>
          <p:nvPr/>
        </p:nvSpPr>
        <p:spPr>
          <a:xfrm>
            <a:off x="5785550" y="568825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36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21308" y="0"/>
            <a:ext cx="9165307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9954663"/>
              </p:ext>
            </p:extLst>
          </p:nvPr>
        </p:nvGraphicFramePr>
        <p:xfrm>
          <a:off x="0" y="476672"/>
          <a:ext cx="9144000" cy="63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1031327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algn="ctr"/>
                      <a:endParaRPr lang="ru-RU" sz="1200" b="1" baseline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3444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11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акционерного общества "Железнодорожные госпитали медицины катастроф" -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21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Медикер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Жайык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48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Атырауская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Достар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Мед Престиж"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697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"Городская больница №4 г. Усть-Каменогорска" Управления здравоохранения Восточно-Казахстанской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30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"Городская больница № 2 города Семей" УЗ ВКО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120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Жамиля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82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 «Клиника микрохирургии глаза»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г.Усть-Каменогорск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9495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акционерного общества "Железнодорожные госпитали медицины катастроф" -"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Защитинская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685712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grpSp>
        <p:nvGrpSpPr>
          <p:cNvPr id="56" name="Группа 55"/>
          <p:cNvGrpSpPr/>
          <p:nvPr/>
        </p:nvGrpSpPr>
        <p:grpSpPr>
          <a:xfrm>
            <a:off x="8111986" y="2824591"/>
            <a:ext cx="806733" cy="109788"/>
            <a:chOff x="4800372" y="271747"/>
            <a:chExt cx="806733" cy="148083"/>
          </a:xfrm>
        </p:grpSpPr>
        <p:sp>
          <p:nvSpPr>
            <p:cNvPr id="57" name="5-конечная звезда 5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8135166" y="3732803"/>
            <a:ext cx="806733" cy="109788"/>
            <a:chOff x="4800372" y="271747"/>
            <a:chExt cx="806733" cy="148083"/>
          </a:xfrm>
        </p:grpSpPr>
        <p:sp>
          <p:nvSpPr>
            <p:cNvPr id="62" name="5-конечная звезда 6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5-конечная звезда 6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5-конечная звезда 6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7984652" y="2355309"/>
            <a:ext cx="1068903" cy="116437"/>
            <a:chOff x="3405227" y="254701"/>
            <a:chExt cx="1022757" cy="198726"/>
          </a:xfrm>
        </p:grpSpPr>
        <p:sp>
          <p:nvSpPr>
            <p:cNvPr id="67" name="5-конечная звезда 6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5-конечная звезда 6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7969348" y="3219899"/>
            <a:ext cx="1068903" cy="116437"/>
            <a:chOff x="3405227" y="254701"/>
            <a:chExt cx="1022757" cy="198726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7969348" y="4206424"/>
            <a:ext cx="1068903" cy="116437"/>
            <a:chOff x="3405227" y="254701"/>
            <a:chExt cx="1022757" cy="198726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4" name="Группа 83"/>
          <p:cNvGrpSpPr/>
          <p:nvPr/>
        </p:nvGrpSpPr>
        <p:grpSpPr>
          <a:xfrm>
            <a:off x="7956450" y="4564440"/>
            <a:ext cx="1068903" cy="116437"/>
            <a:chOff x="3405227" y="254701"/>
            <a:chExt cx="1022757" cy="198726"/>
          </a:xfrm>
        </p:grpSpPr>
        <p:sp>
          <p:nvSpPr>
            <p:cNvPr id="85" name="5-конечная звезда 8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7964507" y="4973681"/>
            <a:ext cx="1068903" cy="116437"/>
            <a:chOff x="3405227" y="254701"/>
            <a:chExt cx="1022757" cy="198726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7973249" y="5611170"/>
            <a:ext cx="1068903" cy="116437"/>
            <a:chOff x="3405227" y="254701"/>
            <a:chExt cx="1022757" cy="198726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2" name="Группа 101"/>
          <p:cNvGrpSpPr/>
          <p:nvPr/>
        </p:nvGrpSpPr>
        <p:grpSpPr>
          <a:xfrm>
            <a:off x="5657152" y="4221088"/>
            <a:ext cx="365246" cy="109788"/>
            <a:chOff x="7472157" y="269324"/>
            <a:chExt cx="365246" cy="148082"/>
          </a:xfrm>
        </p:grpSpPr>
        <p:sp>
          <p:nvSpPr>
            <p:cNvPr id="103" name="5-конечная звезда 10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05" name="5-конечная звезда 104"/>
          <p:cNvSpPr/>
          <p:nvPr/>
        </p:nvSpPr>
        <p:spPr>
          <a:xfrm>
            <a:off x="5750845" y="237048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6" name="5-конечная звезда 105"/>
          <p:cNvSpPr/>
          <p:nvPr/>
        </p:nvSpPr>
        <p:spPr>
          <a:xfrm>
            <a:off x="5750845" y="281484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7" name="5-конечная звезда 106"/>
          <p:cNvSpPr/>
          <p:nvPr/>
        </p:nvSpPr>
        <p:spPr>
          <a:xfrm>
            <a:off x="5766829" y="322516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8" name="5-конечная звезда 107"/>
          <p:cNvSpPr/>
          <p:nvPr/>
        </p:nvSpPr>
        <p:spPr>
          <a:xfrm>
            <a:off x="5750845" y="3732801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9" name="5-конечная звезда 108"/>
          <p:cNvSpPr/>
          <p:nvPr/>
        </p:nvSpPr>
        <p:spPr>
          <a:xfrm>
            <a:off x="5766829" y="456673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0" name="5-конечная звезда 109"/>
          <p:cNvSpPr/>
          <p:nvPr/>
        </p:nvSpPr>
        <p:spPr>
          <a:xfrm>
            <a:off x="5766829" y="492474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1" name="5-конечная звезда 110"/>
          <p:cNvSpPr/>
          <p:nvPr/>
        </p:nvSpPr>
        <p:spPr>
          <a:xfrm>
            <a:off x="5766829" y="561117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6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17314" y="0"/>
            <a:ext cx="9161313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8981630"/>
              </p:ext>
            </p:extLst>
          </p:nvPr>
        </p:nvGraphicFramePr>
        <p:xfrm>
          <a:off x="-9853" y="476672"/>
          <a:ext cx="9153852" cy="63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06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003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5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155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308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7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967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012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909879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129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60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АО "ЖГМК" -  "Семейская железнодорожная больница"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67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"Почечный центр" (г.Семей)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08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"Курчатовская городская больница" УЗ ВКО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91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Офтальмохирургия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216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РГП на ПХВ "Государственный медицинский университет города Семей" Министерства здравоохранения и социального развития республики Казахстан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60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"Больница скорой медицинской помощи г. Семей"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447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"Частная многопрофильная клиника "Венера"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7216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"Городская больница города  Серебрянска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Зыряновского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района" управления здравоохранения Восточно-Казахстанского областного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Усть-Каменогорская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 №1" управления здравоохранения Восточно-Казахстанского областного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695806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112" name="Группа 111"/>
          <p:cNvGrpSpPr/>
          <p:nvPr/>
        </p:nvGrpSpPr>
        <p:grpSpPr>
          <a:xfrm>
            <a:off x="8160847" y="2380690"/>
            <a:ext cx="806733" cy="109788"/>
            <a:chOff x="4800372" y="271747"/>
            <a:chExt cx="806733" cy="148083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7" name="Группа 116"/>
          <p:cNvGrpSpPr/>
          <p:nvPr/>
        </p:nvGrpSpPr>
        <p:grpSpPr>
          <a:xfrm>
            <a:off x="8118796" y="4186232"/>
            <a:ext cx="806733" cy="109788"/>
            <a:chOff x="4800372" y="271747"/>
            <a:chExt cx="806733" cy="148083"/>
          </a:xfrm>
        </p:grpSpPr>
        <p:sp>
          <p:nvSpPr>
            <p:cNvPr id="118" name="5-конечная звезда 11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/>
          <p:cNvGrpSpPr/>
          <p:nvPr/>
        </p:nvGrpSpPr>
        <p:grpSpPr>
          <a:xfrm>
            <a:off x="8125904" y="5764926"/>
            <a:ext cx="806733" cy="109788"/>
            <a:chOff x="4800372" y="271747"/>
            <a:chExt cx="806733" cy="148083"/>
          </a:xfrm>
        </p:grpSpPr>
        <p:sp>
          <p:nvSpPr>
            <p:cNvPr id="123" name="5-конечная звезда 12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7" name="Группа 126"/>
          <p:cNvGrpSpPr/>
          <p:nvPr/>
        </p:nvGrpSpPr>
        <p:grpSpPr>
          <a:xfrm>
            <a:off x="7968282" y="2056842"/>
            <a:ext cx="1068903" cy="116437"/>
            <a:chOff x="3405227" y="254701"/>
            <a:chExt cx="1022757" cy="198726"/>
          </a:xfrm>
        </p:grpSpPr>
        <p:sp>
          <p:nvSpPr>
            <p:cNvPr id="128" name="5-конечная звезда 12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3" name="Группа 132"/>
          <p:cNvGrpSpPr/>
          <p:nvPr/>
        </p:nvGrpSpPr>
        <p:grpSpPr>
          <a:xfrm>
            <a:off x="7963170" y="2761725"/>
            <a:ext cx="1068903" cy="116437"/>
            <a:chOff x="3405227" y="254701"/>
            <a:chExt cx="1022757" cy="198726"/>
          </a:xfrm>
        </p:grpSpPr>
        <p:sp>
          <p:nvSpPr>
            <p:cNvPr id="134" name="5-конечная звезда 13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9" name="Группа 138"/>
          <p:cNvGrpSpPr/>
          <p:nvPr/>
        </p:nvGrpSpPr>
        <p:grpSpPr>
          <a:xfrm>
            <a:off x="7957754" y="3113389"/>
            <a:ext cx="1068903" cy="116437"/>
            <a:chOff x="3405227" y="254701"/>
            <a:chExt cx="1022757" cy="198726"/>
          </a:xfrm>
        </p:grpSpPr>
        <p:sp>
          <p:nvSpPr>
            <p:cNvPr id="140" name="5-конечная звезда 13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7975934" y="3686394"/>
            <a:ext cx="1068903" cy="116437"/>
            <a:chOff x="3405227" y="254701"/>
            <a:chExt cx="1022757" cy="198726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1" name="Группа 150"/>
          <p:cNvGrpSpPr/>
          <p:nvPr/>
        </p:nvGrpSpPr>
        <p:grpSpPr>
          <a:xfrm>
            <a:off x="7994819" y="4574478"/>
            <a:ext cx="1068903" cy="116437"/>
            <a:chOff x="3405227" y="254701"/>
            <a:chExt cx="1022757" cy="198726"/>
          </a:xfrm>
        </p:grpSpPr>
        <p:sp>
          <p:nvSpPr>
            <p:cNvPr id="152" name="5-конечная звезда 15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8002471" y="5139864"/>
            <a:ext cx="1068903" cy="116437"/>
            <a:chOff x="3405227" y="254701"/>
            <a:chExt cx="1022757" cy="198726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5-конечная звезда 16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3" name="Группа 162"/>
          <p:cNvGrpSpPr/>
          <p:nvPr/>
        </p:nvGrpSpPr>
        <p:grpSpPr>
          <a:xfrm>
            <a:off x="5587428" y="2770725"/>
            <a:ext cx="365246" cy="109788"/>
            <a:chOff x="7472157" y="269324"/>
            <a:chExt cx="365246" cy="148082"/>
          </a:xfrm>
        </p:grpSpPr>
        <p:sp>
          <p:nvSpPr>
            <p:cNvPr id="164" name="5-конечная звезда 16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6" name="Группа 165"/>
          <p:cNvGrpSpPr/>
          <p:nvPr/>
        </p:nvGrpSpPr>
        <p:grpSpPr>
          <a:xfrm>
            <a:off x="5616154" y="3632190"/>
            <a:ext cx="365246" cy="109788"/>
            <a:chOff x="7472157" y="269324"/>
            <a:chExt cx="365246" cy="148082"/>
          </a:xfrm>
        </p:grpSpPr>
        <p:sp>
          <p:nvSpPr>
            <p:cNvPr id="167" name="5-конечная звезда 16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5602478" y="4195990"/>
            <a:ext cx="365246" cy="109788"/>
            <a:chOff x="7472157" y="269324"/>
            <a:chExt cx="365246" cy="148082"/>
          </a:xfrm>
        </p:grpSpPr>
        <p:sp>
          <p:nvSpPr>
            <p:cNvPr id="170" name="5-конечная звезда 16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72" name="5-конечная звезда 171"/>
          <p:cNvSpPr/>
          <p:nvPr/>
        </p:nvSpPr>
        <p:spPr>
          <a:xfrm>
            <a:off x="5688162" y="205612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3" name="5-конечная звезда 172"/>
          <p:cNvSpPr/>
          <p:nvPr/>
        </p:nvSpPr>
        <p:spPr>
          <a:xfrm>
            <a:off x="5698699" y="2380691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4" name="5-конечная звезда 173"/>
          <p:cNvSpPr/>
          <p:nvPr/>
        </p:nvSpPr>
        <p:spPr>
          <a:xfrm>
            <a:off x="5726262" y="310741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5" name="5-конечная звезда 174"/>
          <p:cNvSpPr/>
          <p:nvPr/>
        </p:nvSpPr>
        <p:spPr>
          <a:xfrm>
            <a:off x="5708882" y="457447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6" name="5-конечная звезда 175"/>
          <p:cNvSpPr/>
          <p:nvPr/>
        </p:nvSpPr>
        <p:spPr>
          <a:xfrm>
            <a:off x="5698699" y="514582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7" name="5-конечная звезда 176"/>
          <p:cNvSpPr/>
          <p:nvPr/>
        </p:nvSpPr>
        <p:spPr>
          <a:xfrm>
            <a:off x="5708882" y="579087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66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812738"/>
              </p:ext>
            </p:extLst>
          </p:nvPr>
        </p:nvGraphicFramePr>
        <p:xfrm>
          <a:off x="0" y="513025"/>
          <a:ext cx="9144000" cy="6396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86736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71807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3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ВКО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"Риддерская городская больница" УЗ ВКО акимата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5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клиническая больница №5" Управления здравоохранения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867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акционерного общества "Железнодорожные госпитали медицины катастроф"-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Алматинская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5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клиническая больница №4" Управления здравоохранения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5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клиническая больница №1" Управления здравоохранения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43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больница "Алатау" Управления здравоохранения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23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Достар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Мед"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13%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232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"АРКТУР 8"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215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Жасанды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буйрек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662162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70" name="Группа 69"/>
          <p:cNvGrpSpPr/>
          <p:nvPr/>
        </p:nvGrpSpPr>
        <p:grpSpPr>
          <a:xfrm>
            <a:off x="5381140" y="2469241"/>
            <a:ext cx="806733" cy="109788"/>
            <a:chOff x="4800372" y="271747"/>
            <a:chExt cx="806733" cy="148083"/>
          </a:xfrm>
        </p:grpSpPr>
        <p:sp>
          <p:nvSpPr>
            <p:cNvPr id="71" name="5-конечная звезда 7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5" name="Группа 74"/>
          <p:cNvGrpSpPr/>
          <p:nvPr/>
        </p:nvGrpSpPr>
        <p:grpSpPr>
          <a:xfrm>
            <a:off x="8127834" y="2035364"/>
            <a:ext cx="806733" cy="109788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5395784" y="3689453"/>
            <a:ext cx="806733" cy="109788"/>
            <a:chOff x="4800372" y="271747"/>
            <a:chExt cx="806733" cy="148083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5381140" y="4192790"/>
            <a:ext cx="806733" cy="109788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5379673" y="4619333"/>
            <a:ext cx="806733" cy="109788"/>
            <a:chOff x="4800372" y="271747"/>
            <a:chExt cx="806733" cy="148083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5" name="Группа 94"/>
          <p:cNvGrpSpPr/>
          <p:nvPr/>
        </p:nvGrpSpPr>
        <p:grpSpPr>
          <a:xfrm>
            <a:off x="7978786" y="2524135"/>
            <a:ext cx="1068903" cy="116437"/>
            <a:chOff x="3405227" y="254701"/>
            <a:chExt cx="1022757" cy="198726"/>
          </a:xfrm>
        </p:grpSpPr>
        <p:sp>
          <p:nvSpPr>
            <p:cNvPr id="96" name="5-конечная звезда 9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7973458" y="3075868"/>
            <a:ext cx="1068903" cy="116437"/>
            <a:chOff x="3405227" y="254701"/>
            <a:chExt cx="1022757" cy="198726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7" name="Группа 106"/>
          <p:cNvGrpSpPr/>
          <p:nvPr/>
        </p:nvGrpSpPr>
        <p:grpSpPr>
          <a:xfrm>
            <a:off x="7973616" y="3689454"/>
            <a:ext cx="1068903" cy="116437"/>
            <a:chOff x="3405227" y="254701"/>
            <a:chExt cx="1022757" cy="198726"/>
          </a:xfrm>
        </p:grpSpPr>
        <p:sp>
          <p:nvSpPr>
            <p:cNvPr id="108" name="5-конечная звезда 10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9" name="Группа 178"/>
          <p:cNvGrpSpPr/>
          <p:nvPr/>
        </p:nvGrpSpPr>
        <p:grpSpPr>
          <a:xfrm>
            <a:off x="7978786" y="4234850"/>
            <a:ext cx="1068903" cy="116437"/>
            <a:chOff x="3405227" y="254701"/>
            <a:chExt cx="1022757" cy="198726"/>
          </a:xfrm>
        </p:grpSpPr>
        <p:sp>
          <p:nvSpPr>
            <p:cNvPr id="180" name="5-конечная звезда 17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3" name="5-конечная звезда 182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4" name="5-конечная звезда 183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5" name="Группа 184"/>
          <p:cNvGrpSpPr/>
          <p:nvPr/>
        </p:nvGrpSpPr>
        <p:grpSpPr>
          <a:xfrm>
            <a:off x="7961806" y="4680196"/>
            <a:ext cx="1068903" cy="116437"/>
            <a:chOff x="3405227" y="254701"/>
            <a:chExt cx="1022757" cy="198726"/>
          </a:xfrm>
        </p:grpSpPr>
        <p:sp>
          <p:nvSpPr>
            <p:cNvPr id="186" name="5-конечная звезда 18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5-конечная звезда 18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9" name="5-конечная звезда 18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0" name="5-конечная звезда 18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1" name="Группа 190"/>
          <p:cNvGrpSpPr/>
          <p:nvPr/>
        </p:nvGrpSpPr>
        <p:grpSpPr>
          <a:xfrm>
            <a:off x="7952123" y="5064931"/>
            <a:ext cx="1068903" cy="116437"/>
            <a:chOff x="3405227" y="254701"/>
            <a:chExt cx="1022757" cy="198726"/>
          </a:xfrm>
        </p:grpSpPr>
        <p:sp>
          <p:nvSpPr>
            <p:cNvPr id="192" name="5-конечная звезда 19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5-конечная звезда 19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5-конечная звезда 19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5-конечная звезда 19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5-конечная звезда 19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7" name="Группа 196"/>
          <p:cNvGrpSpPr/>
          <p:nvPr/>
        </p:nvGrpSpPr>
        <p:grpSpPr>
          <a:xfrm>
            <a:off x="7954981" y="5488499"/>
            <a:ext cx="1068903" cy="116437"/>
            <a:chOff x="3405227" y="254701"/>
            <a:chExt cx="1022757" cy="198726"/>
          </a:xfrm>
        </p:grpSpPr>
        <p:sp>
          <p:nvSpPr>
            <p:cNvPr id="198" name="5-конечная звезда 19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5-конечная звезда 19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0" name="5-конечная звезда 19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1" name="5-конечная звезда 20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2" name="5-конечная звезда 20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3" name="Группа 202"/>
          <p:cNvGrpSpPr/>
          <p:nvPr/>
        </p:nvGrpSpPr>
        <p:grpSpPr>
          <a:xfrm>
            <a:off x="7986438" y="5992863"/>
            <a:ext cx="1068903" cy="116437"/>
            <a:chOff x="3405227" y="254701"/>
            <a:chExt cx="1022757" cy="198726"/>
          </a:xfrm>
        </p:grpSpPr>
        <p:sp>
          <p:nvSpPr>
            <p:cNvPr id="204" name="5-конечная звезда 20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5" name="5-конечная звезда 20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6" name="5-конечная звезда 20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5-конечная звезда 20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8" name="5-конечная звезда 20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09" name="5-конечная звезда 208"/>
          <p:cNvSpPr/>
          <p:nvPr/>
        </p:nvSpPr>
        <p:spPr>
          <a:xfrm>
            <a:off x="5784507" y="201369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0" name="5-конечная звезда 209"/>
          <p:cNvSpPr/>
          <p:nvPr/>
        </p:nvSpPr>
        <p:spPr>
          <a:xfrm>
            <a:off x="5755825" y="308730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1" name="5-конечная звезда 210"/>
          <p:cNvSpPr/>
          <p:nvPr/>
        </p:nvSpPr>
        <p:spPr>
          <a:xfrm>
            <a:off x="5748097" y="502089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2" name="5-конечная звезда 211"/>
          <p:cNvSpPr/>
          <p:nvPr/>
        </p:nvSpPr>
        <p:spPr>
          <a:xfrm>
            <a:off x="5727143" y="5449621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3" name="5-конечная звезда 212"/>
          <p:cNvSpPr/>
          <p:nvPr/>
        </p:nvSpPr>
        <p:spPr>
          <a:xfrm>
            <a:off x="5734167" y="590166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7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9964" y="0"/>
            <a:ext cx="9153963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277509"/>
              </p:ext>
            </p:extLst>
          </p:nvPr>
        </p:nvGraphicFramePr>
        <p:xfrm>
          <a:off x="0" y="476672"/>
          <a:ext cx="9144000" cy="6381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7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9735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103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5053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619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86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6651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7496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295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"Центр медицинской помощи"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64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''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Medical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Park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74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"Городской ревматологический центр" Управления здравоохранения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74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"Городской центр репродукции человека" на ПХВ Управления здравоохранения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74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"Региональный диагностический центр" Управления здравоохранения 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83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"Центр неврологии и реабилитации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Aspasia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723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"Медицинская компания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Сункар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723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"Институт репродуктивной медицины"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820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Медцентр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-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Рахат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73908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112" name="Группа 111"/>
          <p:cNvGrpSpPr/>
          <p:nvPr/>
        </p:nvGrpSpPr>
        <p:grpSpPr>
          <a:xfrm>
            <a:off x="5411173" y="2729359"/>
            <a:ext cx="806733" cy="109788"/>
            <a:chOff x="4800372" y="271747"/>
            <a:chExt cx="806733" cy="148083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7" name="Группа 116"/>
          <p:cNvGrpSpPr/>
          <p:nvPr/>
        </p:nvGrpSpPr>
        <p:grpSpPr>
          <a:xfrm>
            <a:off x="5396638" y="3266566"/>
            <a:ext cx="806733" cy="109788"/>
            <a:chOff x="4800372" y="271747"/>
            <a:chExt cx="806733" cy="148083"/>
          </a:xfrm>
        </p:grpSpPr>
        <p:sp>
          <p:nvSpPr>
            <p:cNvPr id="118" name="5-конечная звезда 11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/>
          <p:cNvGrpSpPr/>
          <p:nvPr/>
        </p:nvGrpSpPr>
        <p:grpSpPr>
          <a:xfrm>
            <a:off x="8001412" y="1910558"/>
            <a:ext cx="1068903" cy="116437"/>
            <a:chOff x="3405227" y="254701"/>
            <a:chExt cx="1022757" cy="198726"/>
          </a:xfrm>
        </p:grpSpPr>
        <p:sp>
          <p:nvSpPr>
            <p:cNvPr id="123" name="5-конечная звезда 12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7985660" y="2246047"/>
            <a:ext cx="1068903" cy="116437"/>
            <a:chOff x="3405227" y="254701"/>
            <a:chExt cx="1022757" cy="198726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7977130" y="2722710"/>
            <a:ext cx="1068903" cy="116437"/>
            <a:chOff x="3405227" y="254701"/>
            <a:chExt cx="1022757" cy="198726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0" name="Группа 139"/>
          <p:cNvGrpSpPr/>
          <p:nvPr/>
        </p:nvGrpSpPr>
        <p:grpSpPr>
          <a:xfrm>
            <a:off x="7985660" y="3266566"/>
            <a:ext cx="1068903" cy="116437"/>
            <a:chOff x="3405227" y="254701"/>
            <a:chExt cx="1022757" cy="198726"/>
          </a:xfrm>
        </p:grpSpPr>
        <p:sp>
          <p:nvSpPr>
            <p:cNvPr id="141" name="5-конечная звезда 14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6" name="Группа 145"/>
          <p:cNvGrpSpPr/>
          <p:nvPr/>
        </p:nvGrpSpPr>
        <p:grpSpPr>
          <a:xfrm>
            <a:off x="7977539" y="3830482"/>
            <a:ext cx="1068903" cy="116437"/>
            <a:chOff x="3405227" y="254701"/>
            <a:chExt cx="1022757" cy="198726"/>
          </a:xfrm>
        </p:grpSpPr>
        <p:sp>
          <p:nvSpPr>
            <p:cNvPr id="147" name="5-конечная звезда 14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2" name="Группа 151"/>
          <p:cNvGrpSpPr/>
          <p:nvPr/>
        </p:nvGrpSpPr>
        <p:grpSpPr>
          <a:xfrm>
            <a:off x="7993312" y="4340549"/>
            <a:ext cx="1068903" cy="116437"/>
            <a:chOff x="3405227" y="254701"/>
            <a:chExt cx="1022757" cy="198726"/>
          </a:xfrm>
        </p:grpSpPr>
        <p:sp>
          <p:nvSpPr>
            <p:cNvPr id="153" name="5-конечная звезда 15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7985660" y="4779851"/>
            <a:ext cx="1068903" cy="116437"/>
            <a:chOff x="3405227" y="254701"/>
            <a:chExt cx="1022757" cy="198726"/>
          </a:xfrm>
        </p:grpSpPr>
        <p:sp>
          <p:nvSpPr>
            <p:cNvPr id="159" name="5-конечная звезда 15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5-конечная звезда 16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4" name="Группа 163"/>
          <p:cNvGrpSpPr/>
          <p:nvPr/>
        </p:nvGrpSpPr>
        <p:grpSpPr>
          <a:xfrm>
            <a:off x="7984782" y="5252553"/>
            <a:ext cx="1068903" cy="116437"/>
            <a:chOff x="3405227" y="254701"/>
            <a:chExt cx="1022757" cy="198726"/>
          </a:xfrm>
        </p:grpSpPr>
        <p:sp>
          <p:nvSpPr>
            <p:cNvPr id="165" name="5-конечная звезда 16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5-конечная звезда 16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0" name="Группа 169"/>
          <p:cNvGrpSpPr/>
          <p:nvPr/>
        </p:nvGrpSpPr>
        <p:grpSpPr>
          <a:xfrm>
            <a:off x="7993312" y="5757518"/>
            <a:ext cx="1068903" cy="116437"/>
            <a:chOff x="3405227" y="254701"/>
            <a:chExt cx="1022757" cy="198726"/>
          </a:xfrm>
        </p:grpSpPr>
        <p:sp>
          <p:nvSpPr>
            <p:cNvPr id="171" name="5-конечная звезда 17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4" name="5-конечная звезда 17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5" name="5-конечная звезда 17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76" name="5-конечная звезда 175"/>
          <p:cNvSpPr/>
          <p:nvPr/>
        </p:nvSpPr>
        <p:spPr>
          <a:xfrm>
            <a:off x="5757787" y="192593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7" name="5-конечная звезда 176"/>
          <p:cNvSpPr/>
          <p:nvPr/>
        </p:nvSpPr>
        <p:spPr>
          <a:xfrm>
            <a:off x="5752777" y="226029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4" name="5-конечная звезда 213"/>
          <p:cNvSpPr/>
          <p:nvPr/>
        </p:nvSpPr>
        <p:spPr>
          <a:xfrm>
            <a:off x="5713850" y="383048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5" name="5-конечная звезда 214"/>
          <p:cNvSpPr/>
          <p:nvPr/>
        </p:nvSpPr>
        <p:spPr>
          <a:xfrm>
            <a:off x="5713850" y="434510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5-конечная звезда 215"/>
          <p:cNvSpPr/>
          <p:nvPr/>
        </p:nvSpPr>
        <p:spPr>
          <a:xfrm>
            <a:off x="5713850" y="479050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5-конечная звезда 216"/>
          <p:cNvSpPr/>
          <p:nvPr/>
        </p:nvSpPr>
        <p:spPr>
          <a:xfrm>
            <a:off x="5713850" y="521817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5-конечная звезда 217"/>
          <p:cNvSpPr/>
          <p:nvPr/>
        </p:nvSpPr>
        <p:spPr>
          <a:xfrm>
            <a:off x="5713850" y="573872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294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19217" y="0"/>
            <a:ext cx="9163217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9116340"/>
              </p:ext>
            </p:extLst>
          </p:nvPr>
        </p:nvGraphicFramePr>
        <p:xfrm>
          <a:off x="-17082" y="476672"/>
          <a:ext cx="9161084" cy="638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36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503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15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276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4084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143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6157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111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809758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9822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10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РГП на ПХВ "Центральная клиническая больница Медицинского центра Управления Делами Президента Республики Казахстан"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347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РГП на ПХВ "Республиканский клинический госпиталь для инвалидов Отечественной войны" Министерства здравоохранения и социального развития Республики Казахстан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347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РГП на ПХВ "Казахский национальный медицинский университет им. С.Д.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Асфендиярова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Министерства здравоохранения и социального развития Республики Казахстан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77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АО "Санаторий "Алматы" МЦ УДП РК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18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"Медицинский центр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Релайф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18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"Центр ЭКО"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18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"Клиника SBS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med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893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Медициналық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орталық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"Ревматология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аурулары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602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"Институт </a:t>
                      </a:r>
                      <a:r>
                        <a:rPr lang="ru-RU" sz="1000" kern="12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хирургии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70%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765603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75" name="Группа 74"/>
          <p:cNvGrpSpPr/>
          <p:nvPr/>
        </p:nvGrpSpPr>
        <p:grpSpPr>
          <a:xfrm>
            <a:off x="8134554" y="5725132"/>
            <a:ext cx="806733" cy="109788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8042076" y="2633861"/>
            <a:ext cx="1068903" cy="116437"/>
            <a:chOff x="3405227" y="254701"/>
            <a:chExt cx="1022757" cy="198726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7981207" y="3370781"/>
            <a:ext cx="1068903" cy="116437"/>
            <a:chOff x="3405227" y="254701"/>
            <a:chExt cx="1022757" cy="198726"/>
          </a:xfrm>
        </p:grpSpPr>
        <p:sp>
          <p:nvSpPr>
            <p:cNvPr id="87" name="5-конечная звезда 8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7965453" y="3880606"/>
            <a:ext cx="1068903" cy="116437"/>
            <a:chOff x="3405227" y="254701"/>
            <a:chExt cx="1022757" cy="198726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7970940" y="4163986"/>
            <a:ext cx="1068903" cy="116437"/>
            <a:chOff x="3405227" y="254701"/>
            <a:chExt cx="1022757" cy="198726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4" name="Группа 103"/>
          <p:cNvGrpSpPr/>
          <p:nvPr/>
        </p:nvGrpSpPr>
        <p:grpSpPr>
          <a:xfrm>
            <a:off x="7959757" y="4463434"/>
            <a:ext cx="1068903" cy="116437"/>
            <a:chOff x="3405227" y="254701"/>
            <a:chExt cx="1022757" cy="198726"/>
          </a:xfrm>
        </p:grpSpPr>
        <p:sp>
          <p:nvSpPr>
            <p:cNvPr id="105" name="5-конечная звезда 10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0" name="Группа 109"/>
          <p:cNvGrpSpPr/>
          <p:nvPr/>
        </p:nvGrpSpPr>
        <p:grpSpPr>
          <a:xfrm>
            <a:off x="7963288" y="4806676"/>
            <a:ext cx="1068903" cy="116437"/>
            <a:chOff x="3405227" y="254701"/>
            <a:chExt cx="1022757" cy="198726"/>
          </a:xfrm>
        </p:grpSpPr>
        <p:sp>
          <p:nvSpPr>
            <p:cNvPr id="111" name="5-конечная звезда 11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9" name="5-конечная звезда 17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0" name="5-конечная звезда 17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2" name="Группа 181"/>
          <p:cNvGrpSpPr/>
          <p:nvPr/>
        </p:nvGrpSpPr>
        <p:grpSpPr>
          <a:xfrm>
            <a:off x="7966819" y="5196213"/>
            <a:ext cx="1068903" cy="116437"/>
            <a:chOff x="3405227" y="254701"/>
            <a:chExt cx="1022757" cy="198726"/>
          </a:xfrm>
        </p:grpSpPr>
        <p:sp>
          <p:nvSpPr>
            <p:cNvPr id="183" name="5-конечная звезда 18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4" name="5-конечная звезда 18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5" name="5-конечная звезда 18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8" name="Группа 187"/>
          <p:cNvGrpSpPr/>
          <p:nvPr/>
        </p:nvGrpSpPr>
        <p:grpSpPr>
          <a:xfrm>
            <a:off x="8393905" y="1989743"/>
            <a:ext cx="365246" cy="109788"/>
            <a:chOff x="7472157" y="269324"/>
            <a:chExt cx="365246" cy="148082"/>
          </a:xfrm>
        </p:grpSpPr>
        <p:sp>
          <p:nvSpPr>
            <p:cNvPr id="189" name="5-конечная звезда 18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0" name="5-конечная звезда 18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1" name="5-конечная звезда 190"/>
          <p:cNvSpPr/>
          <p:nvPr/>
        </p:nvSpPr>
        <p:spPr>
          <a:xfrm>
            <a:off x="5714882" y="204463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2" name="5-конечная звезда 191"/>
          <p:cNvSpPr/>
          <p:nvPr/>
        </p:nvSpPr>
        <p:spPr>
          <a:xfrm>
            <a:off x="5722918" y="268010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3" name="5-конечная звезда 192"/>
          <p:cNvSpPr/>
          <p:nvPr/>
        </p:nvSpPr>
        <p:spPr>
          <a:xfrm>
            <a:off x="5731532" y="340725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4" name="5-конечная звезда 193"/>
          <p:cNvSpPr/>
          <p:nvPr/>
        </p:nvSpPr>
        <p:spPr>
          <a:xfrm>
            <a:off x="5731532" y="389406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5" name="5-конечная звезда 194"/>
          <p:cNvSpPr/>
          <p:nvPr/>
        </p:nvSpPr>
        <p:spPr>
          <a:xfrm>
            <a:off x="5721055" y="417063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6" name="5-конечная звезда 195"/>
          <p:cNvSpPr/>
          <p:nvPr/>
        </p:nvSpPr>
        <p:spPr>
          <a:xfrm>
            <a:off x="5714882" y="448091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7" name="5-конечная звезда 196"/>
          <p:cNvSpPr/>
          <p:nvPr/>
        </p:nvSpPr>
        <p:spPr>
          <a:xfrm>
            <a:off x="5709095" y="476650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8" name="5-конечная звезда 197"/>
          <p:cNvSpPr/>
          <p:nvPr/>
        </p:nvSpPr>
        <p:spPr>
          <a:xfrm>
            <a:off x="5684258" y="515838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9" name="5-конечная звезда 198"/>
          <p:cNvSpPr/>
          <p:nvPr/>
        </p:nvSpPr>
        <p:spPr>
          <a:xfrm>
            <a:off x="5684258" y="568422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49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773946"/>
              </p:ext>
            </p:extLst>
          </p:nvPr>
        </p:nvGraphicFramePr>
        <p:xfrm>
          <a:off x="0" y="476671"/>
          <a:ext cx="9144000" cy="6381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2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448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82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6335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51953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568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91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АО "Санаторий "Казахстан"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91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акционерного общества "Железнодорожные госпитали медицины катастроф"- "Учебно-клинический центр"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96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Private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clinic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Almaty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/ "Приват клиник Алматы"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42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"Медицинский центр "ХАК"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45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больница скорой неотложной помощи" Управления здравоохранения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45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"Центральная городская клиническая больница" Управления здравоохранения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89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Burc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Medical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(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Бурч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Медикал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)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008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клиническая больница №7" Управления здравоохранения города Алматы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61712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г.Алматы</a:t>
                      </a:r>
                      <a:endParaRPr lang="ru-RU" sz="1000" kern="1200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"Городской кардиологический центр" Управления здравоохранения города Алматы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783565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63" name="Группа 62"/>
          <p:cNvGrpSpPr/>
          <p:nvPr/>
        </p:nvGrpSpPr>
        <p:grpSpPr>
          <a:xfrm>
            <a:off x="8151849" y="1896166"/>
            <a:ext cx="806733" cy="109788"/>
            <a:chOff x="4800372" y="271747"/>
            <a:chExt cx="806733" cy="148083"/>
          </a:xfrm>
        </p:grpSpPr>
        <p:sp>
          <p:nvSpPr>
            <p:cNvPr id="64" name="5-конечная звезда 6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5-конечная звезда 6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6" name="5-конечная звезда 6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8" name="Группа 67"/>
          <p:cNvGrpSpPr/>
          <p:nvPr/>
        </p:nvGrpSpPr>
        <p:grpSpPr>
          <a:xfrm>
            <a:off x="8124110" y="2403773"/>
            <a:ext cx="806733" cy="109788"/>
            <a:chOff x="4800372" y="271747"/>
            <a:chExt cx="806733" cy="148083"/>
          </a:xfrm>
        </p:grpSpPr>
        <p:sp>
          <p:nvSpPr>
            <p:cNvPr id="69" name="5-конечная звезда 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8134600" y="3725636"/>
            <a:ext cx="806733" cy="109788"/>
            <a:chOff x="4800372" y="271747"/>
            <a:chExt cx="806733" cy="148083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5" name="Группа 114"/>
          <p:cNvGrpSpPr/>
          <p:nvPr/>
        </p:nvGrpSpPr>
        <p:grpSpPr>
          <a:xfrm>
            <a:off x="8133949" y="4289955"/>
            <a:ext cx="806733" cy="109788"/>
            <a:chOff x="4800372" y="271747"/>
            <a:chExt cx="806733" cy="148083"/>
          </a:xfrm>
        </p:grpSpPr>
        <p:sp>
          <p:nvSpPr>
            <p:cNvPr id="116" name="5-конечная звезда 11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0" name="Группа 119"/>
          <p:cNvGrpSpPr/>
          <p:nvPr/>
        </p:nvGrpSpPr>
        <p:grpSpPr>
          <a:xfrm>
            <a:off x="8125566" y="5087489"/>
            <a:ext cx="806733" cy="109788"/>
            <a:chOff x="4800372" y="271747"/>
            <a:chExt cx="806733" cy="148083"/>
          </a:xfrm>
        </p:grpSpPr>
        <p:sp>
          <p:nvSpPr>
            <p:cNvPr id="121" name="5-конечная звезда 12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5" name="Группа 124"/>
          <p:cNvGrpSpPr/>
          <p:nvPr/>
        </p:nvGrpSpPr>
        <p:grpSpPr>
          <a:xfrm>
            <a:off x="5389062" y="5062058"/>
            <a:ext cx="806733" cy="109788"/>
            <a:chOff x="4800372" y="271747"/>
            <a:chExt cx="806733" cy="148083"/>
          </a:xfrm>
        </p:grpSpPr>
        <p:sp>
          <p:nvSpPr>
            <p:cNvPr id="126" name="5-конечная звезда 12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0" name="Группа 129"/>
          <p:cNvGrpSpPr/>
          <p:nvPr/>
        </p:nvGrpSpPr>
        <p:grpSpPr>
          <a:xfrm>
            <a:off x="5357693" y="5641164"/>
            <a:ext cx="806733" cy="109788"/>
            <a:chOff x="4800372" y="271747"/>
            <a:chExt cx="806733" cy="148083"/>
          </a:xfrm>
        </p:grpSpPr>
        <p:sp>
          <p:nvSpPr>
            <p:cNvPr id="131" name="5-конечная звезда 13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5" name="Группа 134"/>
          <p:cNvGrpSpPr/>
          <p:nvPr/>
        </p:nvGrpSpPr>
        <p:grpSpPr>
          <a:xfrm>
            <a:off x="8125566" y="5626535"/>
            <a:ext cx="806733" cy="109788"/>
            <a:chOff x="4800372" y="271747"/>
            <a:chExt cx="806733" cy="148083"/>
          </a:xfrm>
        </p:grpSpPr>
        <p:sp>
          <p:nvSpPr>
            <p:cNvPr id="136" name="5-конечная звезда 13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0" name="Группа 139"/>
          <p:cNvGrpSpPr/>
          <p:nvPr/>
        </p:nvGrpSpPr>
        <p:grpSpPr>
          <a:xfrm>
            <a:off x="5379786" y="3725635"/>
            <a:ext cx="806733" cy="109788"/>
            <a:chOff x="4800372" y="271747"/>
            <a:chExt cx="806733" cy="148083"/>
          </a:xfrm>
        </p:grpSpPr>
        <p:sp>
          <p:nvSpPr>
            <p:cNvPr id="141" name="5-конечная звезда 14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7973596" y="3331570"/>
            <a:ext cx="1068903" cy="116437"/>
            <a:chOff x="3405227" y="254701"/>
            <a:chExt cx="1022757" cy="198726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1" name="Группа 150"/>
          <p:cNvGrpSpPr/>
          <p:nvPr/>
        </p:nvGrpSpPr>
        <p:grpSpPr>
          <a:xfrm>
            <a:off x="7973596" y="4704478"/>
            <a:ext cx="1068903" cy="116437"/>
            <a:chOff x="3405227" y="254701"/>
            <a:chExt cx="1022757" cy="198726"/>
          </a:xfrm>
        </p:grpSpPr>
        <p:sp>
          <p:nvSpPr>
            <p:cNvPr id="152" name="5-конечная звезда 15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5614891" y="4255315"/>
            <a:ext cx="365246" cy="109788"/>
            <a:chOff x="7472157" y="269324"/>
            <a:chExt cx="365246" cy="148082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0" name="5-конечная звезда 159"/>
          <p:cNvSpPr/>
          <p:nvPr/>
        </p:nvSpPr>
        <p:spPr>
          <a:xfrm>
            <a:off x="5734165" y="195106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1" name="5-конечная звезда 160"/>
          <p:cNvSpPr/>
          <p:nvPr/>
        </p:nvSpPr>
        <p:spPr>
          <a:xfrm>
            <a:off x="5720421" y="234888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2" name="5-конечная звезда 161"/>
          <p:cNvSpPr/>
          <p:nvPr/>
        </p:nvSpPr>
        <p:spPr>
          <a:xfrm>
            <a:off x="5734165" y="285293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3" name="5-конечная звезда 162"/>
          <p:cNvSpPr/>
          <p:nvPr/>
        </p:nvSpPr>
        <p:spPr>
          <a:xfrm>
            <a:off x="5711145" y="333632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4" name="5-конечная звезда 163"/>
          <p:cNvSpPr/>
          <p:nvPr/>
        </p:nvSpPr>
        <p:spPr>
          <a:xfrm>
            <a:off x="8483208" y="290783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5" name="5-конечная звезда 164"/>
          <p:cNvSpPr/>
          <p:nvPr/>
        </p:nvSpPr>
        <p:spPr>
          <a:xfrm>
            <a:off x="5748210" y="468741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84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13276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995405"/>
              </p:ext>
            </p:extLst>
          </p:nvPr>
        </p:nvGraphicFramePr>
        <p:xfrm>
          <a:off x="17454" y="488986"/>
          <a:ext cx="9113226" cy="6369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7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9349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649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6011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74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871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11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457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46212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1753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33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«Центр дерматологии и профилактики болезней, передающихся половым путем города Астана» Управления здравоохранения города Астана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68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«Городская больница №2»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города Астаны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51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больница №1"акимата города Астаны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20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"Астана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Эколайф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77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"Многопрофильный медицинский центр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Мейірім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92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« Академия ортопедии Астана»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35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РГП на ПХВ "Больница Медицинского центра Управления Делами Президента Республики Казахстан" 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970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РГКП «Центральный клинический госпиталь для инвалидов Отечественной войны» МЗ РК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334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«МОД и Компания»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777583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75" name="Группа 74"/>
          <p:cNvGrpSpPr/>
          <p:nvPr/>
        </p:nvGrpSpPr>
        <p:grpSpPr>
          <a:xfrm>
            <a:off x="5406237" y="2636389"/>
            <a:ext cx="806733" cy="109788"/>
            <a:chOff x="4800372" y="271747"/>
            <a:chExt cx="806733" cy="148083"/>
          </a:xfrm>
        </p:grpSpPr>
        <p:sp>
          <p:nvSpPr>
            <p:cNvPr id="76" name="5-конечная звезда 7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0" name="Группа 79"/>
          <p:cNvGrpSpPr/>
          <p:nvPr/>
        </p:nvGrpSpPr>
        <p:grpSpPr>
          <a:xfrm>
            <a:off x="8132870" y="2681604"/>
            <a:ext cx="806733" cy="109788"/>
            <a:chOff x="4800372" y="271747"/>
            <a:chExt cx="806733" cy="148083"/>
          </a:xfrm>
        </p:grpSpPr>
        <p:sp>
          <p:nvSpPr>
            <p:cNvPr id="81" name="5-конечная звезда 8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8125253" y="3240079"/>
            <a:ext cx="806733" cy="109788"/>
            <a:chOff x="4800372" y="271747"/>
            <a:chExt cx="806733" cy="148083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0" name="Группа 89"/>
          <p:cNvGrpSpPr/>
          <p:nvPr/>
        </p:nvGrpSpPr>
        <p:grpSpPr>
          <a:xfrm>
            <a:off x="7978069" y="3632573"/>
            <a:ext cx="1068903" cy="116437"/>
            <a:chOff x="3405227" y="254701"/>
            <a:chExt cx="1022757" cy="198726"/>
          </a:xfrm>
        </p:grpSpPr>
        <p:sp>
          <p:nvSpPr>
            <p:cNvPr id="91" name="5-конечная звезда 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7949668" y="4039339"/>
            <a:ext cx="1068903" cy="116437"/>
            <a:chOff x="3405227" y="254701"/>
            <a:chExt cx="1022757" cy="198726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2" name="Группа 101"/>
          <p:cNvGrpSpPr/>
          <p:nvPr/>
        </p:nvGrpSpPr>
        <p:grpSpPr>
          <a:xfrm>
            <a:off x="7957320" y="4365104"/>
            <a:ext cx="1068903" cy="116437"/>
            <a:chOff x="3405227" y="254701"/>
            <a:chExt cx="1022757" cy="198726"/>
          </a:xfrm>
        </p:grpSpPr>
        <p:sp>
          <p:nvSpPr>
            <p:cNvPr id="103" name="5-конечная звезда 10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7964972" y="4813517"/>
            <a:ext cx="1068903" cy="116437"/>
            <a:chOff x="3405227" y="254701"/>
            <a:chExt cx="1022757" cy="198726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8" name="Группа 167"/>
          <p:cNvGrpSpPr/>
          <p:nvPr/>
        </p:nvGrpSpPr>
        <p:grpSpPr>
          <a:xfrm>
            <a:off x="7970417" y="5294558"/>
            <a:ext cx="1068903" cy="116437"/>
            <a:chOff x="3405227" y="254701"/>
            <a:chExt cx="1022757" cy="198726"/>
          </a:xfrm>
        </p:grpSpPr>
        <p:sp>
          <p:nvSpPr>
            <p:cNvPr id="169" name="5-конечная звезда 16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4" name="Группа 173"/>
          <p:cNvGrpSpPr/>
          <p:nvPr/>
        </p:nvGrpSpPr>
        <p:grpSpPr>
          <a:xfrm>
            <a:off x="7962765" y="2088427"/>
            <a:ext cx="1068903" cy="116437"/>
            <a:chOff x="3405227" y="254701"/>
            <a:chExt cx="1022757" cy="198726"/>
          </a:xfrm>
        </p:grpSpPr>
        <p:sp>
          <p:nvSpPr>
            <p:cNvPr id="175" name="5-конечная звезда 17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9" name="5-конечная звезда 17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0" name="Группа 179"/>
          <p:cNvGrpSpPr/>
          <p:nvPr/>
        </p:nvGrpSpPr>
        <p:grpSpPr>
          <a:xfrm>
            <a:off x="5504034" y="4812521"/>
            <a:ext cx="582325" cy="109788"/>
            <a:chOff x="6236568" y="276066"/>
            <a:chExt cx="582325" cy="148083"/>
          </a:xfrm>
        </p:grpSpPr>
        <p:sp>
          <p:nvSpPr>
            <p:cNvPr id="181" name="5-конечная звезда 18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3" name="5-конечная звезда 18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4" name="Группа 183"/>
          <p:cNvGrpSpPr/>
          <p:nvPr/>
        </p:nvGrpSpPr>
        <p:grpSpPr>
          <a:xfrm>
            <a:off x="5609444" y="3196288"/>
            <a:ext cx="365246" cy="109788"/>
            <a:chOff x="7472157" y="269324"/>
            <a:chExt cx="365246" cy="148082"/>
          </a:xfrm>
        </p:grpSpPr>
        <p:sp>
          <p:nvSpPr>
            <p:cNvPr id="185" name="5-конечная звезда 18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7" name="Группа 186"/>
          <p:cNvGrpSpPr/>
          <p:nvPr/>
        </p:nvGrpSpPr>
        <p:grpSpPr>
          <a:xfrm>
            <a:off x="5597997" y="5301207"/>
            <a:ext cx="365246" cy="109788"/>
            <a:chOff x="7472157" y="269324"/>
            <a:chExt cx="365246" cy="148082"/>
          </a:xfrm>
        </p:grpSpPr>
        <p:sp>
          <p:nvSpPr>
            <p:cNvPr id="188" name="5-конечная звезда 18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9" name="5-конечная звезда 18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0" name="Группа 189"/>
          <p:cNvGrpSpPr/>
          <p:nvPr/>
        </p:nvGrpSpPr>
        <p:grpSpPr>
          <a:xfrm>
            <a:off x="8362063" y="5763048"/>
            <a:ext cx="365246" cy="109788"/>
            <a:chOff x="7472157" y="269324"/>
            <a:chExt cx="365246" cy="148082"/>
          </a:xfrm>
        </p:grpSpPr>
        <p:sp>
          <p:nvSpPr>
            <p:cNvPr id="191" name="5-конечная звезда 19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3" name="5-конечная звезда 192"/>
          <p:cNvSpPr/>
          <p:nvPr/>
        </p:nvSpPr>
        <p:spPr>
          <a:xfrm>
            <a:off x="5756426" y="208842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4" name="5-конечная звезда 193"/>
          <p:cNvSpPr/>
          <p:nvPr/>
        </p:nvSpPr>
        <p:spPr>
          <a:xfrm>
            <a:off x="5758666" y="361853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5" name="5-конечная звезда 194"/>
          <p:cNvSpPr/>
          <p:nvPr/>
        </p:nvSpPr>
        <p:spPr>
          <a:xfrm>
            <a:off x="5763533" y="399040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6" name="5-конечная звезда 195"/>
          <p:cNvSpPr/>
          <p:nvPr/>
        </p:nvSpPr>
        <p:spPr>
          <a:xfrm>
            <a:off x="5759506" y="436648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7" name="5-конечная звезда 196"/>
          <p:cNvSpPr/>
          <p:nvPr/>
        </p:nvSpPr>
        <p:spPr>
          <a:xfrm>
            <a:off x="5737596" y="576304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62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13276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0360338"/>
              </p:ext>
            </p:extLst>
          </p:nvPr>
        </p:nvGraphicFramePr>
        <p:xfrm>
          <a:off x="0" y="476672"/>
          <a:ext cx="9144000" cy="63813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7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15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82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6335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8324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714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1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акционерного общества «Железнодорожные госпитали медицины катастроф» - «Центральная дорожная больница»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30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г.Астана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ТОО" B.B.NURA" - "Центр амбулаторного диализа"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142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больница №2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96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"Медицинский центр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Мейірім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61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Шуская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72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"Лечебный центр "Брак и семья"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43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"Центр урологии и новых технологий доктора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Жумагалиева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216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МЦ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Өмір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549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"Лечебный центр доктора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Кученева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81617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74" name="Группа 73"/>
          <p:cNvGrpSpPr/>
          <p:nvPr/>
        </p:nvGrpSpPr>
        <p:grpSpPr>
          <a:xfrm>
            <a:off x="8139830" y="2072415"/>
            <a:ext cx="806733" cy="109788"/>
            <a:chOff x="4800372" y="271747"/>
            <a:chExt cx="806733" cy="148083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6" name="Группа 115"/>
          <p:cNvGrpSpPr/>
          <p:nvPr/>
        </p:nvGrpSpPr>
        <p:grpSpPr>
          <a:xfrm>
            <a:off x="7973802" y="2618949"/>
            <a:ext cx="1068903" cy="116437"/>
            <a:chOff x="3405227" y="254701"/>
            <a:chExt cx="1022757" cy="198726"/>
          </a:xfrm>
        </p:grpSpPr>
        <p:sp>
          <p:nvSpPr>
            <p:cNvPr id="117" name="5-конечная звезда 11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/>
          <p:cNvGrpSpPr/>
          <p:nvPr/>
        </p:nvGrpSpPr>
        <p:grpSpPr>
          <a:xfrm>
            <a:off x="7981454" y="3182637"/>
            <a:ext cx="1068903" cy="116437"/>
            <a:chOff x="3405227" y="254701"/>
            <a:chExt cx="1022757" cy="198726"/>
          </a:xfrm>
        </p:grpSpPr>
        <p:sp>
          <p:nvSpPr>
            <p:cNvPr id="123" name="5-конечная звезда 12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7973802" y="3640132"/>
            <a:ext cx="1068903" cy="116437"/>
            <a:chOff x="3405227" y="254701"/>
            <a:chExt cx="1022757" cy="198726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7989106" y="4074041"/>
            <a:ext cx="1068903" cy="116437"/>
            <a:chOff x="3405227" y="254701"/>
            <a:chExt cx="1022757" cy="198726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0" name="Группа 139"/>
          <p:cNvGrpSpPr/>
          <p:nvPr/>
        </p:nvGrpSpPr>
        <p:grpSpPr>
          <a:xfrm>
            <a:off x="7984043" y="4501643"/>
            <a:ext cx="1068903" cy="116437"/>
            <a:chOff x="3405227" y="254701"/>
            <a:chExt cx="1022757" cy="198726"/>
          </a:xfrm>
        </p:grpSpPr>
        <p:sp>
          <p:nvSpPr>
            <p:cNvPr id="141" name="5-конечная звезда 14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6" name="Группа 145"/>
          <p:cNvGrpSpPr/>
          <p:nvPr/>
        </p:nvGrpSpPr>
        <p:grpSpPr>
          <a:xfrm>
            <a:off x="7937397" y="4816771"/>
            <a:ext cx="1068903" cy="116437"/>
            <a:chOff x="3405227" y="254701"/>
            <a:chExt cx="1022757" cy="198726"/>
          </a:xfrm>
        </p:grpSpPr>
        <p:sp>
          <p:nvSpPr>
            <p:cNvPr id="147" name="5-конечная звезда 14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2" name="Группа 151"/>
          <p:cNvGrpSpPr/>
          <p:nvPr/>
        </p:nvGrpSpPr>
        <p:grpSpPr>
          <a:xfrm>
            <a:off x="7973802" y="5294558"/>
            <a:ext cx="1068903" cy="116437"/>
            <a:chOff x="3405227" y="254701"/>
            <a:chExt cx="1022757" cy="198726"/>
          </a:xfrm>
        </p:grpSpPr>
        <p:sp>
          <p:nvSpPr>
            <p:cNvPr id="153" name="5-конечная звезда 15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7976391" y="5769290"/>
            <a:ext cx="1068903" cy="116437"/>
            <a:chOff x="3405227" y="254701"/>
            <a:chExt cx="1022757" cy="198726"/>
          </a:xfrm>
        </p:grpSpPr>
        <p:sp>
          <p:nvSpPr>
            <p:cNvPr id="159" name="5-конечная звезда 15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5-конечная звезда 16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4" name="Группа 163"/>
          <p:cNvGrpSpPr/>
          <p:nvPr/>
        </p:nvGrpSpPr>
        <p:grpSpPr>
          <a:xfrm>
            <a:off x="5616215" y="3182636"/>
            <a:ext cx="365246" cy="109788"/>
            <a:chOff x="7472157" y="269324"/>
            <a:chExt cx="365246" cy="148082"/>
          </a:xfrm>
        </p:grpSpPr>
        <p:sp>
          <p:nvSpPr>
            <p:cNvPr id="165" name="5-конечная звезда 16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8" name="5-конечная звезда 19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9" name="Группа 198"/>
          <p:cNvGrpSpPr/>
          <p:nvPr/>
        </p:nvGrpSpPr>
        <p:grpSpPr>
          <a:xfrm>
            <a:off x="5616215" y="3640131"/>
            <a:ext cx="365246" cy="109788"/>
            <a:chOff x="7472157" y="269324"/>
            <a:chExt cx="365246" cy="148082"/>
          </a:xfrm>
        </p:grpSpPr>
        <p:sp>
          <p:nvSpPr>
            <p:cNvPr id="200" name="5-конечная звезда 19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1" name="5-конечная звезда 20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2" name="Группа 201"/>
          <p:cNvGrpSpPr/>
          <p:nvPr/>
        </p:nvGrpSpPr>
        <p:grpSpPr>
          <a:xfrm>
            <a:off x="5625067" y="5301208"/>
            <a:ext cx="365246" cy="109788"/>
            <a:chOff x="7472157" y="269324"/>
            <a:chExt cx="365246" cy="148082"/>
          </a:xfrm>
        </p:grpSpPr>
        <p:sp>
          <p:nvSpPr>
            <p:cNvPr id="203" name="5-конечная звезда 20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4" name="5-конечная звезда 20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05" name="5-конечная звезда 204"/>
          <p:cNvSpPr/>
          <p:nvPr/>
        </p:nvSpPr>
        <p:spPr>
          <a:xfrm>
            <a:off x="5724861" y="2055571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6" name="5-конечная звезда 205"/>
          <p:cNvSpPr/>
          <p:nvPr/>
        </p:nvSpPr>
        <p:spPr>
          <a:xfrm>
            <a:off x="5724861" y="256738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7" name="5-конечная звезда 206"/>
          <p:cNvSpPr/>
          <p:nvPr/>
        </p:nvSpPr>
        <p:spPr>
          <a:xfrm>
            <a:off x="5724861" y="4150621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8" name="5-конечная звезда 207"/>
          <p:cNvSpPr/>
          <p:nvPr/>
        </p:nvSpPr>
        <p:spPr>
          <a:xfrm>
            <a:off x="5735682" y="448807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9" name="5-конечная звезда 208"/>
          <p:cNvSpPr/>
          <p:nvPr/>
        </p:nvSpPr>
        <p:spPr>
          <a:xfrm>
            <a:off x="5735407" y="482342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0" name="5-конечная звезда 209"/>
          <p:cNvSpPr/>
          <p:nvPr/>
        </p:nvSpPr>
        <p:spPr>
          <a:xfrm>
            <a:off x="5748146" y="573325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80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830827"/>
              </p:ext>
            </p:extLst>
          </p:nvPr>
        </p:nvGraphicFramePr>
        <p:xfrm>
          <a:off x="-1" y="476672"/>
          <a:ext cx="9144001" cy="63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7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153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49076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371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76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"Лечебно-оздоровительный центр "Самал"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160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 акционерного общества " Железнодорожные госпитали  медицины катастроф "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железнодорожная больница 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16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"Медицинский центр "Брак и семья"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31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Денсаулык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695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"Лечебный центр "ЭСКУЛАП"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93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"Медицинский центр доктора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Абдуалиева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370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больница № 1"Управления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87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"Кардиохирургическая клиника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Жүрек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350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Жамбылская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"Научно-клинический центр кардиохирургии и трансплантологии 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350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ЗКО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"Медицинский центр"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780566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72" name="Группа 71"/>
          <p:cNvGrpSpPr/>
          <p:nvPr/>
        </p:nvGrpSpPr>
        <p:grpSpPr>
          <a:xfrm>
            <a:off x="8128442" y="4560325"/>
            <a:ext cx="806733" cy="109788"/>
            <a:chOff x="4800372" y="271747"/>
            <a:chExt cx="806733" cy="148083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8131968" y="4993011"/>
            <a:ext cx="806733" cy="109788"/>
            <a:chOff x="4800372" y="271747"/>
            <a:chExt cx="806733" cy="148083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8085116" y="5353083"/>
            <a:ext cx="806733" cy="109788"/>
            <a:chOff x="4800372" y="271747"/>
            <a:chExt cx="806733" cy="148083"/>
          </a:xfrm>
        </p:grpSpPr>
        <p:sp>
          <p:nvSpPr>
            <p:cNvPr id="84" name="5-конечная звезда 8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5410209" y="5790039"/>
            <a:ext cx="806733" cy="109788"/>
            <a:chOff x="4800372" y="271747"/>
            <a:chExt cx="806733" cy="148083"/>
          </a:xfrm>
        </p:grpSpPr>
        <p:sp>
          <p:nvSpPr>
            <p:cNvPr id="89" name="5-конечная звезда 8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7973802" y="1929070"/>
            <a:ext cx="1068903" cy="116437"/>
            <a:chOff x="3405227" y="254701"/>
            <a:chExt cx="1022757" cy="198726"/>
          </a:xfrm>
        </p:grpSpPr>
        <p:sp>
          <p:nvSpPr>
            <p:cNvPr id="94" name="5-конечная звезда 9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/>
          <p:cNvGrpSpPr/>
          <p:nvPr/>
        </p:nvGrpSpPr>
        <p:grpSpPr>
          <a:xfrm>
            <a:off x="8004410" y="2492777"/>
            <a:ext cx="1068903" cy="116437"/>
            <a:chOff x="3405227" y="254701"/>
            <a:chExt cx="1022757" cy="198726"/>
          </a:xfrm>
        </p:grpSpPr>
        <p:sp>
          <p:nvSpPr>
            <p:cNvPr id="100" name="5-конечная звезда 9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7984990" y="3031829"/>
            <a:ext cx="1068903" cy="116437"/>
            <a:chOff x="3405227" y="254701"/>
            <a:chExt cx="1022757" cy="198726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7981454" y="3393220"/>
            <a:ext cx="1068903" cy="116437"/>
            <a:chOff x="3405227" y="254701"/>
            <a:chExt cx="1022757" cy="198726"/>
          </a:xfrm>
        </p:grpSpPr>
        <p:sp>
          <p:nvSpPr>
            <p:cNvPr id="166" name="5-конечная звезда 16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5-конечная звезда 16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1" name="Группа 170"/>
          <p:cNvGrpSpPr/>
          <p:nvPr/>
        </p:nvGrpSpPr>
        <p:grpSpPr>
          <a:xfrm>
            <a:off x="7985230" y="3766292"/>
            <a:ext cx="1068903" cy="116437"/>
            <a:chOff x="3405227" y="254701"/>
            <a:chExt cx="1022757" cy="198726"/>
          </a:xfrm>
        </p:grpSpPr>
        <p:sp>
          <p:nvSpPr>
            <p:cNvPr id="172" name="5-конечная звезда 17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4" name="5-конечная звезда 17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5" name="5-конечная звезда 17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7" name="Группа 176"/>
          <p:cNvGrpSpPr/>
          <p:nvPr/>
        </p:nvGrpSpPr>
        <p:grpSpPr>
          <a:xfrm>
            <a:off x="7973802" y="4148941"/>
            <a:ext cx="1068903" cy="116437"/>
            <a:chOff x="3405227" y="254701"/>
            <a:chExt cx="1022757" cy="198726"/>
          </a:xfrm>
        </p:grpSpPr>
        <p:sp>
          <p:nvSpPr>
            <p:cNvPr id="178" name="5-конечная звезда 17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9" name="5-конечная звезда 17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0" name="5-конечная звезда 17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3" name="Группа 182"/>
          <p:cNvGrpSpPr/>
          <p:nvPr/>
        </p:nvGrpSpPr>
        <p:grpSpPr>
          <a:xfrm>
            <a:off x="7973802" y="5773778"/>
            <a:ext cx="1068903" cy="116437"/>
            <a:chOff x="3405227" y="254701"/>
            <a:chExt cx="1022757" cy="198726"/>
          </a:xfrm>
        </p:grpSpPr>
        <p:sp>
          <p:nvSpPr>
            <p:cNvPr id="184" name="5-конечная звезда 18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5" name="5-конечная звезда 18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5-конечная звезда 18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9" name="Группа 188"/>
          <p:cNvGrpSpPr/>
          <p:nvPr/>
        </p:nvGrpSpPr>
        <p:grpSpPr>
          <a:xfrm>
            <a:off x="5596010" y="4497703"/>
            <a:ext cx="365246" cy="109788"/>
            <a:chOff x="7472157" y="269324"/>
            <a:chExt cx="365246" cy="148082"/>
          </a:xfrm>
        </p:grpSpPr>
        <p:sp>
          <p:nvSpPr>
            <p:cNvPr id="190" name="5-конечная звезда 18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1" name="5-конечная звезда 19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2" name="Группа 191"/>
          <p:cNvGrpSpPr/>
          <p:nvPr/>
        </p:nvGrpSpPr>
        <p:grpSpPr>
          <a:xfrm>
            <a:off x="5603305" y="5321984"/>
            <a:ext cx="365246" cy="109788"/>
            <a:chOff x="7472157" y="269324"/>
            <a:chExt cx="365246" cy="148082"/>
          </a:xfrm>
        </p:grpSpPr>
        <p:sp>
          <p:nvSpPr>
            <p:cNvPr id="193" name="5-конечная звезда 19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5-конечная звезда 19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5" name="5-конечная звезда 194"/>
          <p:cNvSpPr/>
          <p:nvPr/>
        </p:nvSpPr>
        <p:spPr>
          <a:xfrm>
            <a:off x="5765262" y="188671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6" name="5-конечная звезда 195"/>
          <p:cNvSpPr/>
          <p:nvPr/>
        </p:nvSpPr>
        <p:spPr>
          <a:xfrm>
            <a:off x="5758326" y="2436811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7" name="5-конечная звезда 196"/>
          <p:cNvSpPr/>
          <p:nvPr/>
        </p:nvSpPr>
        <p:spPr>
          <a:xfrm>
            <a:off x="5713920" y="297693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1" name="5-конечная звезда 210"/>
          <p:cNvSpPr/>
          <p:nvPr/>
        </p:nvSpPr>
        <p:spPr>
          <a:xfrm>
            <a:off x="5725607" y="335902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2" name="5-конечная звезда 211"/>
          <p:cNvSpPr/>
          <p:nvPr/>
        </p:nvSpPr>
        <p:spPr>
          <a:xfrm>
            <a:off x="5725607" y="373802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3" name="5-конечная звезда 212"/>
          <p:cNvSpPr/>
          <p:nvPr/>
        </p:nvSpPr>
        <p:spPr>
          <a:xfrm>
            <a:off x="5713920" y="413120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4" name="5-конечная звезда 213"/>
          <p:cNvSpPr/>
          <p:nvPr/>
        </p:nvSpPr>
        <p:spPr>
          <a:xfrm>
            <a:off x="5713920" y="495907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102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3999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8616382"/>
              </p:ext>
            </p:extLst>
          </p:nvPr>
        </p:nvGraphicFramePr>
        <p:xfrm>
          <a:off x="0" y="503892"/>
          <a:ext cx="9144000" cy="6496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82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6335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33333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8261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9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ЗКО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"Городская многопрофильная больница" управления здравоохранения акимата Западно-Казахстанской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241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ЗКО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АО 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Талап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3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"Центральная больница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г.Каражал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943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"Центр микрохирургии </a:t>
                      </a: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глаза«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96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КГКП "Больница поселка Саяк"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22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 "Медицинская фирма "Гиппократ"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71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Журек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18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акционерного общества "Железнодорожные госпитали медицины катастроф" - "Карагандинская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862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"Медицинский центр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Жезказган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8026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КГКП "Центральная больница № 1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г.Сатпаев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Карагандинской области управления здравоохранения Карагандинской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55%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764162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112" name="Группа 111"/>
          <p:cNvGrpSpPr/>
          <p:nvPr/>
        </p:nvGrpSpPr>
        <p:grpSpPr>
          <a:xfrm>
            <a:off x="5399030" y="2335123"/>
            <a:ext cx="806733" cy="109788"/>
            <a:chOff x="4800372" y="271747"/>
            <a:chExt cx="806733" cy="148083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7" name="Группа 116"/>
          <p:cNvGrpSpPr/>
          <p:nvPr/>
        </p:nvGrpSpPr>
        <p:grpSpPr>
          <a:xfrm>
            <a:off x="8121984" y="3956881"/>
            <a:ext cx="806733" cy="109788"/>
            <a:chOff x="4800372" y="271747"/>
            <a:chExt cx="806733" cy="148083"/>
          </a:xfrm>
        </p:grpSpPr>
        <p:sp>
          <p:nvSpPr>
            <p:cNvPr id="118" name="5-конечная звезда 11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2" name="Группа 121"/>
          <p:cNvGrpSpPr/>
          <p:nvPr/>
        </p:nvGrpSpPr>
        <p:grpSpPr>
          <a:xfrm>
            <a:off x="8137595" y="4708032"/>
            <a:ext cx="806733" cy="109788"/>
            <a:chOff x="4800372" y="271747"/>
            <a:chExt cx="806733" cy="148083"/>
          </a:xfrm>
        </p:grpSpPr>
        <p:sp>
          <p:nvSpPr>
            <p:cNvPr id="123" name="5-конечная звезда 12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7" name="Группа 126"/>
          <p:cNvGrpSpPr/>
          <p:nvPr/>
        </p:nvGrpSpPr>
        <p:grpSpPr>
          <a:xfrm>
            <a:off x="8159491" y="5733255"/>
            <a:ext cx="806733" cy="109788"/>
            <a:chOff x="4800372" y="271747"/>
            <a:chExt cx="806733" cy="148083"/>
          </a:xfrm>
        </p:grpSpPr>
        <p:sp>
          <p:nvSpPr>
            <p:cNvPr id="128" name="5-конечная звезда 12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2" name="Группа 131"/>
          <p:cNvGrpSpPr/>
          <p:nvPr/>
        </p:nvGrpSpPr>
        <p:grpSpPr>
          <a:xfrm>
            <a:off x="7983258" y="2363021"/>
            <a:ext cx="1068903" cy="116437"/>
            <a:chOff x="3405227" y="254701"/>
            <a:chExt cx="1022757" cy="198726"/>
          </a:xfrm>
        </p:grpSpPr>
        <p:sp>
          <p:nvSpPr>
            <p:cNvPr id="133" name="5-конечная звезда 13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8" name="Группа 137"/>
          <p:cNvGrpSpPr/>
          <p:nvPr/>
        </p:nvGrpSpPr>
        <p:grpSpPr>
          <a:xfrm>
            <a:off x="7968536" y="2783842"/>
            <a:ext cx="1068903" cy="116437"/>
            <a:chOff x="3405227" y="254701"/>
            <a:chExt cx="1022757" cy="198726"/>
          </a:xfrm>
        </p:grpSpPr>
        <p:sp>
          <p:nvSpPr>
            <p:cNvPr id="139" name="5-конечная звезда 13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4" name="Группа 143"/>
          <p:cNvGrpSpPr/>
          <p:nvPr/>
        </p:nvGrpSpPr>
        <p:grpSpPr>
          <a:xfrm>
            <a:off x="7955956" y="3206692"/>
            <a:ext cx="1068903" cy="116437"/>
            <a:chOff x="3405227" y="254701"/>
            <a:chExt cx="1022757" cy="198726"/>
          </a:xfrm>
        </p:grpSpPr>
        <p:sp>
          <p:nvSpPr>
            <p:cNvPr id="145" name="5-конечная звезда 14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0" name="Группа 149"/>
          <p:cNvGrpSpPr/>
          <p:nvPr/>
        </p:nvGrpSpPr>
        <p:grpSpPr>
          <a:xfrm>
            <a:off x="7993463" y="3605352"/>
            <a:ext cx="1068903" cy="116437"/>
            <a:chOff x="3405227" y="254701"/>
            <a:chExt cx="1022757" cy="198726"/>
          </a:xfrm>
        </p:grpSpPr>
        <p:sp>
          <p:nvSpPr>
            <p:cNvPr id="151" name="5-конечная звезда 15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6" name="Группа 155"/>
          <p:cNvGrpSpPr/>
          <p:nvPr/>
        </p:nvGrpSpPr>
        <p:grpSpPr>
          <a:xfrm>
            <a:off x="7990910" y="4250695"/>
            <a:ext cx="1068903" cy="116437"/>
            <a:chOff x="3405227" y="254701"/>
            <a:chExt cx="1022757" cy="198726"/>
          </a:xfrm>
        </p:grpSpPr>
        <p:sp>
          <p:nvSpPr>
            <p:cNvPr id="157" name="5-конечная звезда 15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8" name="5-конечная звезда 15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1" name="5-конечная звезда 16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2" name="Группа 161"/>
          <p:cNvGrpSpPr/>
          <p:nvPr/>
        </p:nvGrpSpPr>
        <p:grpSpPr>
          <a:xfrm>
            <a:off x="7973829" y="5210136"/>
            <a:ext cx="1068903" cy="116437"/>
            <a:chOff x="3405227" y="254701"/>
            <a:chExt cx="1022757" cy="198726"/>
          </a:xfrm>
        </p:grpSpPr>
        <p:sp>
          <p:nvSpPr>
            <p:cNvPr id="163" name="5-конечная звезда 16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5-конечная звезда 16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8" name="5-конечная звезда 19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5-конечная звезда 19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0" name="Группа 199"/>
          <p:cNvGrpSpPr/>
          <p:nvPr/>
        </p:nvGrpSpPr>
        <p:grpSpPr>
          <a:xfrm>
            <a:off x="5551430" y="1909866"/>
            <a:ext cx="582325" cy="109788"/>
            <a:chOff x="6236568" y="276066"/>
            <a:chExt cx="582325" cy="148083"/>
          </a:xfrm>
        </p:grpSpPr>
        <p:sp>
          <p:nvSpPr>
            <p:cNvPr id="201" name="5-конечная звезда 20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2" name="5-конечная звезда 20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3" name="5-конечная звезда 20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4" name="Группа 203"/>
          <p:cNvGrpSpPr/>
          <p:nvPr/>
        </p:nvGrpSpPr>
        <p:grpSpPr>
          <a:xfrm>
            <a:off x="5527846" y="2790491"/>
            <a:ext cx="582325" cy="109788"/>
            <a:chOff x="6236568" y="276066"/>
            <a:chExt cx="582325" cy="148083"/>
          </a:xfrm>
        </p:grpSpPr>
        <p:sp>
          <p:nvSpPr>
            <p:cNvPr id="205" name="5-конечная звезда 20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6" name="5-конечная звезда 20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5-конечная звезда 20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8" name="Группа 207"/>
          <p:cNvGrpSpPr/>
          <p:nvPr/>
        </p:nvGrpSpPr>
        <p:grpSpPr>
          <a:xfrm>
            <a:off x="5511234" y="3210018"/>
            <a:ext cx="582325" cy="109788"/>
            <a:chOff x="6236568" y="276066"/>
            <a:chExt cx="582325" cy="148083"/>
          </a:xfrm>
        </p:grpSpPr>
        <p:sp>
          <p:nvSpPr>
            <p:cNvPr id="209" name="5-конечная звезда 20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0" name="5-конечная звезда 20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5" name="5-конечная звезда 21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6" name="Группа 215"/>
          <p:cNvGrpSpPr/>
          <p:nvPr/>
        </p:nvGrpSpPr>
        <p:grpSpPr>
          <a:xfrm>
            <a:off x="5530976" y="3612002"/>
            <a:ext cx="582325" cy="109788"/>
            <a:chOff x="6236568" y="276066"/>
            <a:chExt cx="582325" cy="148083"/>
          </a:xfrm>
        </p:grpSpPr>
        <p:sp>
          <p:nvSpPr>
            <p:cNvPr id="217" name="5-конечная звезда 21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8" name="5-конечная звезда 21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9" name="5-конечная звезда 21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0" name="Группа 219"/>
          <p:cNvGrpSpPr/>
          <p:nvPr/>
        </p:nvGrpSpPr>
        <p:grpSpPr>
          <a:xfrm>
            <a:off x="5536934" y="3956882"/>
            <a:ext cx="582325" cy="109788"/>
            <a:chOff x="6236568" y="276066"/>
            <a:chExt cx="582325" cy="148083"/>
          </a:xfrm>
        </p:grpSpPr>
        <p:sp>
          <p:nvSpPr>
            <p:cNvPr id="221" name="5-конечная звезда 22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2" name="5-конечная звезда 22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3" name="5-конечная звезда 22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4" name="Группа 223"/>
          <p:cNvGrpSpPr/>
          <p:nvPr/>
        </p:nvGrpSpPr>
        <p:grpSpPr>
          <a:xfrm>
            <a:off x="5524716" y="4254020"/>
            <a:ext cx="582325" cy="109788"/>
            <a:chOff x="6236568" y="276066"/>
            <a:chExt cx="582325" cy="148083"/>
          </a:xfrm>
        </p:grpSpPr>
        <p:sp>
          <p:nvSpPr>
            <p:cNvPr id="225" name="5-конечная звезда 22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6" name="5-конечная звезда 22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7" name="5-конечная звезда 22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8" name="Группа 227"/>
          <p:cNvGrpSpPr/>
          <p:nvPr/>
        </p:nvGrpSpPr>
        <p:grpSpPr>
          <a:xfrm>
            <a:off x="5514364" y="4762925"/>
            <a:ext cx="582325" cy="109788"/>
            <a:chOff x="6236568" y="276066"/>
            <a:chExt cx="582325" cy="148083"/>
          </a:xfrm>
        </p:grpSpPr>
        <p:sp>
          <p:nvSpPr>
            <p:cNvPr id="229" name="5-конечная звезда 22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0" name="5-конечная звезда 22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1" name="5-конечная звезда 23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2" name="Группа 231"/>
          <p:cNvGrpSpPr/>
          <p:nvPr/>
        </p:nvGrpSpPr>
        <p:grpSpPr>
          <a:xfrm>
            <a:off x="5523950" y="5210135"/>
            <a:ext cx="582325" cy="109788"/>
            <a:chOff x="6236568" y="276066"/>
            <a:chExt cx="582325" cy="148083"/>
          </a:xfrm>
        </p:grpSpPr>
        <p:sp>
          <p:nvSpPr>
            <p:cNvPr id="233" name="5-конечная звезда 23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4" name="5-конечная звезда 23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5" name="5-конечная звезда 23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6" name="Группа 235"/>
          <p:cNvGrpSpPr/>
          <p:nvPr/>
        </p:nvGrpSpPr>
        <p:grpSpPr>
          <a:xfrm>
            <a:off x="5540064" y="5768976"/>
            <a:ext cx="582325" cy="109788"/>
            <a:chOff x="6236568" y="276066"/>
            <a:chExt cx="582325" cy="148083"/>
          </a:xfrm>
        </p:grpSpPr>
        <p:sp>
          <p:nvSpPr>
            <p:cNvPr id="237" name="5-конечная звезда 23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8" name="5-конечная звезда 23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9" name="5-конечная звезда 23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40" name="Группа 239"/>
          <p:cNvGrpSpPr/>
          <p:nvPr/>
        </p:nvGrpSpPr>
        <p:grpSpPr>
          <a:xfrm>
            <a:off x="8246669" y="1965710"/>
            <a:ext cx="582325" cy="109788"/>
            <a:chOff x="6236568" y="276066"/>
            <a:chExt cx="582325" cy="148083"/>
          </a:xfrm>
        </p:grpSpPr>
        <p:sp>
          <p:nvSpPr>
            <p:cNvPr id="241" name="5-конечная звезда 24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2" name="5-конечная звезда 24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3" name="5-конечная звезда 24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2376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9848" y="0"/>
            <a:ext cx="9153847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445748"/>
              </p:ext>
            </p:extLst>
          </p:nvPr>
        </p:nvGraphicFramePr>
        <p:xfrm>
          <a:off x="30774" y="515245"/>
          <a:ext cx="9113226" cy="6324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8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898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850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8810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74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1871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116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457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73309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3017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94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"Медицинская фирма "Мерей"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86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"Клиника профессора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С.В.Лохвицкого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"Центральная больница города Абая"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"Центральная больница города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Жезказган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"Центральная больница города Приозерск" 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"Центральная больница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г.Балхаш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86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"Центральная больница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г.Шахтинск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Карагандинской области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529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"Городская больница №1 г. Караганды" управления здравоохранения Карагандинской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81%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77%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803717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grpSp>
        <p:nvGrpSpPr>
          <p:cNvPr id="100" name="Группа 99"/>
          <p:cNvGrpSpPr/>
          <p:nvPr/>
        </p:nvGrpSpPr>
        <p:grpSpPr>
          <a:xfrm>
            <a:off x="5382121" y="2815156"/>
            <a:ext cx="806733" cy="109788"/>
            <a:chOff x="4800372" y="271747"/>
            <a:chExt cx="806733" cy="148083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8139204" y="2815157"/>
            <a:ext cx="806733" cy="109788"/>
            <a:chOff x="4800372" y="271747"/>
            <a:chExt cx="806733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0" name="Группа 109"/>
          <p:cNvGrpSpPr/>
          <p:nvPr/>
        </p:nvGrpSpPr>
        <p:grpSpPr>
          <a:xfrm>
            <a:off x="8111347" y="3387516"/>
            <a:ext cx="806733" cy="109788"/>
            <a:chOff x="4800372" y="271747"/>
            <a:chExt cx="806733" cy="148083"/>
          </a:xfrm>
        </p:grpSpPr>
        <p:sp>
          <p:nvSpPr>
            <p:cNvPr id="111" name="5-конечная звезда 11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5382121" y="3387517"/>
            <a:ext cx="806733" cy="109788"/>
            <a:chOff x="4800372" y="271747"/>
            <a:chExt cx="806733" cy="148083"/>
          </a:xfrm>
        </p:grpSpPr>
        <p:sp>
          <p:nvSpPr>
            <p:cNvPr id="170" name="5-конечная звезда 16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4" name="Группа 173"/>
          <p:cNvGrpSpPr/>
          <p:nvPr/>
        </p:nvGrpSpPr>
        <p:grpSpPr>
          <a:xfrm>
            <a:off x="8139204" y="3919728"/>
            <a:ext cx="806733" cy="109788"/>
            <a:chOff x="4800372" y="271747"/>
            <a:chExt cx="806733" cy="148083"/>
          </a:xfrm>
        </p:grpSpPr>
        <p:sp>
          <p:nvSpPr>
            <p:cNvPr id="175" name="5-конечная звезда 17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9" name="Группа 178"/>
          <p:cNvGrpSpPr/>
          <p:nvPr/>
        </p:nvGrpSpPr>
        <p:grpSpPr>
          <a:xfrm>
            <a:off x="8154718" y="4581127"/>
            <a:ext cx="806733" cy="109788"/>
            <a:chOff x="4800372" y="271747"/>
            <a:chExt cx="806733" cy="148083"/>
          </a:xfrm>
        </p:grpSpPr>
        <p:sp>
          <p:nvSpPr>
            <p:cNvPr id="180" name="5-конечная звезда 1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3" name="5-конечная звезда 1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4" name="Группа 183"/>
          <p:cNvGrpSpPr/>
          <p:nvPr/>
        </p:nvGrpSpPr>
        <p:grpSpPr>
          <a:xfrm>
            <a:off x="8154718" y="5124463"/>
            <a:ext cx="806733" cy="109788"/>
            <a:chOff x="4800372" y="271747"/>
            <a:chExt cx="806733" cy="148083"/>
          </a:xfrm>
        </p:grpSpPr>
        <p:sp>
          <p:nvSpPr>
            <p:cNvPr id="185" name="5-конечная звезда 18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5-конечная звезда 18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9" name="Группа 188"/>
          <p:cNvGrpSpPr/>
          <p:nvPr/>
        </p:nvGrpSpPr>
        <p:grpSpPr>
          <a:xfrm>
            <a:off x="8181617" y="5788149"/>
            <a:ext cx="806733" cy="109788"/>
            <a:chOff x="4800372" y="271747"/>
            <a:chExt cx="806733" cy="148083"/>
          </a:xfrm>
        </p:grpSpPr>
        <p:sp>
          <p:nvSpPr>
            <p:cNvPr id="190" name="5-конечная звезда 18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1" name="5-конечная звезда 19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5-конечная звезда 19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4" name="Группа 193"/>
          <p:cNvGrpSpPr/>
          <p:nvPr/>
        </p:nvGrpSpPr>
        <p:grpSpPr>
          <a:xfrm>
            <a:off x="5393788" y="5733256"/>
            <a:ext cx="806733" cy="109788"/>
            <a:chOff x="4800372" y="271747"/>
            <a:chExt cx="806733" cy="148083"/>
          </a:xfrm>
        </p:grpSpPr>
        <p:sp>
          <p:nvSpPr>
            <p:cNvPr id="195" name="5-конечная звезда 19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5-конечная звезда 19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7" name="5-конечная звезда 19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1" name="5-конечная звезда 21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2" name="Группа 211"/>
          <p:cNvGrpSpPr/>
          <p:nvPr/>
        </p:nvGrpSpPr>
        <p:grpSpPr>
          <a:xfrm>
            <a:off x="7988690" y="1944472"/>
            <a:ext cx="1068903" cy="116437"/>
            <a:chOff x="3405227" y="254701"/>
            <a:chExt cx="1022757" cy="198726"/>
          </a:xfrm>
        </p:grpSpPr>
        <p:sp>
          <p:nvSpPr>
            <p:cNvPr id="213" name="5-конечная звезда 21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4" name="5-конечная звезда 21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4" name="5-конечная звезда 24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5" name="5-конечная звезда 24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6" name="5-конечная звезда 24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47" name="Группа 246"/>
          <p:cNvGrpSpPr/>
          <p:nvPr/>
        </p:nvGrpSpPr>
        <p:grpSpPr>
          <a:xfrm>
            <a:off x="7973176" y="2371563"/>
            <a:ext cx="1068903" cy="116437"/>
            <a:chOff x="3405227" y="254701"/>
            <a:chExt cx="1022757" cy="198726"/>
          </a:xfrm>
        </p:grpSpPr>
        <p:sp>
          <p:nvSpPr>
            <p:cNvPr id="248" name="5-конечная звезда 24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9" name="5-конечная звезда 24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0" name="5-конечная звезда 24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1" name="5-конечная звезда 25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2" name="5-конечная звезда 25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3" name="Группа 252"/>
          <p:cNvGrpSpPr/>
          <p:nvPr/>
        </p:nvGrpSpPr>
        <p:grpSpPr>
          <a:xfrm>
            <a:off x="5514375" y="2316669"/>
            <a:ext cx="582325" cy="109788"/>
            <a:chOff x="6236568" y="276066"/>
            <a:chExt cx="582325" cy="148083"/>
          </a:xfrm>
        </p:grpSpPr>
        <p:sp>
          <p:nvSpPr>
            <p:cNvPr id="254" name="5-конечная звезда 2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5" name="5-конечная звезда 2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6" name="5-конечная звезда 2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7" name="Группа 256"/>
          <p:cNvGrpSpPr/>
          <p:nvPr/>
        </p:nvGrpSpPr>
        <p:grpSpPr>
          <a:xfrm>
            <a:off x="5494325" y="3919729"/>
            <a:ext cx="582325" cy="109788"/>
            <a:chOff x="6236568" y="276066"/>
            <a:chExt cx="582325" cy="148083"/>
          </a:xfrm>
        </p:grpSpPr>
        <p:sp>
          <p:nvSpPr>
            <p:cNvPr id="258" name="5-конечная звезда 25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9" name="5-конечная звезда 25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0" name="5-конечная звезда 25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61" name="Группа 260"/>
          <p:cNvGrpSpPr/>
          <p:nvPr/>
        </p:nvGrpSpPr>
        <p:grpSpPr>
          <a:xfrm>
            <a:off x="5497455" y="4471339"/>
            <a:ext cx="582325" cy="109788"/>
            <a:chOff x="6236568" y="276066"/>
            <a:chExt cx="582325" cy="148083"/>
          </a:xfrm>
        </p:grpSpPr>
        <p:sp>
          <p:nvSpPr>
            <p:cNvPr id="262" name="5-конечная звезда 26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3" name="5-конечная звезда 26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4" name="5-конечная звезда 26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65" name="Группа 264"/>
          <p:cNvGrpSpPr/>
          <p:nvPr/>
        </p:nvGrpSpPr>
        <p:grpSpPr>
          <a:xfrm>
            <a:off x="5492252" y="5023673"/>
            <a:ext cx="582325" cy="109788"/>
            <a:chOff x="6236568" y="276066"/>
            <a:chExt cx="582325" cy="148083"/>
          </a:xfrm>
        </p:grpSpPr>
        <p:sp>
          <p:nvSpPr>
            <p:cNvPr id="266" name="5-конечная звезда 26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7" name="5-конечная звезда 26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8" name="5-конечная звезда 26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9" name="5-конечная звезда 268"/>
          <p:cNvSpPr/>
          <p:nvPr/>
        </p:nvSpPr>
        <p:spPr>
          <a:xfrm>
            <a:off x="5713480" y="194351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35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1483693"/>
              </p:ext>
            </p:extLst>
          </p:nvPr>
        </p:nvGraphicFramePr>
        <p:xfrm>
          <a:off x="-1" y="484680"/>
          <a:ext cx="9144001" cy="6373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64139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5151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81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"Центральная больница города Темиртау"  управления здравоохранения Карагандинской области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81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"Центральная больница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г.Сарани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57%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19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"Медицинский центр "МИРАС"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61%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41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акционерного общества "Железнодорожные госпитали медицины катастроф"-"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61%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436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Костанайский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хирургический центр"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51%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478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ГККП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Качарская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46%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79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Аксим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плюс"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61%</a:t>
                      </a:r>
                      <a:endParaRPr lang="ru-RU" sz="1100" b="1" i="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281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больница" Управления здравоохранения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67%</a:t>
                      </a:r>
                      <a:endParaRPr lang="ru-RU" sz="1100" b="1" i="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75%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478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Рудненская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больница" Управления здравоохранения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kern="12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00" kern="12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i="0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i="0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72%</a:t>
                      </a:r>
                      <a:endParaRPr lang="ru-RU" sz="11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796264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78" name="Группа 77"/>
          <p:cNvGrpSpPr/>
          <p:nvPr/>
        </p:nvGrpSpPr>
        <p:grpSpPr>
          <a:xfrm>
            <a:off x="5381315" y="1990869"/>
            <a:ext cx="806733" cy="109788"/>
            <a:chOff x="4800372" y="271747"/>
            <a:chExt cx="806733" cy="148083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8173240" y="2528787"/>
            <a:ext cx="806733" cy="109788"/>
            <a:chOff x="4800372" y="271747"/>
            <a:chExt cx="806733" cy="148083"/>
          </a:xfrm>
        </p:grpSpPr>
        <p:sp>
          <p:nvSpPr>
            <p:cNvPr id="84" name="5-конечная звезда 8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5385752" y="5715192"/>
            <a:ext cx="806733" cy="109788"/>
            <a:chOff x="4800372" y="271747"/>
            <a:chExt cx="806733" cy="148083"/>
          </a:xfrm>
        </p:grpSpPr>
        <p:sp>
          <p:nvSpPr>
            <p:cNvPr id="89" name="5-конечная звезда 8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8140260" y="5704174"/>
            <a:ext cx="806733" cy="109788"/>
            <a:chOff x="4800372" y="271747"/>
            <a:chExt cx="806733" cy="148083"/>
          </a:xfrm>
        </p:grpSpPr>
        <p:sp>
          <p:nvSpPr>
            <p:cNvPr id="94" name="5-конечная звезда 9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8" name="Группа 97"/>
          <p:cNvGrpSpPr/>
          <p:nvPr/>
        </p:nvGrpSpPr>
        <p:grpSpPr>
          <a:xfrm>
            <a:off x="8154648" y="5154472"/>
            <a:ext cx="806733" cy="109788"/>
            <a:chOff x="4800372" y="271747"/>
            <a:chExt cx="806733" cy="148083"/>
          </a:xfrm>
        </p:grpSpPr>
        <p:sp>
          <p:nvSpPr>
            <p:cNvPr id="99" name="5-конечная звезда 9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5" name="Группа 114"/>
          <p:cNvGrpSpPr/>
          <p:nvPr/>
        </p:nvGrpSpPr>
        <p:grpSpPr>
          <a:xfrm>
            <a:off x="7976783" y="2858828"/>
            <a:ext cx="1068903" cy="116437"/>
            <a:chOff x="3405227" y="254701"/>
            <a:chExt cx="1022757" cy="198726"/>
          </a:xfrm>
        </p:grpSpPr>
        <p:sp>
          <p:nvSpPr>
            <p:cNvPr id="116" name="5-конечная звезда 11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1" name="Группа 120"/>
          <p:cNvGrpSpPr/>
          <p:nvPr/>
        </p:nvGrpSpPr>
        <p:grpSpPr>
          <a:xfrm>
            <a:off x="7986080" y="3344325"/>
            <a:ext cx="1068903" cy="116437"/>
            <a:chOff x="3405227" y="254701"/>
            <a:chExt cx="1022757" cy="198726"/>
          </a:xfrm>
        </p:grpSpPr>
        <p:sp>
          <p:nvSpPr>
            <p:cNvPr id="122" name="5-конечная звезда 12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4" name="5-конечная звезда 12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7" name="Группа 126"/>
          <p:cNvGrpSpPr/>
          <p:nvPr/>
        </p:nvGrpSpPr>
        <p:grpSpPr>
          <a:xfrm>
            <a:off x="7975834" y="3883978"/>
            <a:ext cx="1068903" cy="116437"/>
            <a:chOff x="3405227" y="254701"/>
            <a:chExt cx="1022757" cy="198726"/>
          </a:xfrm>
        </p:grpSpPr>
        <p:sp>
          <p:nvSpPr>
            <p:cNvPr id="128" name="5-конечная звезда 12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9" name="5-конечная звезда 12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3" name="Группа 132"/>
          <p:cNvGrpSpPr/>
          <p:nvPr/>
        </p:nvGrpSpPr>
        <p:grpSpPr>
          <a:xfrm>
            <a:off x="7960083" y="4313034"/>
            <a:ext cx="1068903" cy="116437"/>
            <a:chOff x="3405227" y="254701"/>
            <a:chExt cx="1022757" cy="198726"/>
          </a:xfrm>
        </p:grpSpPr>
        <p:sp>
          <p:nvSpPr>
            <p:cNvPr id="134" name="5-конечная звезда 13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9" name="Группа 138"/>
          <p:cNvGrpSpPr/>
          <p:nvPr/>
        </p:nvGrpSpPr>
        <p:grpSpPr>
          <a:xfrm>
            <a:off x="7976783" y="4776996"/>
            <a:ext cx="1068903" cy="116437"/>
            <a:chOff x="3405227" y="254701"/>
            <a:chExt cx="1022757" cy="198726"/>
          </a:xfrm>
        </p:grpSpPr>
        <p:sp>
          <p:nvSpPr>
            <p:cNvPr id="140" name="5-конечная звезда 13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2" name="5-конечная звезда 14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5480205" y="2473895"/>
            <a:ext cx="582325" cy="109788"/>
            <a:chOff x="6236568" y="276066"/>
            <a:chExt cx="582325" cy="148083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5-конечная звезда 147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9" name="Группа 148"/>
          <p:cNvGrpSpPr/>
          <p:nvPr/>
        </p:nvGrpSpPr>
        <p:grpSpPr>
          <a:xfrm>
            <a:off x="8272250" y="2012998"/>
            <a:ext cx="582325" cy="109788"/>
            <a:chOff x="6236568" y="276066"/>
            <a:chExt cx="582325" cy="148083"/>
          </a:xfrm>
        </p:grpSpPr>
        <p:sp>
          <p:nvSpPr>
            <p:cNvPr id="150" name="5-конечная звезда 14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5-конечная звезда 15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5-конечная звезда 15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3" name="Группа 152"/>
          <p:cNvGrpSpPr/>
          <p:nvPr/>
        </p:nvGrpSpPr>
        <p:grpSpPr>
          <a:xfrm>
            <a:off x="5484129" y="2865477"/>
            <a:ext cx="582325" cy="109788"/>
            <a:chOff x="6236568" y="276066"/>
            <a:chExt cx="582325" cy="148083"/>
          </a:xfrm>
        </p:grpSpPr>
        <p:sp>
          <p:nvSpPr>
            <p:cNvPr id="154" name="5-конечная звезда 153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5-конечная звезда 154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7" name="Группа 156"/>
          <p:cNvGrpSpPr/>
          <p:nvPr/>
        </p:nvGrpSpPr>
        <p:grpSpPr>
          <a:xfrm>
            <a:off x="5480205" y="3375004"/>
            <a:ext cx="582325" cy="109788"/>
            <a:chOff x="6236568" y="276066"/>
            <a:chExt cx="582325" cy="148083"/>
          </a:xfrm>
        </p:grpSpPr>
        <p:sp>
          <p:nvSpPr>
            <p:cNvPr id="158" name="5-конечная звезда 15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1" name="Группа 160"/>
          <p:cNvGrpSpPr/>
          <p:nvPr/>
        </p:nvGrpSpPr>
        <p:grpSpPr>
          <a:xfrm>
            <a:off x="5493519" y="3885360"/>
            <a:ext cx="582325" cy="109788"/>
            <a:chOff x="6236568" y="276066"/>
            <a:chExt cx="582325" cy="148083"/>
          </a:xfrm>
        </p:grpSpPr>
        <p:sp>
          <p:nvSpPr>
            <p:cNvPr id="162" name="5-конечная звезда 16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5-конечная звезда 16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5" name="Группа 164"/>
          <p:cNvGrpSpPr/>
          <p:nvPr/>
        </p:nvGrpSpPr>
        <p:grpSpPr>
          <a:xfrm>
            <a:off x="5490389" y="4766832"/>
            <a:ext cx="582325" cy="109788"/>
            <a:chOff x="6236568" y="276066"/>
            <a:chExt cx="582325" cy="148083"/>
          </a:xfrm>
        </p:grpSpPr>
        <p:sp>
          <p:nvSpPr>
            <p:cNvPr id="198" name="5-конечная звезда 19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5-конечная звезда 19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0" name="5-конечная звезда 19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1" name="Группа 200"/>
          <p:cNvGrpSpPr/>
          <p:nvPr/>
        </p:nvGrpSpPr>
        <p:grpSpPr>
          <a:xfrm>
            <a:off x="5487259" y="5187154"/>
            <a:ext cx="582325" cy="109788"/>
            <a:chOff x="6236568" y="276066"/>
            <a:chExt cx="582325" cy="148083"/>
          </a:xfrm>
        </p:grpSpPr>
        <p:sp>
          <p:nvSpPr>
            <p:cNvPr id="202" name="5-конечная звезда 20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3" name="5-конечная звезда 20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4" name="5-конечная звезда 20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5" name="Группа 204"/>
          <p:cNvGrpSpPr/>
          <p:nvPr/>
        </p:nvGrpSpPr>
        <p:grpSpPr>
          <a:xfrm>
            <a:off x="5614773" y="4361903"/>
            <a:ext cx="365246" cy="109788"/>
            <a:chOff x="7472157" y="269324"/>
            <a:chExt cx="365246" cy="148082"/>
          </a:xfrm>
        </p:grpSpPr>
        <p:sp>
          <p:nvSpPr>
            <p:cNvPr id="206" name="5-конечная звезда 20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5-конечная звезда 20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8446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8806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4966481"/>
              </p:ext>
            </p:extLst>
          </p:nvPr>
        </p:nvGraphicFramePr>
        <p:xfrm>
          <a:off x="0" y="476672"/>
          <a:ext cx="9144001" cy="6381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85667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9383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29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"Аркалыкская региональная больница" Управления здравоохранения акимата Костанайской области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29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Лисаковская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Костанайской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693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Кызылординская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Жуас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14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Кызылординская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АО "Железнодорожные госпитали медицины катастроф"-"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Кызылординская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429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Кызылординская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Кызылординская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Кызылординской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247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518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Кызылординская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Medium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269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Мангистауская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Медцентр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"Аманат"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23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Мангистауская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"Нейрон"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72398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Мангистауская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Жанаозенская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центральная городская больница" Управления здравоохранения 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Мангистауской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Мангистауской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818698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100" name="Группа 99"/>
          <p:cNvGrpSpPr/>
          <p:nvPr/>
        </p:nvGrpSpPr>
        <p:grpSpPr>
          <a:xfrm>
            <a:off x="8129747" y="2020747"/>
            <a:ext cx="806733" cy="109788"/>
            <a:chOff x="4800372" y="271747"/>
            <a:chExt cx="806733" cy="148083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8129747" y="2551947"/>
            <a:ext cx="806733" cy="109788"/>
            <a:chOff x="4800372" y="271747"/>
            <a:chExt cx="806733" cy="148083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0" name="Группа 109"/>
          <p:cNvGrpSpPr/>
          <p:nvPr/>
        </p:nvGrpSpPr>
        <p:grpSpPr>
          <a:xfrm>
            <a:off x="8149385" y="3439416"/>
            <a:ext cx="806733" cy="109788"/>
            <a:chOff x="4800372" y="271747"/>
            <a:chExt cx="806733" cy="148083"/>
          </a:xfrm>
        </p:grpSpPr>
        <p:sp>
          <p:nvSpPr>
            <p:cNvPr id="111" name="5-конечная звезда 11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6" name="5-конечная звезда 16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9" name="Группа 168"/>
          <p:cNvGrpSpPr/>
          <p:nvPr/>
        </p:nvGrpSpPr>
        <p:grpSpPr>
          <a:xfrm>
            <a:off x="8132387" y="3996294"/>
            <a:ext cx="806733" cy="109788"/>
            <a:chOff x="4800372" y="271747"/>
            <a:chExt cx="806733" cy="148083"/>
          </a:xfrm>
        </p:grpSpPr>
        <p:sp>
          <p:nvSpPr>
            <p:cNvPr id="170" name="5-конечная звезда 16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2" name="5-конечная звезда 17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4" name="Группа 173"/>
          <p:cNvGrpSpPr/>
          <p:nvPr/>
        </p:nvGrpSpPr>
        <p:grpSpPr>
          <a:xfrm>
            <a:off x="8122458" y="4451381"/>
            <a:ext cx="806733" cy="109788"/>
            <a:chOff x="4800372" y="271747"/>
            <a:chExt cx="806733" cy="148083"/>
          </a:xfrm>
        </p:grpSpPr>
        <p:sp>
          <p:nvSpPr>
            <p:cNvPr id="175" name="5-конечная звезда 174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8" name="5-конечная звезда 177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9" name="Группа 178"/>
          <p:cNvGrpSpPr/>
          <p:nvPr/>
        </p:nvGrpSpPr>
        <p:grpSpPr>
          <a:xfrm>
            <a:off x="8150837" y="4749078"/>
            <a:ext cx="806733" cy="109788"/>
            <a:chOff x="4800372" y="271747"/>
            <a:chExt cx="806733" cy="148083"/>
          </a:xfrm>
        </p:grpSpPr>
        <p:sp>
          <p:nvSpPr>
            <p:cNvPr id="180" name="5-конечная звезда 17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3" name="5-конечная звезда 18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4" name="Группа 183"/>
          <p:cNvGrpSpPr/>
          <p:nvPr/>
        </p:nvGrpSpPr>
        <p:grpSpPr>
          <a:xfrm>
            <a:off x="7993440" y="5069869"/>
            <a:ext cx="1068903" cy="116437"/>
            <a:chOff x="3405227" y="254701"/>
            <a:chExt cx="1022757" cy="198726"/>
          </a:xfrm>
        </p:grpSpPr>
        <p:sp>
          <p:nvSpPr>
            <p:cNvPr id="185" name="5-конечная звезда 18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5-конечная звезда 18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9" name="5-конечная звезда 18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0" name="Группа 189"/>
          <p:cNvGrpSpPr/>
          <p:nvPr/>
        </p:nvGrpSpPr>
        <p:grpSpPr>
          <a:xfrm>
            <a:off x="7986396" y="5580455"/>
            <a:ext cx="1068903" cy="116437"/>
            <a:chOff x="3405227" y="254701"/>
            <a:chExt cx="1022757" cy="198726"/>
          </a:xfrm>
        </p:grpSpPr>
        <p:sp>
          <p:nvSpPr>
            <p:cNvPr id="191" name="5-конечная звезда 1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5-конечная звезда 1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5-конечная звезда 19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5-конечная звезда 19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6" name="Группа 195"/>
          <p:cNvGrpSpPr/>
          <p:nvPr/>
        </p:nvGrpSpPr>
        <p:grpSpPr>
          <a:xfrm>
            <a:off x="7956430" y="2925562"/>
            <a:ext cx="1068903" cy="116437"/>
            <a:chOff x="3405227" y="254701"/>
            <a:chExt cx="1022757" cy="198726"/>
          </a:xfrm>
        </p:grpSpPr>
        <p:sp>
          <p:nvSpPr>
            <p:cNvPr id="197" name="5-конечная звезда 19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8" name="5-конечная звезда 20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9" name="5-конечная звезда 20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0" name="5-конечная звезда 20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1" name="5-конечная звезда 21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2" name="Группа 211"/>
          <p:cNvGrpSpPr/>
          <p:nvPr/>
        </p:nvGrpSpPr>
        <p:grpSpPr>
          <a:xfrm>
            <a:off x="5510037" y="2551948"/>
            <a:ext cx="582325" cy="109788"/>
            <a:chOff x="6236568" y="276066"/>
            <a:chExt cx="582325" cy="148083"/>
          </a:xfrm>
        </p:grpSpPr>
        <p:sp>
          <p:nvSpPr>
            <p:cNvPr id="213" name="5-конечная звезда 21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4" name="5-конечная звезда 21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5" name="5-конечная звезда 21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6" name="Группа 215"/>
          <p:cNvGrpSpPr/>
          <p:nvPr/>
        </p:nvGrpSpPr>
        <p:grpSpPr>
          <a:xfrm>
            <a:off x="5523439" y="5061188"/>
            <a:ext cx="582325" cy="109788"/>
            <a:chOff x="6236568" y="276066"/>
            <a:chExt cx="582325" cy="148083"/>
          </a:xfrm>
        </p:grpSpPr>
        <p:sp>
          <p:nvSpPr>
            <p:cNvPr id="217" name="5-конечная звезда 21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8" name="5-конечная звезда 21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9" name="5-конечная звезда 21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0" name="Группа 219"/>
          <p:cNvGrpSpPr/>
          <p:nvPr/>
        </p:nvGrpSpPr>
        <p:grpSpPr>
          <a:xfrm>
            <a:off x="5526569" y="5571375"/>
            <a:ext cx="582325" cy="109788"/>
            <a:chOff x="6236568" y="276066"/>
            <a:chExt cx="582325" cy="148083"/>
          </a:xfrm>
        </p:grpSpPr>
        <p:sp>
          <p:nvSpPr>
            <p:cNvPr id="221" name="5-конечная звезда 22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2" name="5-конечная звезда 22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3" name="5-конечная звезда 22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4" name="Группа 223"/>
          <p:cNvGrpSpPr/>
          <p:nvPr/>
        </p:nvGrpSpPr>
        <p:grpSpPr>
          <a:xfrm>
            <a:off x="5638464" y="2010414"/>
            <a:ext cx="365246" cy="109788"/>
            <a:chOff x="7472157" y="269324"/>
            <a:chExt cx="365246" cy="148082"/>
          </a:xfrm>
        </p:grpSpPr>
        <p:sp>
          <p:nvSpPr>
            <p:cNvPr id="225" name="5-конечная звезда 22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6" name="5-конечная звезда 22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7" name="Группа 226"/>
          <p:cNvGrpSpPr/>
          <p:nvPr/>
        </p:nvGrpSpPr>
        <p:grpSpPr>
          <a:xfrm>
            <a:off x="5659059" y="4049153"/>
            <a:ext cx="365246" cy="109788"/>
            <a:chOff x="7472157" y="269324"/>
            <a:chExt cx="365246" cy="148082"/>
          </a:xfrm>
        </p:grpSpPr>
        <p:sp>
          <p:nvSpPr>
            <p:cNvPr id="228" name="5-конечная звезда 227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9" name="5-конечная звезда 228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0" name="Группа 229"/>
          <p:cNvGrpSpPr/>
          <p:nvPr/>
        </p:nvGrpSpPr>
        <p:grpSpPr>
          <a:xfrm>
            <a:off x="5649025" y="4749077"/>
            <a:ext cx="365246" cy="109788"/>
            <a:chOff x="7472157" y="269324"/>
            <a:chExt cx="365246" cy="148082"/>
          </a:xfrm>
        </p:grpSpPr>
        <p:sp>
          <p:nvSpPr>
            <p:cNvPr id="231" name="5-конечная звезда 230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2" name="5-конечная звезда 231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33" name="5-конечная звезда 232"/>
          <p:cNvSpPr/>
          <p:nvPr/>
        </p:nvSpPr>
        <p:spPr>
          <a:xfrm>
            <a:off x="5738989" y="292556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4" name="5-конечная звезда 233"/>
          <p:cNvSpPr/>
          <p:nvPr/>
        </p:nvSpPr>
        <p:spPr>
          <a:xfrm>
            <a:off x="5742594" y="338452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5" name="5-конечная звезда 234"/>
          <p:cNvSpPr/>
          <p:nvPr/>
        </p:nvSpPr>
        <p:spPr>
          <a:xfrm>
            <a:off x="5782480" y="446281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5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2421210"/>
              </p:ext>
            </p:extLst>
          </p:nvPr>
        </p:nvGraphicFramePr>
        <p:xfrm>
          <a:off x="-34850" y="419596"/>
          <a:ext cx="9178849" cy="6453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265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084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267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449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65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620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1425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5353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5919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90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КР=ФБ/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en-US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ПБ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50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Мангистауская</a:t>
                      </a: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Многопрофильная клиника "Sofie Medgroupe"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45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"Павлодарская городская больница №1" управления здравоохранения Павлодарской области,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Павлодарской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23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Медицинское учреждение "</a:t>
                      </a:r>
                      <a:r>
                        <a:rPr lang="ru-RU" sz="1000" dirty="0" err="1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Данель</a:t>
                      </a: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34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Аксуский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филиал товарищества с ограниченной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ответсвенностью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“Медицинский центр “Евразия”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935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"Частная клиника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Искакова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09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"НҰР" Медицинский Центр"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45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Экибастузская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больница" управления здравоохранения Павлодарской области,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Павлодарской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45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Аксуская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центральная больница" управления здравоохранения Павлодарской области,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Павлодарской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46%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645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Акционерного общества "Железнодорожные госпитали медицины катастроф" - "Павлодарская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68034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grpSp>
        <p:nvGrpSpPr>
          <p:cNvPr id="76" name="Группа 75"/>
          <p:cNvGrpSpPr/>
          <p:nvPr/>
        </p:nvGrpSpPr>
        <p:grpSpPr>
          <a:xfrm>
            <a:off x="8156806" y="1794172"/>
            <a:ext cx="806733" cy="109788"/>
            <a:chOff x="4800372" y="271747"/>
            <a:chExt cx="806733" cy="148083"/>
          </a:xfrm>
        </p:grpSpPr>
        <p:sp>
          <p:nvSpPr>
            <p:cNvPr id="77" name="5-конечная звезда 7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9" name="5-конечная звезда 7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1" name="Группа 80"/>
          <p:cNvGrpSpPr/>
          <p:nvPr/>
        </p:nvGrpSpPr>
        <p:grpSpPr>
          <a:xfrm>
            <a:off x="8146445" y="2375724"/>
            <a:ext cx="806733" cy="109788"/>
            <a:chOff x="4800372" y="271747"/>
            <a:chExt cx="806733" cy="148083"/>
          </a:xfrm>
        </p:grpSpPr>
        <p:sp>
          <p:nvSpPr>
            <p:cNvPr id="82" name="5-конечная звезда 8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8148213" y="2824784"/>
            <a:ext cx="806733" cy="109788"/>
            <a:chOff x="4800372" y="271747"/>
            <a:chExt cx="806733" cy="148083"/>
          </a:xfrm>
        </p:grpSpPr>
        <p:sp>
          <p:nvSpPr>
            <p:cNvPr id="87" name="5-конечная звезда 8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8" name="5-конечная звезда 8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1" name="Группа 90"/>
          <p:cNvGrpSpPr/>
          <p:nvPr/>
        </p:nvGrpSpPr>
        <p:grpSpPr>
          <a:xfrm>
            <a:off x="8138336" y="3179150"/>
            <a:ext cx="806733" cy="109788"/>
            <a:chOff x="4800372" y="271747"/>
            <a:chExt cx="806733" cy="148083"/>
          </a:xfrm>
        </p:grpSpPr>
        <p:sp>
          <p:nvSpPr>
            <p:cNvPr id="92" name="5-конечная звезда 9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3" name="5-конечная звезда 9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8138336" y="3661924"/>
            <a:ext cx="806733" cy="109788"/>
            <a:chOff x="4800372" y="271747"/>
            <a:chExt cx="806733" cy="148083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2" name="5-конечная звезда 11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3" name="Группа 112"/>
          <p:cNvGrpSpPr/>
          <p:nvPr/>
        </p:nvGrpSpPr>
        <p:grpSpPr>
          <a:xfrm>
            <a:off x="8120981" y="3914909"/>
            <a:ext cx="806733" cy="109788"/>
            <a:chOff x="4800372" y="271747"/>
            <a:chExt cx="806733" cy="148083"/>
          </a:xfrm>
        </p:grpSpPr>
        <p:sp>
          <p:nvSpPr>
            <p:cNvPr id="114" name="5-конечная звезда 11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7" name="5-конечная звезда 11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8" name="Группа 117"/>
          <p:cNvGrpSpPr/>
          <p:nvPr/>
        </p:nvGrpSpPr>
        <p:grpSpPr>
          <a:xfrm>
            <a:off x="8156806" y="4424431"/>
            <a:ext cx="806733" cy="109788"/>
            <a:chOff x="4800372" y="271747"/>
            <a:chExt cx="806733" cy="148083"/>
          </a:xfrm>
        </p:grpSpPr>
        <p:sp>
          <p:nvSpPr>
            <p:cNvPr id="119" name="5-конечная звезда 11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3" name="Группа 122"/>
          <p:cNvGrpSpPr/>
          <p:nvPr/>
        </p:nvGrpSpPr>
        <p:grpSpPr>
          <a:xfrm>
            <a:off x="8146445" y="5788201"/>
            <a:ext cx="806733" cy="109788"/>
            <a:chOff x="4800372" y="271747"/>
            <a:chExt cx="806733" cy="148083"/>
          </a:xfrm>
        </p:grpSpPr>
        <p:sp>
          <p:nvSpPr>
            <p:cNvPr id="124" name="5-конечная звезда 12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7999599" y="5104242"/>
            <a:ext cx="1068903" cy="116437"/>
            <a:chOff x="3405227" y="254701"/>
            <a:chExt cx="1022757" cy="198726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4" name="Группа 133"/>
          <p:cNvGrpSpPr/>
          <p:nvPr/>
        </p:nvGrpSpPr>
        <p:grpSpPr>
          <a:xfrm>
            <a:off x="5514761" y="1867118"/>
            <a:ext cx="582325" cy="109788"/>
            <a:chOff x="6236568" y="276066"/>
            <a:chExt cx="582325" cy="148083"/>
          </a:xfrm>
        </p:grpSpPr>
        <p:sp>
          <p:nvSpPr>
            <p:cNvPr id="135" name="5-конечная звезда 13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8" name="Группа 137"/>
          <p:cNvGrpSpPr/>
          <p:nvPr/>
        </p:nvGrpSpPr>
        <p:grpSpPr>
          <a:xfrm>
            <a:off x="5513684" y="2348682"/>
            <a:ext cx="582325" cy="109788"/>
            <a:chOff x="6236568" y="276066"/>
            <a:chExt cx="582325" cy="148083"/>
          </a:xfrm>
        </p:grpSpPr>
        <p:sp>
          <p:nvSpPr>
            <p:cNvPr id="139" name="5-конечная звезда 13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2" name="Группа 141"/>
          <p:cNvGrpSpPr/>
          <p:nvPr/>
        </p:nvGrpSpPr>
        <p:grpSpPr>
          <a:xfrm>
            <a:off x="5625354" y="3220607"/>
            <a:ext cx="365246" cy="109788"/>
            <a:chOff x="7472157" y="269324"/>
            <a:chExt cx="365246" cy="148082"/>
          </a:xfrm>
        </p:grpSpPr>
        <p:sp>
          <p:nvSpPr>
            <p:cNvPr id="143" name="5-конечная звезда 142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5" name="Группа 144"/>
          <p:cNvGrpSpPr/>
          <p:nvPr/>
        </p:nvGrpSpPr>
        <p:grpSpPr>
          <a:xfrm>
            <a:off x="5600658" y="4382217"/>
            <a:ext cx="365246" cy="109788"/>
            <a:chOff x="7472157" y="269324"/>
            <a:chExt cx="365246" cy="148082"/>
          </a:xfrm>
        </p:grpSpPr>
        <p:sp>
          <p:nvSpPr>
            <p:cNvPr id="146" name="5-конечная звезда 14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7" name="5-конечная звезда 14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8" name="Группа 147"/>
          <p:cNvGrpSpPr/>
          <p:nvPr/>
        </p:nvGrpSpPr>
        <p:grpSpPr>
          <a:xfrm>
            <a:off x="5600658" y="5102297"/>
            <a:ext cx="365246" cy="109788"/>
            <a:chOff x="7472157" y="269324"/>
            <a:chExt cx="365246" cy="148082"/>
          </a:xfrm>
        </p:grpSpPr>
        <p:sp>
          <p:nvSpPr>
            <p:cNvPr id="149" name="5-конечная звезда 14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1" name="5-конечная звезда 150"/>
          <p:cNvSpPr/>
          <p:nvPr/>
        </p:nvSpPr>
        <p:spPr>
          <a:xfrm>
            <a:off x="5711892" y="282202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2" name="5-конечная звезда 151"/>
          <p:cNvSpPr/>
          <p:nvPr/>
        </p:nvSpPr>
        <p:spPr>
          <a:xfrm>
            <a:off x="5709544" y="364560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3" name="5-конечная звезда 152"/>
          <p:cNvSpPr/>
          <p:nvPr/>
        </p:nvSpPr>
        <p:spPr>
          <a:xfrm>
            <a:off x="5711892" y="3914909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4" name="5-конечная звезда 153"/>
          <p:cNvSpPr/>
          <p:nvPr/>
        </p:nvSpPr>
        <p:spPr>
          <a:xfrm>
            <a:off x="5702568" y="572579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85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28226" y="13276"/>
            <a:ext cx="9115774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982414"/>
              </p:ext>
            </p:extLst>
          </p:nvPr>
        </p:nvGraphicFramePr>
        <p:xfrm>
          <a:off x="-1" y="438747"/>
          <a:ext cx="9144001" cy="6434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5919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90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19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"Хирургический центр”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29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Павлодарская 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"Павлодарская городская больница №3" управления здравоохранения Павлодарской области,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Павлодарской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99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здравоохранения "Центр глаза - АЙНА-КОЗ"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238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"1-ая городская больница"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Северо-Казахстанской области Управления здравоохранения Северо-Казахстанской области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070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СКО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КГП на ПХВ "3-я городская больница"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СКО УЗ СКО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935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ГККП "Туркестанская городская центральная больница" УЗ ЮКО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09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ГККП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Шымкентская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 №1" УЗ ЮКО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52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"Клиника Дау-Мед"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ПК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Торабтык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аурухана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Арысского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района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6459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Филиал АО "Железнодорожные госпитали медицины катастроф"-"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Шымкентская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железнодорожная больница"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680341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71" name="Группа 70"/>
          <p:cNvGrpSpPr/>
          <p:nvPr/>
        </p:nvGrpSpPr>
        <p:grpSpPr>
          <a:xfrm>
            <a:off x="8123842" y="1744236"/>
            <a:ext cx="806733" cy="109788"/>
            <a:chOff x="4800372" y="271747"/>
            <a:chExt cx="806733" cy="148083"/>
          </a:xfrm>
        </p:grpSpPr>
        <p:sp>
          <p:nvSpPr>
            <p:cNvPr id="72" name="5-конечная звезда 7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3" name="5-конечная звезда 7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0" name="Группа 99"/>
          <p:cNvGrpSpPr/>
          <p:nvPr/>
        </p:nvGrpSpPr>
        <p:grpSpPr>
          <a:xfrm>
            <a:off x="8115355" y="2263949"/>
            <a:ext cx="806733" cy="109788"/>
            <a:chOff x="4800372" y="271747"/>
            <a:chExt cx="806733" cy="148083"/>
          </a:xfrm>
        </p:grpSpPr>
        <p:sp>
          <p:nvSpPr>
            <p:cNvPr id="101" name="5-конечная звезда 100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/>
          <p:cNvGrpSpPr/>
          <p:nvPr/>
        </p:nvGrpSpPr>
        <p:grpSpPr>
          <a:xfrm>
            <a:off x="7992757" y="2845233"/>
            <a:ext cx="1068903" cy="116437"/>
            <a:chOff x="3405227" y="254701"/>
            <a:chExt cx="1022757" cy="198726"/>
          </a:xfrm>
        </p:grpSpPr>
        <p:sp>
          <p:nvSpPr>
            <p:cNvPr id="106" name="5-конечная звезда 10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7949327" y="3414192"/>
            <a:ext cx="1068903" cy="116437"/>
            <a:chOff x="3405227" y="254701"/>
            <a:chExt cx="1022757" cy="198726"/>
          </a:xfrm>
        </p:grpSpPr>
        <p:sp>
          <p:nvSpPr>
            <p:cNvPr id="155" name="5-конечная звезда 15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6" name="5-конечная звезда 15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8" name="5-конечная звезда 15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9" name="5-конечная звезда 15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0" name="Группа 159"/>
          <p:cNvGrpSpPr/>
          <p:nvPr/>
        </p:nvGrpSpPr>
        <p:grpSpPr>
          <a:xfrm>
            <a:off x="7982472" y="3915136"/>
            <a:ext cx="1068903" cy="116437"/>
            <a:chOff x="3405227" y="254701"/>
            <a:chExt cx="1022757" cy="198726"/>
          </a:xfrm>
        </p:grpSpPr>
        <p:sp>
          <p:nvSpPr>
            <p:cNvPr id="161" name="5-конечная звезда 16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2" name="5-конечная звезда 16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4" name="5-конечная звезда 16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5" name="5-конечная звезда 16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6" name="Группа 165"/>
          <p:cNvGrpSpPr/>
          <p:nvPr/>
        </p:nvGrpSpPr>
        <p:grpSpPr>
          <a:xfrm>
            <a:off x="7991068" y="4307765"/>
            <a:ext cx="1068903" cy="116437"/>
            <a:chOff x="3405227" y="254701"/>
            <a:chExt cx="1022757" cy="198726"/>
          </a:xfrm>
        </p:grpSpPr>
        <p:sp>
          <p:nvSpPr>
            <p:cNvPr id="167" name="5-конечная звезда 16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8" name="5-конечная звезда 16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9" name="5-конечная звезда 16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1" name="5-конечная звезда 17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2" name="Группа 171"/>
          <p:cNvGrpSpPr/>
          <p:nvPr/>
        </p:nvGrpSpPr>
        <p:grpSpPr>
          <a:xfrm>
            <a:off x="7981976" y="4651275"/>
            <a:ext cx="1068904" cy="116437"/>
            <a:chOff x="3405227" y="254701"/>
            <a:chExt cx="1022758" cy="198726"/>
          </a:xfrm>
        </p:grpSpPr>
        <p:sp>
          <p:nvSpPr>
            <p:cNvPr id="173" name="5-конечная звезда 1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4" name="5-конечная звезда 1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5" name="5-конечная звезда 17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7" name="5-конечная звезда 176"/>
            <p:cNvSpPr/>
            <p:nvPr/>
          </p:nvSpPr>
          <p:spPr>
            <a:xfrm>
              <a:off x="4283969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8" name="Группа 177"/>
          <p:cNvGrpSpPr/>
          <p:nvPr/>
        </p:nvGrpSpPr>
        <p:grpSpPr>
          <a:xfrm>
            <a:off x="7968920" y="5054811"/>
            <a:ext cx="1068903" cy="116437"/>
            <a:chOff x="3405227" y="254701"/>
            <a:chExt cx="1022757" cy="198726"/>
          </a:xfrm>
        </p:grpSpPr>
        <p:sp>
          <p:nvSpPr>
            <p:cNvPr id="179" name="5-конечная звезда 178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0" name="5-конечная звезда 17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1" name="5-конечная звезда 18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2" name="5-конечная звезда 18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3" name="5-конечная звезда 18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4" name="Группа 183"/>
          <p:cNvGrpSpPr/>
          <p:nvPr/>
        </p:nvGrpSpPr>
        <p:grpSpPr>
          <a:xfrm>
            <a:off x="7996243" y="5372117"/>
            <a:ext cx="1068903" cy="116437"/>
            <a:chOff x="3405227" y="254701"/>
            <a:chExt cx="1022757" cy="198726"/>
          </a:xfrm>
        </p:grpSpPr>
        <p:sp>
          <p:nvSpPr>
            <p:cNvPr id="185" name="5-конечная звезда 18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6" name="5-конечная звезда 18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7" name="5-конечная звезда 18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8" name="5-конечная звезда 18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9" name="5-конечная звезда 18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0" name="Группа 189"/>
          <p:cNvGrpSpPr/>
          <p:nvPr/>
        </p:nvGrpSpPr>
        <p:grpSpPr>
          <a:xfrm>
            <a:off x="7996243" y="5794840"/>
            <a:ext cx="1068903" cy="116437"/>
            <a:chOff x="3405227" y="254701"/>
            <a:chExt cx="1022757" cy="198726"/>
          </a:xfrm>
        </p:grpSpPr>
        <p:sp>
          <p:nvSpPr>
            <p:cNvPr id="191" name="5-конечная звезда 19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5-конечная звезда 19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5-конечная звезда 19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5-конечная звезда 19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5-конечная звезда 19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96" name="Группа 195"/>
          <p:cNvGrpSpPr/>
          <p:nvPr/>
        </p:nvGrpSpPr>
        <p:grpSpPr>
          <a:xfrm>
            <a:off x="5490106" y="3422785"/>
            <a:ext cx="582325" cy="109788"/>
            <a:chOff x="6236568" y="276066"/>
            <a:chExt cx="582325" cy="148083"/>
          </a:xfrm>
        </p:grpSpPr>
        <p:sp>
          <p:nvSpPr>
            <p:cNvPr id="197" name="5-конечная звезда 19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8" name="5-конечная звезда 19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9" name="5-конечная звезда 19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0" name="Группа 199"/>
          <p:cNvGrpSpPr/>
          <p:nvPr/>
        </p:nvGrpSpPr>
        <p:grpSpPr>
          <a:xfrm>
            <a:off x="5508128" y="3911213"/>
            <a:ext cx="582325" cy="109788"/>
            <a:chOff x="6236568" y="276066"/>
            <a:chExt cx="582325" cy="148083"/>
          </a:xfrm>
        </p:grpSpPr>
        <p:sp>
          <p:nvSpPr>
            <p:cNvPr id="201" name="5-конечная звезда 20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2" name="5-конечная звезда 20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3" name="5-конечная звезда 20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4" name="Группа 203"/>
          <p:cNvGrpSpPr/>
          <p:nvPr/>
        </p:nvGrpSpPr>
        <p:grpSpPr>
          <a:xfrm>
            <a:off x="5482163" y="4273512"/>
            <a:ext cx="582325" cy="109788"/>
            <a:chOff x="6236568" y="276066"/>
            <a:chExt cx="582325" cy="148083"/>
          </a:xfrm>
        </p:grpSpPr>
        <p:sp>
          <p:nvSpPr>
            <p:cNvPr id="205" name="5-конечная звезда 20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6" name="5-конечная звезда 20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7" name="5-конечная звезда 20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8" name="Группа 207"/>
          <p:cNvGrpSpPr/>
          <p:nvPr/>
        </p:nvGrpSpPr>
        <p:grpSpPr>
          <a:xfrm>
            <a:off x="5593833" y="2316501"/>
            <a:ext cx="365246" cy="109788"/>
            <a:chOff x="7472157" y="269324"/>
            <a:chExt cx="365246" cy="148082"/>
          </a:xfrm>
        </p:grpSpPr>
        <p:sp>
          <p:nvSpPr>
            <p:cNvPr id="209" name="5-конечная звезда 20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0" name="5-конечная звезда 20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1" name="Группа 210"/>
          <p:cNvGrpSpPr/>
          <p:nvPr/>
        </p:nvGrpSpPr>
        <p:grpSpPr>
          <a:xfrm>
            <a:off x="5601776" y="4657925"/>
            <a:ext cx="365246" cy="109788"/>
            <a:chOff x="7472157" y="269324"/>
            <a:chExt cx="365246" cy="148082"/>
          </a:xfrm>
        </p:grpSpPr>
        <p:sp>
          <p:nvSpPr>
            <p:cNvPr id="212" name="5-конечная звезда 21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3" name="5-конечная звезда 21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4" name="Группа 213"/>
          <p:cNvGrpSpPr/>
          <p:nvPr/>
        </p:nvGrpSpPr>
        <p:grpSpPr>
          <a:xfrm>
            <a:off x="5615929" y="5802044"/>
            <a:ext cx="365246" cy="109788"/>
            <a:chOff x="7472157" y="269324"/>
            <a:chExt cx="365246" cy="148082"/>
          </a:xfrm>
        </p:grpSpPr>
        <p:sp>
          <p:nvSpPr>
            <p:cNvPr id="215" name="5-конечная звезда 21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6" name="5-конечная звезда 21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7" name="5-конечная звезда 216"/>
          <p:cNvSpPr/>
          <p:nvPr/>
        </p:nvSpPr>
        <p:spPr>
          <a:xfrm>
            <a:off x="5726544" y="177898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5-конечная звезда 217"/>
          <p:cNvSpPr/>
          <p:nvPr/>
        </p:nvSpPr>
        <p:spPr>
          <a:xfrm>
            <a:off x="5726544" y="284523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5-конечная звезда 218"/>
          <p:cNvSpPr/>
          <p:nvPr/>
        </p:nvSpPr>
        <p:spPr>
          <a:xfrm>
            <a:off x="5730413" y="5061460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0" name="5-конечная звезда 219"/>
          <p:cNvSpPr/>
          <p:nvPr/>
        </p:nvSpPr>
        <p:spPr>
          <a:xfrm>
            <a:off x="5726544" y="538608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55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7759590"/>
              </p:ext>
            </p:extLst>
          </p:nvPr>
        </p:nvGraphicFramePr>
        <p:xfrm>
          <a:off x="-1" y="513446"/>
          <a:ext cx="9144001" cy="6344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866908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1102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50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Медицинский центр "Доктора Орынбаева"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36%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616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"Доктор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Магнус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781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Представительство ТОО "Мод и компания" г. Шымкент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18%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3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"Клиника DL-ЭКО"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842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Медикер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ЮК"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528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ГККП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Ленгерская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больница" УЗ ЮКО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65%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01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"Клиника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Талгата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100%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6187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"Клиника Международного Казахско-Турецкого университета имени Ходжа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Ахмет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Ясави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</a:tr>
              <a:tr h="422792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</a:tr>
            </a:tbl>
          </a:graphicData>
        </a:graphic>
      </p:graphicFrame>
      <p:grpSp>
        <p:nvGrpSpPr>
          <p:cNvPr id="87" name="Группа 86"/>
          <p:cNvGrpSpPr/>
          <p:nvPr/>
        </p:nvGrpSpPr>
        <p:grpSpPr>
          <a:xfrm>
            <a:off x="7992512" y="2336427"/>
            <a:ext cx="1068903" cy="116437"/>
            <a:chOff x="3405227" y="254701"/>
            <a:chExt cx="1022757" cy="198726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2" name="5-конечная звезда 9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3" name="Группа 92"/>
          <p:cNvGrpSpPr/>
          <p:nvPr/>
        </p:nvGrpSpPr>
        <p:grpSpPr>
          <a:xfrm>
            <a:off x="7979524" y="2977794"/>
            <a:ext cx="1068903" cy="116437"/>
            <a:chOff x="3405227" y="254701"/>
            <a:chExt cx="1022757" cy="198726"/>
          </a:xfrm>
        </p:grpSpPr>
        <p:sp>
          <p:nvSpPr>
            <p:cNvPr id="94" name="5-конечная звезда 9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6" name="5-конечная звезда 9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7" name="5-конечная звезда 9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/>
          <p:cNvGrpSpPr/>
          <p:nvPr/>
        </p:nvGrpSpPr>
        <p:grpSpPr>
          <a:xfrm>
            <a:off x="7997860" y="3742036"/>
            <a:ext cx="1068903" cy="116437"/>
            <a:chOff x="3405227" y="254701"/>
            <a:chExt cx="1022757" cy="198726"/>
          </a:xfrm>
        </p:grpSpPr>
        <p:sp>
          <p:nvSpPr>
            <p:cNvPr id="112" name="5-конечная звезда 11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3" name="5-конечная звезда 11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6" name="5-конечная звезда 11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7" name="Группа 116"/>
          <p:cNvGrpSpPr/>
          <p:nvPr/>
        </p:nvGrpSpPr>
        <p:grpSpPr>
          <a:xfrm>
            <a:off x="7990208" y="4216758"/>
            <a:ext cx="1068903" cy="116437"/>
            <a:chOff x="3405227" y="254701"/>
            <a:chExt cx="1022757" cy="198726"/>
          </a:xfrm>
        </p:grpSpPr>
        <p:sp>
          <p:nvSpPr>
            <p:cNvPr id="118" name="5-конечная звезда 117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0" name="5-конечная звезда 119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1" name="5-конечная звезда 120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3" name="Группа 122"/>
          <p:cNvGrpSpPr/>
          <p:nvPr/>
        </p:nvGrpSpPr>
        <p:grpSpPr>
          <a:xfrm>
            <a:off x="7971872" y="4636988"/>
            <a:ext cx="1068903" cy="116437"/>
            <a:chOff x="3405227" y="254701"/>
            <a:chExt cx="1022757" cy="198726"/>
          </a:xfrm>
        </p:grpSpPr>
        <p:sp>
          <p:nvSpPr>
            <p:cNvPr id="124" name="5-конечная звезда 12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5" name="5-конечная звезда 12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8" name="5-конечная звезда 12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9" name="Группа 128"/>
          <p:cNvGrpSpPr/>
          <p:nvPr/>
        </p:nvGrpSpPr>
        <p:grpSpPr>
          <a:xfrm>
            <a:off x="7993886" y="5143854"/>
            <a:ext cx="1068903" cy="116437"/>
            <a:chOff x="3405227" y="254701"/>
            <a:chExt cx="1022757" cy="198726"/>
          </a:xfrm>
        </p:grpSpPr>
        <p:sp>
          <p:nvSpPr>
            <p:cNvPr id="130" name="5-конечная звезда 12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2" name="5-конечная звезда 13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3" name="5-конечная звезда 132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5" name="Группа 134"/>
          <p:cNvGrpSpPr/>
          <p:nvPr/>
        </p:nvGrpSpPr>
        <p:grpSpPr>
          <a:xfrm>
            <a:off x="7971872" y="5557187"/>
            <a:ext cx="1068903" cy="116437"/>
            <a:chOff x="3405227" y="254701"/>
            <a:chExt cx="1022757" cy="198726"/>
          </a:xfrm>
        </p:grpSpPr>
        <p:sp>
          <p:nvSpPr>
            <p:cNvPr id="136" name="5-конечная звезда 13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7" name="5-конечная звезда 136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1" name="Группа 140"/>
          <p:cNvGrpSpPr/>
          <p:nvPr/>
        </p:nvGrpSpPr>
        <p:grpSpPr>
          <a:xfrm>
            <a:off x="7997860" y="6069531"/>
            <a:ext cx="1068903" cy="116437"/>
            <a:chOff x="3405227" y="254701"/>
            <a:chExt cx="1022757" cy="198726"/>
          </a:xfrm>
        </p:grpSpPr>
        <p:sp>
          <p:nvSpPr>
            <p:cNvPr id="142" name="5-конечная звезда 141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3" name="5-конечная звезда 142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7" name="Группа 146"/>
          <p:cNvGrpSpPr/>
          <p:nvPr/>
        </p:nvGrpSpPr>
        <p:grpSpPr>
          <a:xfrm>
            <a:off x="5491298" y="5143403"/>
            <a:ext cx="582325" cy="109788"/>
            <a:chOff x="6236568" y="276066"/>
            <a:chExt cx="582325" cy="148083"/>
          </a:xfrm>
        </p:grpSpPr>
        <p:sp>
          <p:nvSpPr>
            <p:cNvPr id="148" name="5-конечная звезда 14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1" name="Группа 150"/>
          <p:cNvGrpSpPr/>
          <p:nvPr/>
        </p:nvGrpSpPr>
        <p:grpSpPr>
          <a:xfrm>
            <a:off x="5491298" y="6076181"/>
            <a:ext cx="582325" cy="109788"/>
            <a:chOff x="6236568" y="276066"/>
            <a:chExt cx="582325" cy="148083"/>
          </a:xfrm>
        </p:grpSpPr>
        <p:sp>
          <p:nvSpPr>
            <p:cNvPr id="152" name="5-конечная звезда 15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21" name="Группа 220"/>
          <p:cNvGrpSpPr/>
          <p:nvPr/>
        </p:nvGrpSpPr>
        <p:grpSpPr>
          <a:xfrm>
            <a:off x="5594144" y="2343077"/>
            <a:ext cx="365246" cy="109788"/>
            <a:chOff x="7472157" y="269324"/>
            <a:chExt cx="365246" cy="148082"/>
          </a:xfrm>
        </p:grpSpPr>
        <p:sp>
          <p:nvSpPr>
            <p:cNvPr id="222" name="5-конечная звезда 22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3" name="5-конечная звезда 22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4" name="5-конечная звезда 223"/>
          <p:cNvSpPr/>
          <p:nvPr/>
        </p:nvSpPr>
        <p:spPr>
          <a:xfrm>
            <a:off x="5713583" y="297779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5" name="5-конечная звезда 224"/>
          <p:cNvSpPr/>
          <p:nvPr/>
        </p:nvSpPr>
        <p:spPr>
          <a:xfrm>
            <a:off x="5707323" y="3717032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6" name="5-конечная звезда 225"/>
          <p:cNvSpPr/>
          <p:nvPr/>
        </p:nvSpPr>
        <p:spPr>
          <a:xfrm>
            <a:off x="5713583" y="422340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7" name="5-конечная звезда 226"/>
          <p:cNvSpPr/>
          <p:nvPr/>
        </p:nvSpPr>
        <p:spPr>
          <a:xfrm>
            <a:off x="5713583" y="464363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8" name="5-конечная звезда 227"/>
          <p:cNvSpPr/>
          <p:nvPr/>
        </p:nvSpPr>
        <p:spPr>
          <a:xfrm>
            <a:off x="5713583" y="555718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8601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32718" y="0"/>
            <a:ext cx="9176717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стационаров для взрослых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152357"/>
              </p:ext>
            </p:extLst>
          </p:nvPr>
        </p:nvGraphicFramePr>
        <p:xfrm>
          <a:off x="0" y="457146"/>
          <a:ext cx="9144001" cy="64008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1169479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62704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9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ГККП "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Кентауская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центральная городская больница" управления здравоохранения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акимата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Южно-Казахстанской области</a:t>
                      </a: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54%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55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"Больница "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Акмарал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87%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188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Учреждение "Клиника-диагностический центр Международного казахско-турецкого университета имени Ходжа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Ахмет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Ясави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"</a:t>
                      </a: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59%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92%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33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"Микрохирургия глаза Шымкент"</a:t>
                      </a: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27%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21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ТОО "Вита Клиника"</a:t>
                      </a: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847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ЮКО</a:t>
                      </a:r>
                      <a:endParaRPr lang="ru-RU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ГККП "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Шымкентская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городская больница скорой медицинской помощи" УЗ ЮКО</a:t>
                      </a: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31%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73%</a:t>
                      </a: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84738">
                <a:tc gridSpan="8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b="1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</a:tr>
            </a:tbl>
          </a:graphicData>
        </a:graphic>
      </p:graphicFrame>
      <p:grpSp>
        <p:nvGrpSpPr>
          <p:cNvPr id="68" name="Группа 67"/>
          <p:cNvGrpSpPr/>
          <p:nvPr/>
        </p:nvGrpSpPr>
        <p:grpSpPr>
          <a:xfrm>
            <a:off x="8125835" y="5940931"/>
            <a:ext cx="806733" cy="109788"/>
            <a:chOff x="4800372" y="271747"/>
            <a:chExt cx="806733" cy="148083"/>
          </a:xfrm>
        </p:grpSpPr>
        <p:sp>
          <p:nvSpPr>
            <p:cNvPr id="69" name="5-конечная звезда 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7975024" y="3494359"/>
            <a:ext cx="1068903" cy="116437"/>
            <a:chOff x="3405227" y="254701"/>
            <a:chExt cx="1022757" cy="198726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8" name="5-конечная звезда 77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9" name="Группа 78"/>
          <p:cNvGrpSpPr/>
          <p:nvPr/>
        </p:nvGrpSpPr>
        <p:grpSpPr>
          <a:xfrm>
            <a:off x="7993185" y="2774278"/>
            <a:ext cx="1068903" cy="116437"/>
            <a:chOff x="3405227" y="254701"/>
            <a:chExt cx="1022757" cy="198726"/>
          </a:xfrm>
        </p:grpSpPr>
        <p:sp>
          <p:nvSpPr>
            <p:cNvPr id="80" name="5-конечная звезда 79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3" name="5-конечная звезда 82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5" name="Группа 84"/>
          <p:cNvGrpSpPr/>
          <p:nvPr/>
        </p:nvGrpSpPr>
        <p:grpSpPr>
          <a:xfrm>
            <a:off x="7993185" y="4289770"/>
            <a:ext cx="1068903" cy="116437"/>
            <a:chOff x="3405227" y="254701"/>
            <a:chExt cx="1022757" cy="198726"/>
          </a:xfrm>
        </p:grpSpPr>
        <p:sp>
          <p:nvSpPr>
            <p:cNvPr id="86" name="5-конечная звезда 85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4" name="Группа 103"/>
          <p:cNvGrpSpPr/>
          <p:nvPr/>
        </p:nvGrpSpPr>
        <p:grpSpPr>
          <a:xfrm>
            <a:off x="5520193" y="2780928"/>
            <a:ext cx="582325" cy="109788"/>
            <a:chOff x="6236568" y="276066"/>
            <a:chExt cx="582325" cy="148083"/>
          </a:xfrm>
        </p:grpSpPr>
        <p:sp>
          <p:nvSpPr>
            <p:cNvPr id="105" name="5-конечная звезда 10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6" name="5-конечная звезда 10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5-конечная звезда 10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8" name="Группа 107"/>
          <p:cNvGrpSpPr/>
          <p:nvPr/>
        </p:nvGrpSpPr>
        <p:grpSpPr>
          <a:xfrm>
            <a:off x="5523323" y="4293096"/>
            <a:ext cx="582325" cy="109788"/>
            <a:chOff x="6236568" y="276066"/>
            <a:chExt cx="582325" cy="148083"/>
          </a:xfrm>
        </p:grpSpPr>
        <p:sp>
          <p:nvSpPr>
            <p:cNvPr id="109" name="5-конечная звезда 10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5" name="Группа 154"/>
          <p:cNvGrpSpPr/>
          <p:nvPr/>
        </p:nvGrpSpPr>
        <p:grpSpPr>
          <a:xfrm>
            <a:off x="5658496" y="5949280"/>
            <a:ext cx="365246" cy="109788"/>
            <a:chOff x="7472157" y="269324"/>
            <a:chExt cx="365246" cy="148082"/>
          </a:xfrm>
        </p:grpSpPr>
        <p:sp>
          <p:nvSpPr>
            <p:cNvPr id="156" name="5-конечная звезда 15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8354990" y="5404671"/>
            <a:ext cx="365246" cy="109788"/>
            <a:chOff x="7472157" y="269324"/>
            <a:chExt cx="365246" cy="148082"/>
          </a:xfrm>
        </p:grpSpPr>
        <p:sp>
          <p:nvSpPr>
            <p:cNvPr id="159" name="5-конечная звезда 15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1" name="5-конечная звезда 160"/>
          <p:cNvSpPr/>
          <p:nvPr/>
        </p:nvSpPr>
        <p:spPr>
          <a:xfrm>
            <a:off x="5745608" y="3501008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2" name="5-конечная звезда 161"/>
          <p:cNvSpPr/>
          <p:nvPr/>
        </p:nvSpPr>
        <p:spPr>
          <a:xfrm>
            <a:off x="5780404" y="493761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3" name="5-конечная звезда 162"/>
          <p:cNvSpPr/>
          <p:nvPr/>
        </p:nvSpPr>
        <p:spPr>
          <a:xfrm>
            <a:off x="5780404" y="539599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4" name="5-конечная звезда 163"/>
          <p:cNvSpPr/>
          <p:nvPr/>
        </p:nvSpPr>
        <p:spPr>
          <a:xfrm>
            <a:off x="8447490" y="4944487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057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-1116" y="0"/>
            <a:ext cx="9145116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детских стационаров 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5490134"/>
              </p:ext>
            </p:extLst>
          </p:nvPr>
        </p:nvGraphicFramePr>
        <p:xfrm>
          <a:off x="0" y="487542"/>
          <a:ext cx="9144001" cy="6370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00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74309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66068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07339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83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Актюбинская 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 "Городская детская клиническая больница ГУ "Управление здравоохранения Актюбинской области"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52%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50%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43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Алматинская </a:t>
                      </a:r>
                      <a:endParaRPr lang="ru-RU" sz="105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 "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Алматинская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региональная детская клиническая больница" государственного учреждения "Управление здравоохранения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Алматинской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области"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69%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69%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111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г.Алматы</a:t>
                      </a:r>
                      <a:endParaRPr lang="ru-RU" sz="105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 "Центр детской неотложной медицинской помощи" Управления здравоохранения города Алматы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71%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68%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032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г.Алматы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 "Детская городская клиническая больница №2" Управления здравоохранения города Алматы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67%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74%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6032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г.Алматы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РГКП "Детский клинический санаторий "Алатау" Министерства здравоохранения и социального развития Республики Казахстан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67%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76%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078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г.Астана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 "Городская детская больница №1"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г.Астаны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25%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66%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798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г.Астана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«Городская детская больница №2»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города Астаны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66%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65%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03979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46" name="Группа 45"/>
          <p:cNvGrpSpPr/>
          <p:nvPr/>
        </p:nvGrpSpPr>
        <p:grpSpPr>
          <a:xfrm>
            <a:off x="5405884" y="3645024"/>
            <a:ext cx="806733" cy="109788"/>
            <a:chOff x="4800372" y="271747"/>
            <a:chExt cx="806733" cy="148083"/>
          </a:xfrm>
        </p:grpSpPr>
        <p:sp>
          <p:nvSpPr>
            <p:cNvPr id="47" name="5-конечная звезда 4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5-конечная звезда 4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5-конечная звезда 4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5-конечная звезда 4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1" name="Группа 50"/>
          <p:cNvGrpSpPr/>
          <p:nvPr/>
        </p:nvGrpSpPr>
        <p:grpSpPr>
          <a:xfrm>
            <a:off x="8125832" y="4428400"/>
            <a:ext cx="806733" cy="109788"/>
            <a:chOff x="4800372" y="271747"/>
            <a:chExt cx="806733" cy="148083"/>
          </a:xfrm>
        </p:grpSpPr>
        <p:sp>
          <p:nvSpPr>
            <p:cNvPr id="52" name="5-конечная звезда 5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5-конечная звезда 5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4" name="5-конечная звезда 5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5-конечная звезда 5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6" name="Группа 55"/>
          <p:cNvGrpSpPr/>
          <p:nvPr/>
        </p:nvGrpSpPr>
        <p:grpSpPr>
          <a:xfrm>
            <a:off x="8125832" y="5013177"/>
            <a:ext cx="806733" cy="109788"/>
            <a:chOff x="4800372" y="271747"/>
            <a:chExt cx="806733" cy="148083"/>
          </a:xfrm>
        </p:grpSpPr>
        <p:sp>
          <p:nvSpPr>
            <p:cNvPr id="57" name="5-конечная звезда 5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0" name="5-конечная звезда 5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1" name="Группа 60"/>
          <p:cNvGrpSpPr/>
          <p:nvPr/>
        </p:nvGrpSpPr>
        <p:grpSpPr>
          <a:xfrm>
            <a:off x="5503321" y="2092131"/>
            <a:ext cx="582325" cy="109788"/>
            <a:chOff x="6236568" y="276066"/>
            <a:chExt cx="582325" cy="148083"/>
          </a:xfrm>
        </p:grpSpPr>
        <p:sp>
          <p:nvSpPr>
            <p:cNvPr id="62" name="5-конечная звезда 6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5-конечная звезда 6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5" name="Группа 64"/>
          <p:cNvGrpSpPr/>
          <p:nvPr/>
        </p:nvGrpSpPr>
        <p:grpSpPr>
          <a:xfrm>
            <a:off x="5477316" y="2736671"/>
            <a:ext cx="582325" cy="109788"/>
            <a:chOff x="6236568" y="276066"/>
            <a:chExt cx="582325" cy="148083"/>
          </a:xfrm>
        </p:grpSpPr>
        <p:sp>
          <p:nvSpPr>
            <p:cNvPr id="66" name="5-конечная звезда 65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7" name="5-конечная звезда 66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5-конечная звезда 8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8" name="Группа 87"/>
          <p:cNvGrpSpPr/>
          <p:nvPr/>
        </p:nvGrpSpPr>
        <p:grpSpPr>
          <a:xfrm>
            <a:off x="8206224" y="2890549"/>
            <a:ext cx="582325" cy="109788"/>
            <a:chOff x="6236568" y="276066"/>
            <a:chExt cx="582325" cy="148083"/>
          </a:xfrm>
        </p:grpSpPr>
        <p:sp>
          <p:nvSpPr>
            <p:cNvPr id="89" name="5-конечная звезда 8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210086" y="2115740"/>
            <a:ext cx="582325" cy="109788"/>
            <a:chOff x="6236568" y="276066"/>
            <a:chExt cx="582325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8253273" y="3699917"/>
            <a:ext cx="582325" cy="109788"/>
            <a:chOff x="6236568" y="276066"/>
            <a:chExt cx="582325" cy="148083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2" name="Группа 111"/>
          <p:cNvGrpSpPr/>
          <p:nvPr/>
        </p:nvGrpSpPr>
        <p:grpSpPr>
          <a:xfrm>
            <a:off x="8267033" y="5555013"/>
            <a:ext cx="582325" cy="109788"/>
            <a:chOff x="6236568" y="276066"/>
            <a:chExt cx="582325" cy="148083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6" name="Группа 115"/>
          <p:cNvGrpSpPr/>
          <p:nvPr/>
        </p:nvGrpSpPr>
        <p:grpSpPr>
          <a:xfrm>
            <a:off x="8253273" y="6110411"/>
            <a:ext cx="582325" cy="109788"/>
            <a:chOff x="6236568" y="276066"/>
            <a:chExt cx="582325" cy="148083"/>
          </a:xfrm>
        </p:grpSpPr>
        <p:sp>
          <p:nvSpPr>
            <p:cNvPr id="117" name="5-конечная звезда 11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0" name="Группа 119"/>
          <p:cNvGrpSpPr/>
          <p:nvPr/>
        </p:nvGrpSpPr>
        <p:grpSpPr>
          <a:xfrm>
            <a:off x="5486276" y="6106803"/>
            <a:ext cx="582325" cy="109788"/>
            <a:chOff x="6236568" y="276066"/>
            <a:chExt cx="582325" cy="148083"/>
          </a:xfrm>
        </p:grpSpPr>
        <p:sp>
          <p:nvSpPr>
            <p:cNvPr id="121" name="5-конечная звезда 12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5509581" y="5013176"/>
            <a:ext cx="582325" cy="109788"/>
            <a:chOff x="6236568" y="276066"/>
            <a:chExt cx="582325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5506451" y="4437112"/>
            <a:ext cx="582325" cy="109788"/>
            <a:chOff x="6236568" y="276066"/>
            <a:chExt cx="582325" cy="148083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2" name="5-конечная звезда 131"/>
          <p:cNvSpPr/>
          <p:nvPr/>
        </p:nvSpPr>
        <p:spPr>
          <a:xfrm>
            <a:off x="5706257" y="5555013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25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городских детских стационаров 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639742"/>
              </p:ext>
            </p:extLst>
          </p:nvPr>
        </p:nvGraphicFramePr>
        <p:xfrm>
          <a:off x="0" y="522268"/>
          <a:ext cx="9144001" cy="6341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04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59395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5258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773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Жамбылская</a:t>
                      </a:r>
                      <a:r>
                        <a:rPr lang="ru-RU" sz="1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 "Городская детская больница №1"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Жамбылской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области"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39%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74%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42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КГП "Детская больница города Темиртау" 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287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84%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09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Карагандинская 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КГП "Детская больница города Караганды"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234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69%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80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Костанайская</a:t>
                      </a:r>
                      <a:r>
                        <a:rPr lang="ru-RU" sz="1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КГП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Костанайская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городская детская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Костанайской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81%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980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Костанайская</a:t>
                      </a:r>
                      <a:r>
                        <a:rPr lang="ru-RU" sz="1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КГП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Рудненская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городская детская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Костанайской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76%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980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Мангистауская 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ГККП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Жанаозенская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городская детская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Мангистауской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36%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47%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034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ЮКО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ГККП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Шымкентская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городская детская больница №1"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Южно-Казахстанской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18%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79%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747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ЮКО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ГККП "Туркестанская городская детская больница" управления здравоохранения Южно-Казахстанской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4%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252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74%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00460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grpSp>
        <p:nvGrpSpPr>
          <p:cNvPr id="68" name="Группа 67"/>
          <p:cNvGrpSpPr/>
          <p:nvPr/>
        </p:nvGrpSpPr>
        <p:grpSpPr>
          <a:xfrm>
            <a:off x="5385769" y="2689112"/>
            <a:ext cx="806733" cy="109788"/>
            <a:chOff x="4800372" y="271747"/>
            <a:chExt cx="806733" cy="148083"/>
          </a:xfrm>
        </p:grpSpPr>
        <p:sp>
          <p:nvSpPr>
            <p:cNvPr id="69" name="5-конечная звезда 6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2" name="5-конечная звезда 7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3" name="Группа 72"/>
          <p:cNvGrpSpPr/>
          <p:nvPr/>
        </p:nvGrpSpPr>
        <p:grpSpPr>
          <a:xfrm>
            <a:off x="5385769" y="3240539"/>
            <a:ext cx="806733" cy="109788"/>
            <a:chOff x="4800372" y="271747"/>
            <a:chExt cx="806733" cy="148083"/>
          </a:xfrm>
        </p:grpSpPr>
        <p:sp>
          <p:nvSpPr>
            <p:cNvPr id="74" name="5-конечная звезда 7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385769" y="3861048"/>
            <a:ext cx="806733" cy="109788"/>
            <a:chOff x="4800372" y="271747"/>
            <a:chExt cx="806733" cy="148083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2" name="5-конечная звезда 81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3" name="Группа 82"/>
          <p:cNvGrpSpPr/>
          <p:nvPr/>
        </p:nvGrpSpPr>
        <p:grpSpPr>
          <a:xfrm>
            <a:off x="8141968" y="2089443"/>
            <a:ext cx="806733" cy="109788"/>
            <a:chOff x="4800372" y="271747"/>
            <a:chExt cx="806733" cy="148083"/>
          </a:xfrm>
        </p:grpSpPr>
        <p:sp>
          <p:nvSpPr>
            <p:cNvPr id="84" name="5-конечная звезда 83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6" name="5-конечная звезда 85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5-конечная звезда 9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1" name="Группа 100"/>
          <p:cNvGrpSpPr/>
          <p:nvPr/>
        </p:nvGrpSpPr>
        <p:grpSpPr>
          <a:xfrm>
            <a:off x="8130457" y="2645403"/>
            <a:ext cx="806733" cy="109788"/>
            <a:chOff x="4800372" y="271747"/>
            <a:chExt cx="806733" cy="148083"/>
          </a:xfrm>
        </p:grpSpPr>
        <p:sp>
          <p:nvSpPr>
            <p:cNvPr id="102" name="5-конечная звезда 101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3" name="5-конечная звезда 102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4" name="5-конечная звезда 103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6" name="Группа 105"/>
          <p:cNvGrpSpPr/>
          <p:nvPr/>
        </p:nvGrpSpPr>
        <p:grpSpPr>
          <a:xfrm>
            <a:off x="8130457" y="3769966"/>
            <a:ext cx="806733" cy="109788"/>
            <a:chOff x="4800372" y="271747"/>
            <a:chExt cx="806733" cy="148083"/>
          </a:xfrm>
        </p:grpSpPr>
        <p:sp>
          <p:nvSpPr>
            <p:cNvPr id="107" name="5-конечная звезда 106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9" name="5-конечная звезда 108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0" name="5-конечная звезда 109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1" name="Группа 110"/>
          <p:cNvGrpSpPr/>
          <p:nvPr/>
        </p:nvGrpSpPr>
        <p:grpSpPr>
          <a:xfrm>
            <a:off x="8144713" y="4382219"/>
            <a:ext cx="806733" cy="109788"/>
            <a:chOff x="4800372" y="271747"/>
            <a:chExt cx="806733" cy="148083"/>
          </a:xfrm>
        </p:grpSpPr>
        <p:sp>
          <p:nvSpPr>
            <p:cNvPr id="133" name="5-конечная звезда 13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4" name="5-конечная звезда 13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6" name="5-конечная звезда 13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7" name="Группа 136"/>
          <p:cNvGrpSpPr/>
          <p:nvPr/>
        </p:nvGrpSpPr>
        <p:grpSpPr>
          <a:xfrm>
            <a:off x="8144713" y="5547109"/>
            <a:ext cx="806733" cy="109788"/>
            <a:chOff x="4800372" y="271747"/>
            <a:chExt cx="806733" cy="148083"/>
          </a:xfrm>
        </p:grpSpPr>
        <p:sp>
          <p:nvSpPr>
            <p:cNvPr id="138" name="5-конечная звезда 13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9" name="5-конечная звезда 13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0" name="5-конечная звезда 13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1" name="5-конечная звезда 14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2" name="Группа 141"/>
          <p:cNvGrpSpPr/>
          <p:nvPr/>
        </p:nvGrpSpPr>
        <p:grpSpPr>
          <a:xfrm>
            <a:off x="8147813" y="6146906"/>
            <a:ext cx="806733" cy="109788"/>
            <a:chOff x="4800372" y="271747"/>
            <a:chExt cx="806733" cy="148083"/>
          </a:xfrm>
        </p:grpSpPr>
        <p:sp>
          <p:nvSpPr>
            <p:cNvPr id="143" name="5-конечная звезда 142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4" name="5-конечная звезда 143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5" name="5-конечная звезда 144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6" name="5-конечная звезда 145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47" name="Группа 146"/>
          <p:cNvGrpSpPr/>
          <p:nvPr/>
        </p:nvGrpSpPr>
        <p:grpSpPr>
          <a:xfrm>
            <a:off x="8226822" y="3199901"/>
            <a:ext cx="582325" cy="109788"/>
            <a:chOff x="6236568" y="276066"/>
            <a:chExt cx="582325" cy="148083"/>
          </a:xfrm>
        </p:grpSpPr>
        <p:sp>
          <p:nvSpPr>
            <p:cNvPr id="148" name="5-конечная звезда 147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5-конечная звезда 148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5-конечная звезда 149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1" name="Группа 150"/>
          <p:cNvGrpSpPr/>
          <p:nvPr/>
        </p:nvGrpSpPr>
        <p:grpSpPr>
          <a:xfrm>
            <a:off x="5498481" y="4437112"/>
            <a:ext cx="582325" cy="109788"/>
            <a:chOff x="6236568" y="276066"/>
            <a:chExt cx="582325" cy="148083"/>
          </a:xfrm>
        </p:grpSpPr>
        <p:sp>
          <p:nvSpPr>
            <p:cNvPr id="152" name="5-конечная звезда 151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3" name="5-конечная звезда 152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4" name="5-конечная звезда 153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5" name="Группа 154"/>
          <p:cNvGrpSpPr/>
          <p:nvPr/>
        </p:nvGrpSpPr>
        <p:grpSpPr>
          <a:xfrm>
            <a:off x="5664239" y="2059026"/>
            <a:ext cx="365246" cy="109788"/>
            <a:chOff x="7472157" y="269324"/>
            <a:chExt cx="365246" cy="148082"/>
          </a:xfrm>
        </p:grpSpPr>
        <p:sp>
          <p:nvSpPr>
            <p:cNvPr id="156" name="5-конечная звезда 15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7" name="5-конечная звезда 15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8" name="Группа 157"/>
          <p:cNvGrpSpPr/>
          <p:nvPr/>
        </p:nvGrpSpPr>
        <p:grpSpPr>
          <a:xfrm>
            <a:off x="5607568" y="5013176"/>
            <a:ext cx="365246" cy="109788"/>
            <a:chOff x="7472157" y="269324"/>
            <a:chExt cx="365246" cy="148082"/>
          </a:xfrm>
        </p:grpSpPr>
        <p:sp>
          <p:nvSpPr>
            <p:cNvPr id="159" name="5-конечная звезда 15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0" name="5-конечная звезда 15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1" name="Группа 160"/>
          <p:cNvGrpSpPr/>
          <p:nvPr/>
        </p:nvGrpSpPr>
        <p:grpSpPr>
          <a:xfrm>
            <a:off x="8355984" y="5007584"/>
            <a:ext cx="365246" cy="109788"/>
            <a:chOff x="7472157" y="269324"/>
            <a:chExt cx="365246" cy="148082"/>
          </a:xfrm>
        </p:grpSpPr>
        <p:sp>
          <p:nvSpPr>
            <p:cNvPr id="162" name="5-конечная звезда 16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3" name="5-конечная звезда 16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64" name="5-конечная звезда 163"/>
          <p:cNvSpPr/>
          <p:nvPr/>
        </p:nvSpPr>
        <p:spPr>
          <a:xfrm>
            <a:off x="5720766" y="5601436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5" name="5-конечная звезда 164"/>
          <p:cNvSpPr/>
          <p:nvPr/>
        </p:nvSpPr>
        <p:spPr>
          <a:xfrm>
            <a:off x="5720766" y="6152585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24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детских стационаров 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606536"/>
              </p:ext>
            </p:extLst>
          </p:nvPr>
        </p:nvGraphicFramePr>
        <p:xfrm>
          <a:off x="0" y="505880"/>
          <a:ext cx="9144000" cy="6352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804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9110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795138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6591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092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Акмолинская</a:t>
                      </a:r>
                      <a:r>
                        <a:rPr lang="ru-RU" sz="105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"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Акмолинская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областная детская больница" при управлении здравоохранения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Акмолинской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43%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69%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07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Актюбинская 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 "Областная детская клиническая больница" Государственное учреждение Управление здравоохранения Актюбинской области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37%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50%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9634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Алматинская</a:t>
                      </a:r>
                      <a:r>
                        <a:rPr lang="ru-RU" sz="105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 "Областная детская больница" государственного учреждения "Управление здравоохранения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Алматинской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области"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Алматинской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59%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66%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6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Атырауская </a:t>
                      </a:r>
                      <a:endParaRPr lang="ru-RU" sz="105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КГП на ПХВ  "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Атырауская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областная детская больница" Управления здравоохранения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Атырауской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43%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65%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707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Жамбылская </a:t>
                      </a:r>
                      <a:endParaRPr lang="ru-RU" sz="105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"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Жамбылская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областная детская больница Управления здравоохранения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Жамбылской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области"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37%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65%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707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smtClean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ЗКО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 "Областная детская многопрофильная больница" Управления здравоохранения </a:t>
                      </a:r>
                      <a:r>
                        <a:rPr lang="ru-RU" sz="105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Западно-Казахстанской области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9309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grpSp>
        <p:nvGrpSpPr>
          <p:cNvPr id="87" name="Группа 86"/>
          <p:cNvGrpSpPr/>
          <p:nvPr/>
        </p:nvGrpSpPr>
        <p:grpSpPr>
          <a:xfrm>
            <a:off x="5350826" y="5973614"/>
            <a:ext cx="806733" cy="109788"/>
            <a:chOff x="4800372" y="271747"/>
            <a:chExt cx="806733" cy="148083"/>
          </a:xfrm>
        </p:grpSpPr>
        <p:sp>
          <p:nvSpPr>
            <p:cNvPr id="88" name="5-конечная звезда 87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9" name="5-конечная звезда 88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5-конечная звезда 89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1" name="5-конечная звезда 90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2" name="Группа 91"/>
          <p:cNvGrpSpPr/>
          <p:nvPr/>
        </p:nvGrpSpPr>
        <p:grpSpPr>
          <a:xfrm>
            <a:off x="8232329" y="2122451"/>
            <a:ext cx="582325" cy="109788"/>
            <a:chOff x="6236568" y="276066"/>
            <a:chExt cx="582325" cy="148083"/>
          </a:xfrm>
        </p:grpSpPr>
        <p:sp>
          <p:nvSpPr>
            <p:cNvPr id="93" name="5-конечная звезда 9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4" name="5-конечная звезда 9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5" name="5-конечная звезда 9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6" name="Группа 95"/>
          <p:cNvGrpSpPr/>
          <p:nvPr/>
        </p:nvGrpSpPr>
        <p:grpSpPr>
          <a:xfrm>
            <a:off x="8235459" y="2864165"/>
            <a:ext cx="582325" cy="109788"/>
            <a:chOff x="6236568" y="276066"/>
            <a:chExt cx="582325" cy="148083"/>
          </a:xfrm>
        </p:grpSpPr>
        <p:sp>
          <p:nvSpPr>
            <p:cNvPr id="97" name="5-конечная звезда 9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8" name="5-конечная звезда 9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9" name="5-конечная звезда 9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2" name="Группа 111"/>
          <p:cNvGrpSpPr/>
          <p:nvPr/>
        </p:nvGrpSpPr>
        <p:grpSpPr>
          <a:xfrm>
            <a:off x="8238589" y="3716516"/>
            <a:ext cx="582325" cy="109788"/>
            <a:chOff x="6236568" y="276066"/>
            <a:chExt cx="582325" cy="148083"/>
          </a:xfrm>
        </p:grpSpPr>
        <p:sp>
          <p:nvSpPr>
            <p:cNvPr id="113" name="5-конечная звезда 11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4" name="5-конечная звезда 11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5" name="5-конечная звезда 11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6" name="Группа 115"/>
          <p:cNvGrpSpPr/>
          <p:nvPr/>
        </p:nvGrpSpPr>
        <p:grpSpPr>
          <a:xfrm>
            <a:off x="8232329" y="4526233"/>
            <a:ext cx="582325" cy="109788"/>
            <a:chOff x="6236568" y="276066"/>
            <a:chExt cx="582325" cy="148083"/>
          </a:xfrm>
        </p:grpSpPr>
        <p:sp>
          <p:nvSpPr>
            <p:cNvPr id="117" name="5-конечная звезда 116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8" name="5-конечная звезда 117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9" name="5-конечная звезда 118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0" name="Группа 119"/>
          <p:cNvGrpSpPr/>
          <p:nvPr/>
        </p:nvGrpSpPr>
        <p:grpSpPr>
          <a:xfrm>
            <a:off x="8242268" y="5201756"/>
            <a:ext cx="582325" cy="109788"/>
            <a:chOff x="6236568" y="276066"/>
            <a:chExt cx="582325" cy="148083"/>
          </a:xfrm>
        </p:grpSpPr>
        <p:sp>
          <p:nvSpPr>
            <p:cNvPr id="121" name="5-конечная звезда 120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2" name="5-конечная звезда 121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3" name="5-конечная звезда 122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4" name="Группа 123"/>
          <p:cNvGrpSpPr/>
          <p:nvPr/>
        </p:nvGrpSpPr>
        <p:grpSpPr>
          <a:xfrm>
            <a:off x="8240750" y="5946575"/>
            <a:ext cx="582325" cy="109788"/>
            <a:chOff x="6236568" y="276066"/>
            <a:chExt cx="582325" cy="148083"/>
          </a:xfrm>
        </p:grpSpPr>
        <p:sp>
          <p:nvSpPr>
            <p:cNvPr id="125" name="5-конечная звезда 124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6" name="5-конечная звезда 125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7" name="5-конечная звезда 126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28" name="Группа 127"/>
          <p:cNvGrpSpPr/>
          <p:nvPr/>
        </p:nvGrpSpPr>
        <p:grpSpPr>
          <a:xfrm>
            <a:off x="5450687" y="3716517"/>
            <a:ext cx="582325" cy="109788"/>
            <a:chOff x="6236568" y="276066"/>
            <a:chExt cx="582325" cy="148083"/>
          </a:xfrm>
        </p:grpSpPr>
        <p:sp>
          <p:nvSpPr>
            <p:cNvPr id="129" name="5-конечная звезда 12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5-конечная звезда 12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1" name="5-конечная звезда 13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2" name="Группа 131"/>
          <p:cNvGrpSpPr/>
          <p:nvPr/>
        </p:nvGrpSpPr>
        <p:grpSpPr>
          <a:xfrm>
            <a:off x="5610177" y="2113892"/>
            <a:ext cx="365246" cy="109788"/>
            <a:chOff x="7472157" y="269324"/>
            <a:chExt cx="365246" cy="148082"/>
          </a:xfrm>
        </p:grpSpPr>
        <p:sp>
          <p:nvSpPr>
            <p:cNvPr id="166" name="5-конечная звезда 165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7" name="5-конечная звезда 166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8" name="Группа 167"/>
          <p:cNvGrpSpPr/>
          <p:nvPr/>
        </p:nvGrpSpPr>
        <p:grpSpPr>
          <a:xfrm>
            <a:off x="5612774" y="2830498"/>
            <a:ext cx="365246" cy="109788"/>
            <a:chOff x="7472157" y="269324"/>
            <a:chExt cx="365246" cy="148082"/>
          </a:xfrm>
        </p:grpSpPr>
        <p:sp>
          <p:nvSpPr>
            <p:cNvPr id="169" name="5-конечная звезда 168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0" name="5-конечная звезда 169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1" name="Группа 170"/>
          <p:cNvGrpSpPr/>
          <p:nvPr/>
        </p:nvGrpSpPr>
        <p:grpSpPr>
          <a:xfrm>
            <a:off x="5574167" y="4480999"/>
            <a:ext cx="365246" cy="109788"/>
            <a:chOff x="7472157" y="269324"/>
            <a:chExt cx="365246" cy="148082"/>
          </a:xfrm>
        </p:grpSpPr>
        <p:sp>
          <p:nvSpPr>
            <p:cNvPr id="172" name="5-конечная звезда 171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3" name="5-конечная звезда 172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4" name="Группа 173"/>
          <p:cNvGrpSpPr/>
          <p:nvPr/>
        </p:nvGrpSpPr>
        <p:grpSpPr>
          <a:xfrm>
            <a:off x="5562357" y="5207874"/>
            <a:ext cx="365246" cy="109788"/>
            <a:chOff x="7472157" y="269324"/>
            <a:chExt cx="365246" cy="148082"/>
          </a:xfrm>
        </p:grpSpPr>
        <p:sp>
          <p:nvSpPr>
            <p:cNvPr id="175" name="5-конечная звезда 174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6" name="5-конечная звезда 175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0558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Итоги распределения звезд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областных детских стационаров </a:t>
            </a:r>
            <a:b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по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итогам </a:t>
            </a:r>
            <a:r>
              <a:rPr lang="ru-RU" sz="14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2017 </a:t>
            </a:r>
            <a:r>
              <a:rPr lang="ru-RU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года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0398563"/>
              </p:ext>
            </p:extLst>
          </p:nvPr>
        </p:nvGraphicFramePr>
        <p:xfrm>
          <a:off x="0" y="519963"/>
          <a:ext cx="9144000" cy="6330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50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85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0820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6335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17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2046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954374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248777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806864">
                <a:tc rowSpan="2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Регион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Наименование медицинской организации</a:t>
                      </a:r>
                    </a:p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показателям менеджмента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Итог расчета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по клиническим показателям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lang="ru-RU" sz="16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26216"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ru-RU" sz="14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КР (%)=ФБ/</a:t>
                      </a:r>
                      <a:r>
                        <a:rPr kumimoji="0" lang="en-US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max </a:t>
                      </a:r>
                      <a:r>
                        <a:rPr kumimoji="0" lang="ru-RU" sz="9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ПБ</a:t>
                      </a:r>
                      <a:endParaRPr kumimoji="0" lang="ru-RU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Звезды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89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Карагандинская 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КГП "Областная детская клиническая больница" управления здравоохранения Карагандинской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380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46%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93%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63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Костанайская</a:t>
                      </a:r>
                      <a:r>
                        <a:rPr lang="ru-RU" sz="1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КГП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Костанайская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областная детская больница"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Костанайской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315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38%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74%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626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Кызылординская </a:t>
                      </a:r>
                      <a:endParaRPr lang="ru-RU" sz="1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ГККП "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Кызылординская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областная детская больница с консультативно-диагностической поликлиникой" управления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Кызылординской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375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45%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57%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172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Мангистауская</a:t>
                      </a:r>
                      <a:r>
                        <a:rPr lang="ru-RU" sz="10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ГКП на ПХВ "Областная детская больница" Управление здравоохранения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Мангистауской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</a:t>
                      </a:r>
                      <a:endParaRPr lang="ru-RU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64%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226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66%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7246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Павлодарская 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КГП на ПХВ  "Павлодарская областная детская больница" управления здравоохранения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Палодарской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области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Павлодарской области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40%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85%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2465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СКО</a:t>
                      </a:r>
                      <a:endParaRPr lang="ru-RU" sz="105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КГП на ПХВ  "Детская областная больница" </a:t>
                      </a:r>
                      <a:r>
                        <a:rPr lang="ru-RU" sz="1050" dirty="0" err="1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акимата</a:t>
                      </a:r>
                      <a:r>
                        <a:rPr lang="ru-RU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Северо-Казахстанской области Управления здравоохранения Северо-Казахстанской области</a:t>
                      </a:r>
                      <a:endParaRPr lang="ru-RU" sz="105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330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40%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88%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941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ЮКО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ГККП "Областная детская больница" УЗ ЮКО</a:t>
                      </a:r>
                      <a:endParaRPr lang="ru-RU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110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b="1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13%</a:t>
                      </a:r>
                      <a:endParaRPr lang="ru-RU" sz="1100" b="1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 smtClean="0"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Times New Roman"/>
                          <a:cs typeface="Arial" pitchFamily="34" charset="0"/>
                        </a:rPr>
                        <a:t>81%</a:t>
                      </a:r>
                      <a:endParaRPr lang="ru-RU" sz="11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85B26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25492">
                <a:tc gridSpan="8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ах ПБ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максимальный пороговый балл, </a:t>
                      </a:r>
                      <a:r>
                        <a:rPr lang="ru-RU" sz="1050" b="1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ФБ-фактический балл, </a:t>
                      </a:r>
                      <a:r>
                        <a:rPr lang="ru-RU" sz="1050" b="1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КР-коэффициент результативности</a:t>
                      </a: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85B2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grpSp>
        <p:nvGrpSpPr>
          <p:cNvPr id="49" name="Группа 48"/>
          <p:cNvGrpSpPr/>
          <p:nvPr/>
        </p:nvGrpSpPr>
        <p:grpSpPr>
          <a:xfrm>
            <a:off x="8122273" y="2639676"/>
            <a:ext cx="806733" cy="109788"/>
            <a:chOff x="4800372" y="271747"/>
            <a:chExt cx="806733" cy="148083"/>
          </a:xfrm>
        </p:grpSpPr>
        <p:sp>
          <p:nvSpPr>
            <p:cNvPr id="50" name="5-конечная звезда 49"/>
            <p:cNvSpPr/>
            <p:nvPr/>
          </p:nvSpPr>
          <p:spPr>
            <a:xfrm>
              <a:off x="4800372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5-конечная звезда 50"/>
            <p:cNvSpPr/>
            <p:nvPr/>
          </p:nvSpPr>
          <p:spPr>
            <a:xfrm>
              <a:off x="5024780" y="271749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5-конечная звезда 51"/>
            <p:cNvSpPr/>
            <p:nvPr/>
          </p:nvSpPr>
          <p:spPr>
            <a:xfrm>
              <a:off x="5247065" y="27174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3" name="5-конечная звезда 52"/>
            <p:cNvSpPr/>
            <p:nvPr/>
          </p:nvSpPr>
          <p:spPr>
            <a:xfrm>
              <a:off x="5463089" y="27174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54" name="Группа 53"/>
          <p:cNvGrpSpPr/>
          <p:nvPr/>
        </p:nvGrpSpPr>
        <p:grpSpPr>
          <a:xfrm>
            <a:off x="7991188" y="6141313"/>
            <a:ext cx="1068903" cy="116437"/>
            <a:chOff x="3405227" y="254701"/>
            <a:chExt cx="1022757" cy="198726"/>
          </a:xfrm>
        </p:grpSpPr>
        <p:sp>
          <p:nvSpPr>
            <p:cNvPr id="55" name="5-конечная звезда 54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6" name="5-конечная звезда 55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5-конечная звезда 56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8" name="5-конечная звезда 57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9" name="5-конечная звезда 58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0" name="Группа 59"/>
          <p:cNvGrpSpPr/>
          <p:nvPr/>
        </p:nvGrpSpPr>
        <p:grpSpPr>
          <a:xfrm>
            <a:off x="7983536" y="5500822"/>
            <a:ext cx="1068903" cy="116437"/>
            <a:chOff x="3405227" y="254701"/>
            <a:chExt cx="1022757" cy="198726"/>
          </a:xfrm>
        </p:grpSpPr>
        <p:sp>
          <p:nvSpPr>
            <p:cNvPr id="61" name="5-конечная звезда 60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2" name="5-конечная звезда 61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3" name="5-конечная звезда 62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4" name="5-конечная звезда 63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5" name="5-конечная звезда 64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66" name="Группа 65"/>
          <p:cNvGrpSpPr/>
          <p:nvPr/>
        </p:nvGrpSpPr>
        <p:grpSpPr>
          <a:xfrm>
            <a:off x="7975884" y="4769057"/>
            <a:ext cx="1068903" cy="116437"/>
            <a:chOff x="3405227" y="254701"/>
            <a:chExt cx="1022757" cy="198726"/>
          </a:xfrm>
        </p:grpSpPr>
        <p:sp>
          <p:nvSpPr>
            <p:cNvPr id="67" name="5-конечная звезда 66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8" name="5-конечная звезда 67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9" name="5-конечная звезда 68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0" name="5-конечная звезда 69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1" name="5-конечная звезда 70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/>
          <p:cNvGrpSpPr/>
          <p:nvPr/>
        </p:nvGrpSpPr>
        <p:grpSpPr>
          <a:xfrm>
            <a:off x="7993784" y="2074638"/>
            <a:ext cx="1068903" cy="116437"/>
            <a:chOff x="3405227" y="254701"/>
            <a:chExt cx="1022757" cy="198726"/>
          </a:xfrm>
        </p:grpSpPr>
        <p:sp>
          <p:nvSpPr>
            <p:cNvPr id="73" name="5-конечная звезда 72"/>
            <p:cNvSpPr/>
            <p:nvPr/>
          </p:nvSpPr>
          <p:spPr>
            <a:xfrm>
              <a:off x="3405227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4" name="5-конечная звезда 73"/>
            <p:cNvSpPr/>
            <p:nvPr/>
          </p:nvSpPr>
          <p:spPr>
            <a:xfrm>
              <a:off x="3629635" y="254703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5" name="5-конечная звезда 74"/>
            <p:cNvSpPr/>
            <p:nvPr/>
          </p:nvSpPr>
          <p:spPr>
            <a:xfrm>
              <a:off x="3851920" y="25470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6" name="5-конечная звезда 75"/>
            <p:cNvSpPr/>
            <p:nvPr/>
          </p:nvSpPr>
          <p:spPr>
            <a:xfrm>
              <a:off x="4067944" y="254701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7" name="5-конечная звезда 76"/>
            <p:cNvSpPr/>
            <p:nvPr/>
          </p:nvSpPr>
          <p:spPr>
            <a:xfrm>
              <a:off x="4283968" y="263692"/>
              <a:ext cx="144016" cy="189735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/>
          <p:cNvGrpSpPr/>
          <p:nvPr/>
        </p:nvGrpSpPr>
        <p:grpSpPr>
          <a:xfrm>
            <a:off x="5526764" y="4113984"/>
            <a:ext cx="582325" cy="109788"/>
            <a:chOff x="6236568" y="276066"/>
            <a:chExt cx="582325" cy="148083"/>
          </a:xfrm>
        </p:grpSpPr>
        <p:sp>
          <p:nvSpPr>
            <p:cNvPr id="79" name="5-конечная звезда 78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0" name="5-конечная звезда 79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1" name="5-конечная звезда 80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2" name="Группа 81"/>
          <p:cNvGrpSpPr/>
          <p:nvPr/>
        </p:nvGrpSpPr>
        <p:grpSpPr>
          <a:xfrm>
            <a:off x="8288051" y="4094117"/>
            <a:ext cx="582325" cy="109788"/>
            <a:chOff x="6236568" y="276066"/>
            <a:chExt cx="582325" cy="148083"/>
          </a:xfrm>
        </p:grpSpPr>
        <p:sp>
          <p:nvSpPr>
            <p:cNvPr id="83" name="5-конечная звезда 82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5-конечная звезда 83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5" name="5-конечная звезда 84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86" name="Группа 85"/>
          <p:cNvGrpSpPr/>
          <p:nvPr/>
        </p:nvGrpSpPr>
        <p:grpSpPr>
          <a:xfrm>
            <a:off x="8266823" y="3376393"/>
            <a:ext cx="582325" cy="109788"/>
            <a:chOff x="6236568" y="276066"/>
            <a:chExt cx="582325" cy="148083"/>
          </a:xfrm>
        </p:grpSpPr>
        <p:sp>
          <p:nvSpPr>
            <p:cNvPr id="100" name="5-конечная звезда 99"/>
            <p:cNvSpPr/>
            <p:nvPr/>
          </p:nvSpPr>
          <p:spPr>
            <a:xfrm>
              <a:off x="6236568" y="276068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5-конечная звезда 100"/>
            <p:cNvSpPr/>
            <p:nvPr/>
          </p:nvSpPr>
          <p:spPr>
            <a:xfrm>
              <a:off x="6458853" y="276067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2" name="5-конечная звезда 101"/>
            <p:cNvSpPr/>
            <p:nvPr/>
          </p:nvSpPr>
          <p:spPr>
            <a:xfrm>
              <a:off x="6674877" y="276066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3" name="Группа 102"/>
          <p:cNvGrpSpPr/>
          <p:nvPr/>
        </p:nvGrpSpPr>
        <p:grpSpPr>
          <a:xfrm>
            <a:off x="5624693" y="5523881"/>
            <a:ext cx="365246" cy="109788"/>
            <a:chOff x="7472157" y="269324"/>
            <a:chExt cx="365246" cy="148082"/>
          </a:xfrm>
        </p:grpSpPr>
        <p:sp>
          <p:nvSpPr>
            <p:cNvPr id="104" name="5-конечная звезда 10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5" name="5-конечная звезда 10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6" name="Группа 105"/>
          <p:cNvGrpSpPr/>
          <p:nvPr/>
        </p:nvGrpSpPr>
        <p:grpSpPr>
          <a:xfrm>
            <a:off x="5638434" y="4775707"/>
            <a:ext cx="365246" cy="109788"/>
            <a:chOff x="7472157" y="269324"/>
            <a:chExt cx="365246" cy="148082"/>
          </a:xfrm>
        </p:grpSpPr>
        <p:sp>
          <p:nvSpPr>
            <p:cNvPr id="107" name="5-конечная звезда 10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8" name="5-конечная звезда 10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9" name="Группа 108"/>
          <p:cNvGrpSpPr/>
          <p:nvPr/>
        </p:nvGrpSpPr>
        <p:grpSpPr>
          <a:xfrm>
            <a:off x="5633718" y="3321500"/>
            <a:ext cx="365246" cy="109788"/>
            <a:chOff x="7472157" y="269324"/>
            <a:chExt cx="365246" cy="148082"/>
          </a:xfrm>
        </p:grpSpPr>
        <p:sp>
          <p:nvSpPr>
            <p:cNvPr id="110" name="5-конечная звезда 109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1" name="5-конечная звезда 110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3" name="Группа 132"/>
          <p:cNvGrpSpPr/>
          <p:nvPr/>
        </p:nvGrpSpPr>
        <p:grpSpPr>
          <a:xfrm>
            <a:off x="5642236" y="2654027"/>
            <a:ext cx="365246" cy="109788"/>
            <a:chOff x="7472157" y="269324"/>
            <a:chExt cx="365246" cy="148082"/>
          </a:xfrm>
        </p:grpSpPr>
        <p:sp>
          <p:nvSpPr>
            <p:cNvPr id="134" name="5-конечная звезда 133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5" name="5-конечная звезда 134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36" name="Группа 135"/>
          <p:cNvGrpSpPr/>
          <p:nvPr/>
        </p:nvGrpSpPr>
        <p:grpSpPr>
          <a:xfrm>
            <a:off x="5652120" y="2132856"/>
            <a:ext cx="365246" cy="109788"/>
            <a:chOff x="7472157" y="269324"/>
            <a:chExt cx="365246" cy="148082"/>
          </a:xfrm>
        </p:grpSpPr>
        <p:sp>
          <p:nvSpPr>
            <p:cNvPr id="137" name="5-конечная звезда 136"/>
            <p:cNvSpPr/>
            <p:nvPr/>
          </p:nvSpPr>
          <p:spPr>
            <a:xfrm>
              <a:off x="7472157" y="269325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8" name="5-конечная звезда 137"/>
            <p:cNvSpPr/>
            <p:nvPr/>
          </p:nvSpPr>
          <p:spPr>
            <a:xfrm>
              <a:off x="7693387" y="269324"/>
              <a:ext cx="144016" cy="148081"/>
            </a:xfrm>
            <a:prstGeom prst="star5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39" name="5-конечная звезда 138"/>
          <p:cNvSpPr/>
          <p:nvPr/>
        </p:nvSpPr>
        <p:spPr>
          <a:xfrm>
            <a:off x="5729334" y="6089744"/>
            <a:ext cx="144016" cy="109788"/>
          </a:xfrm>
          <a:prstGeom prst="star5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77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5764</Words>
  <Application>Microsoft Office PowerPoint</Application>
  <PresentationFormat>Экран (4:3)</PresentationFormat>
  <Paragraphs>1804</Paragraphs>
  <Slides>30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1" baseType="lpstr">
      <vt:lpstr>Тема Office</vt:lpstr>
      <vt:lpstr>РЕСПУБЛИКАНСКИЙ ЦЕНТР РАЗВИТИЯ ЗДРАВООХРАНЕНИЯ МИНИСТЕРСТВА ЗДРАВООХРАНЕНИЯ РЕСПУБЛИКИ КАЗАХСТАН</vt:lpstr>
      <vt:lpstr>Итоги распределения звезд областных стационаров для взрослых по итогам 2017 года</vt:lpstr>
      <vt:lpstr>Итоги распределения звезд областных стационаров для взрослых по итогам 2017 года</vt:lpstr>
      <vt:lpstr>Итоги распределения звезд областных стационаров для взрослых по итогам 2017 года</vt:lpstr>
      <vt:lpstr>Итоги распределения звезд областных стационаров для взрослых по итогам 2017 года</vt:lpstr>
      <vt:lpstr>Итоги распределения звезд областных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стационаров для взрослых по итогам 2017 года</vt:lpstr>
      <vt:lpstr>Итоги распределения звезд городских детских стационаров  по итогам 2017 года</vt:lpstr>
      <vt:lpstr>Итоги распределения звезд городских детских стационаров  по итогам 2017 года</vt:lpstr>
      <vt:lpstr>Итоги распределения звезд областных детских стационаров  по итогам 2017 года</vt:lpstr>
      <vt:lpstr>Итоги распределения звезд областных детских стационаров  по итогам 2017 года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РЕСПУБЛИКАНСКИЙ ЦЕНТР РАЗВИТИЯ ЗДРАВООХРАНЕНИЯ МИНИСТЕРСТВА ЗДРАВООХРАНЕНИЯ РЕСПУБЛИКИ КАЗАХСТАН</dc:title>
  <dc:creator>Елюбаев Асанали Санатович</dc:creator>
  <cp:lastModifiedBy>Елюбаев Асанали Санатович</cp:lastModifiedBy>
  <cp:revision>120</cp:revision>
  <dcterms:created xsi:type="dcterms:W3CDTF">2018-06-05T11:43:03Z</dcterms:created>
  <dcterms:modified xsi:type="dcterms:W3CDTF">2018-07-13T11:27:16Z</dcterms:modified>
</cp:coreProperties>
</file>