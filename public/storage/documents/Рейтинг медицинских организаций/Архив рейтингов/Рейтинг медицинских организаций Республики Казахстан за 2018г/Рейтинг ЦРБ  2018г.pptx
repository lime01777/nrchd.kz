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8" r:id="rId8"/>
    <p:sldId id="269" r:id="rId9"/>
    <p:sldId id="275" r:id="rId10"/>
    <p:sldId id="276" r:id="rId11"/>
    <p:sldId id="270" r:id="rId12"/>
    <p:sldId id="271" r:id="rId13"/>
    <p:sldId id="272" r:id="rId14"/>
    <p:sldId id="273" r:id="rId15"/>
    <p:sldId id="274" r:id="rId16"/>
    <p:sldId id="278" r:id="rId17"/>
    <p:sldId id="279" r:id="rId18"/>
    <p:sldId id="277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08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08.07.2019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827584" y="3153968"/>
            <a:ext cx="7582349" cy="1364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/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РЕЙТИНГОВАЯ ОЦЕНКА ДЕЯТЕЛЬНОСТИ</a:t>
            </a:r>
          </a:p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Центральных районных больниц </a:t>
            </a:r>
          </a:p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 smtClean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по </a:t>
            </a: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итогам </a:t>
            </a:r>
            <a:r>
              <a:rPr lang="ru-RU" sz="2800" b="1" dirty="0" smtClean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2018 </a:t>
            </a: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года</a:t>
            </a:r>
          </a:p>
        </p:txBody>
      </p:sp>
      <p:sp>
        <p:nvSpPr>
          <p:cNvPr id="8" name="красная полоса" descr="Красная полоса"/>
          <p:cNvSpPr>
            <a:spLocks noGrp="1"/>
          </p:cNvSpPr>
          <p:nvPr>
            <p:ph type="ctrTitle"/>
          </p:nvPr>
        </p:nvSpPr>
        <p:spPr>
          <a:xfrm>
            <a:off x="323528" y="215900"/>
            <a:ext cx="8208912" cy="692150"/>
          </a:xfrm>
          <a:prstGeom prst="rect">
            <a:avLst/>
          </a:prstGeom>
          <a:solidFill>
            <a:srgbClr val="188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ru-RU" altLang="ru-RU" sz="1600" b="1" dirty="0">
                <a:solidFill>
                  <a:schemeClr val="bg1"/>
                </a:solidFill>
                <a:latin typeface="Arial" charset="0"/>
              </a:rPr>
              <a:t>РЕСПУБЛИКАНСКИЙ ЦЕНТР РАЗВИТИЯ ЗДРАВООХРАНЕНИЯ</a:t>
            </a:r>
            <a:br>
              <a:rPr lang="ru-RU" altLang="ru-RU" sz="1600" b="1" dirty="0">
                <a:solidFill>
                  <a:schemeClr val="bg1"/>
                </a:solidFill>
                <a:latin typeface="Arial" charset="0"/>
              </a:rPr>
            </a:br>
            <a:r>
              <a:rPr lang="ru-RU" altLang="ru-RU" sz="1600" b="1" dirty="0">
                <a:solidFill>
                  <a:schemeClr val="bg1"/>
                </a:solidFill>
                <a:latin typeface="Arial" charset="0"/>
              </a:rPr>
              <a:t>МИНИСТЕРСТВА ЗДРАВООХРАНЕНИЯ РЕСПУБЛИКИ </a:t>
            </a:r>
            <a:r>
              <a:rPr lang="ru-RU" altLang="ru-RU" sz="1600" b="1" dirty="0" smtClean="0">
                <a:solidFill>
                  <a:schemeClr val="bg1"/>
                </a:solidFill>
                <a:latin typeface="Arial" charset="0"/>
              </a:rPr>
              <a:t>КАЗАХСТАН</a:t>
            </a:r>
            <a:endParaRPr lang="ru-RU" dirty="0"/>
          </a:p>
        </p:txBody>
      </p:sp>
      <p:pic>
        <p:nvPicPr>
          <p:cNvPr id="9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469"/>
          <a:stretch>
            <a:fillRect/>
          </a:stretch>
        </p:blipFill>
        <p:spPr bwMode="auto">
          <a:xfrm>
            <a:off x="88161" y="138119"/>
            <a:ext cx="883439" cy="79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719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22100" y="7665"/>
            <a:ext cx="91218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центральных районных больниц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года</a:t>
            </a:r>
            <a:endParaRPr lang="ru-RU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263628"/>
              </p:ext>
            </p:extLst>
          </p:nvPr>
        </p:nvGraphicFramePr>
        <p:xfrm>
          <a:off x="0" y="547867"/>
          <a:ext cx="9144000" cy="6266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6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3056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77056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=41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234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72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«Аккольская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Акмолинской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46,3%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63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«Астраханская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57,29%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27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Атбасарская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многопрофильная межрайонная больница»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43,9%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85,42%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100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Аршалынская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65,63%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363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Буландынская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8135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Егиндыкольская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59,38%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457810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ах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6295642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8309602" y="2083831"/>
            <a:ext cx="664210" cy="150896"/>
            <a:chOff x="6236568" y="276066"/>
            <a:chExt cx="582325" cy="148083"/>
          </a:xfrm>
        </p:grpSpPr>
        <p:sp>
          <p:nvSpPr>
            <p:cNvPr id="6" name="5-конечная звезда 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5-конечная звезда 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8309602" y="4284772"/>
            <a:ext cx="664210" cy="150896"/>
            <a:chOff x="6236568" y="276066"/>
            <a:chExt cx="582325" cy="148083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8309100" y="2724628"/>
            <a:ext cx="664210" cy="150896"/>
            <a:chOff x="6236568" y="276066"/>
            <a:chExt cx="582325" cy="148083"/>
          </a:xfrm>
        </p:grpSpPr>
        <p:sp>
          <p:nvSpPr>
            <p:cNvPr id="143" name="5-конечная звезда 14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6" name="Группа 145"/>
          <p:cNvGrpSpPr/>
          <p:nvPr/>
        </p:nvGrpSpPr>
        <p:grpSpPr>
          <a:xfrm>
            <a:off x="5240142" y="2060848"/>
            <a:ext cx="365246" cy="173880"/>
            <a:chOff x="7472157" y="269324"/>
            <a:chExt cx="365246" cy="148082"/>
          </a:xfrm>
        </p:grpSpPr>
        <p:sp>
          <p:nvSpPr>
            <p:cNvPr id="147" name="5-конечная звезда 14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197384" y="5070734"/>
            <a:ext cx="829192" cy="145691"/>
            <a:chOff x="4800372" y="271747"/>
            <a:chExt cx="806733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5240142" y="2780928"/>
            <a:ext cx="365246" cy="173880"/>
            <a:chOff x="7472157" y="269324"/>
            <a:chExt cx="365246" cy="148082"/>
          </a:xfrm>
        </p:grpSpPr>
        <p:sp>
          <p:nvSpPr>
            <p:cNvPr id="53" name="5-конечная звезда 5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5-конечная звезда 5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5240142" y="3501008"/>
            <a:ext cx="365246" cy="173880"/>
            <a:chOff x="7472157" y="269324"/>
            <a:chExt cx="365246" cy="148082"/>
          </a:xfrm>
        </p:grpSpPr>
        <p:sp>
          <p:nvSpPr>
            <p:cNvPr id="56" name="5-конечная звезда 5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8" name="Группа 57"/>
          <p:cNvGrpSpPr/>
          <p:nvPr/>
        </p:nvGrpSpPr>
        <p:grpSpPr>
          <a:xfrm>
            <a:off x="8123684" y="3584551"/>
            <a:ext cx="962806" cy="128416"/>
            <a:chOff x="3405227" y="254701"/>
            <a:chExt cx="1022757" cy="198726"/>
          </a:xfrm>
        </p:grpSpPr>
        <p:sp>
          <p:nvSpPr>
            <p:cNvPr id="59" name="5-конечная звезда 5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5240142" y="4261788"/>
            <a:ext cx="365246" cy="173880"/>
            <a:chOff x="7472157" y="269324"/>
            <a:chExt cx="365246" cy="148082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5240142" y="5042546"/>
            <a:ext cx="365246" cy="173880"/>
            <a:chOff x="7472157" y="269324"/>
            <a:chExt cx="365246" cy="148082"/>
          </a:xfrm>
        </p:grpSpPr>
        <p:sp>
          <p:nvSpPr>
            <p:cNvPr id="68" name="5-конечная звезда 6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5-конечная звезда 6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0" name="Группа 69"/>
          <p:cNvGrpSpPr/>
          <p:nvPr/>
        </p:nvGrpSpPr>
        <p:grpSpPr>
          <a:xfrm>
            <a:off x="5240142" y="5774349"/>
            <a:ext cx="365246" cy="173880"/>
            <a:chOff x="7472157" y="269324"/>
            <a:chExt cx="365246" cy="148082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286706" y="5785841"/>
            <a:ext cx="664210" cy="150896"/>
            <a:chOff x="6236568" y="276066"/>
            <a:chExt cx="582325" cy="148083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39893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22100" y="7665"/>
            <a:ext cx="91218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центральных районных больниц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года</a:t>
            </a:r>
            <a:endParaRPr lang="ru-RU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023661"/>
              </p:ext>
            </p:extLst>
          </p:nvPr>
        </p:nvGraphicFramePr>
        <p:xfrm>
          <a:off x="0" y="547867"/>
          <a:ext cx="9144000" cy="6310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240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019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963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89806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=41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331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07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«Больница района Биржан сал» УЗ Акмолинской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59,38%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502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«Ерейментауская ЦРБ» 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Акмолинской области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52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«Есильская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Акмолинской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252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Жаксынская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43,9%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56,25%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502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Жаркаинская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8288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Зерендинская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48,8%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71,8%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46643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6295642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8259820" y="2106474"/>
            <a:ext cx="664210" cy="150896"/>
            <a:chOff x="6236568" y="276066"/>
            <a:chExt cx="582325" cy="148083"/>
          </a:xfrm>
        </p:grpSpPr>
        <p:sp>
          <p:nvSpPr>
            <p:cNvPr id="6" name="5-конечная звезда 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5-конечная звезда 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0" name="Группа 149"/>
          <p:cNvGrpSpPr/>
          <p:nvPr/>
        </p:nvGrpSpPr>
        <p:grpSpPr>
          <a:xfrm>
            <a:off x="8215322" y="4338588"/>
            <a:ext cx="664210" cy="150896"/>
            <a:chOff x="6236568" y="276066"/>
            <a:chExt cx="582325" cy="148083"/>
          </a:xfrm>
        </p:grpSpPr>
        <p:sp>
          <p:nvSpPr>
            <p:cNvPr id="151" name="5-конечная звезда 15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123957" y="2867867"/>
            <a:ext cx="829192" cy="145691"/>
            <a:chOff x="4800372" y="271747"/>
            <a:chExt cx="806733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2" name="Группа 161"/>
          <p:cNvGrpSpPr/>
          <p:nvPr/>
        </p:nvGrpSpPr>
        <p:grpSpPr>
          <a:xfrm>
            <a:off x="8126138" y="5069258"/>
            <a:ext cx="829192" cy="145691"/>
            <a:chOff x="4800372" y="271747"/>
            <a:chExt cx="806733" cy="148083"/>
          </a:xfrm>
        </p:grpSpPr>
        <p:sp>
          <p:nvSpPr>
            <p:cNvPr id="163" name="5-конечная звезда 16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5292678" y="2111139"/>
            <a:ext cx="365246" cy="173880"/>
            <a:chOff x="7472157" y="269324"/>
            <a:chExt cx="365246" cy="148082"/>
          </a:xfrm>
        </p:grpSpPr>
        <p:sp>
          <p:nvSpPr>
            <p:cNvPr id="53" name="5-конечная звезда 5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5-конечная звезда 5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5292678" y="2805775"/>
            <a:ext cx="365246" cy="173880"/>
            <a:chOff x="7472157" y="269324"/>
            <a:chExt cx="365246" cy="148082"/>
          </a:xfrm>
        </p:grpSpPr>
        <p:sp>
          <p:nvSpPr>
            <p:cNvPr id="56" name="5-конечная звезда 5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8" name="Группа 57"/>
          <p:cNvGrpSpPr/>
          <p:nvPr/>
        </p:nvGrpSpPr>
        <p:grpSpPr>
          <a:xfrm>
            <a:off x="8162054" y="3537037"/>
            <a:ext cx="829192" cy="145691"/>
            <a:chOff x="4800372" y="271747"/>
            <a:chExt cx="806733" cy="148083"/>
          </a:xfrm>
        </p:grpSpPr>
        <p:sp>
          <p:nvSpPr>
            <p:cNvPr id="59" name="5-конечная звезда 5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3" name="Группа 62"/>
          <p:cNvGrpSpPr/>
          <p:nvPr/>
        </p:nvGrpSpPr>
        <p:grpSpPr>
          <a:xfrm>
            <a:off x="5289851" y="3530036"/>
            <a:ext cx="365246" cy="173880"/>
            <a:chOff x="7472157" y="269324"/>
            <a:chExt cx="365246" cy="148082"/>
          </a:xfrm>
        </p:grpSpPr>
        <p:sp>
          <p:nvSpPr>
            <p:cNvPr id="64" name="5-конечная звезда 6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5292678" y="4327096"/>
            <a:ext cx="365246" cy="173880"/>
            <a:chOff x="7472157" y="269324"/>
            <a:chExt cx="365246" cy="148082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9" name="5-конечная звезда 68"/>
          <p:cNvSpPr/>
          <p:nvPr/>
        </p:nvSpPr>
        <p:spPr>
          <a:xfrm>
            <a:off x="5408220" y="5124723"/>
            <a:ext cx="141505" cy="17119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0" name="Группа 69"/>
          <p:cNvGrpSpPr/>
          <p:nvPr/>
        </p:nvGrpSpPr>
        <p:grpSpPr>
          <a:xfrm>
            <a:off x="5289851" y="5873979"/>
            <a:ext cx="365246" cy="173880"/>
            <a:chOff x="7472157" y="269324"/>
            <a:chExt cx="365246" cy="148082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136401" y="5902170"/>
            <a:ext cx="829192" cy="145691"/>
            <a:chOff x="4800372" y="271747"/>
            <a:chExt cx="806733" cy="148083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92781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22100" y="7665"/>
            <a:ext cx="91218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центральных районных больниц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года</a:t>
            </a:r>
            <a:endParaRPr lang="ru-RU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796012"/>
              </p:ext>
            </p:extLst>
          </p:nvPr>
        </p:nvGraphicFramePr>
        <p:xfrm>
          <a:off x="0" y="547867"/>
          <a:ext cx="9144000" cy="6310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1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36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042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80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019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963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82548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=41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504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30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«Коргалжинская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Акмолинской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62,5%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525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«Сандыктауская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Акмолинской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425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88,54%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72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«Шортандинская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Акмолинской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43,9%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60,42%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27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Бурабайская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многопрофильная межрайонная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больница»УЗ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46,3%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525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«Целиноградская районная поликлиника»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62,5%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8314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Бурабайская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районная поликлиника»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Акмолинской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60,42%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467872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ах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6295642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8245213" y="2072340"/>
            <a:ext cx="664210" cy="150896"/>
            <a:chOff x="6236568" y="276066"/>
            <a:chExt cx="582325" cy="148083"/>
          </a:xfrm>
        </p:grpSpPr>
        <p:sp>
          <p:nvSpPr>
            <p:cNvPr id="6" name="5-конечная звезда 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5-конечная звезда 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8204548" y="3574491"/>
            <a:ext cx="664210" cy="150896"/>
            <a:chOff x="6236568" y="276066"/>
            <a:chExt cx="582325" cy="148083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0" name="Группа 149"/>
          <p:cNvGrpSpPr/>
          <p:nvPr/>
        </p:nvGrpSpPr>
        <p:grpSpPr>
          <a:xfrm>
            <a:off x="8235556" y="5089440"/>
            <a:ext cx="664210" cy="150896"/>
            <a:chOff x="6236568" y="276066"/>
            <a:chExt cx="582325" cy="148083"/>
          </a:xfrm>
        </p:grpSpPr>
        <p:sp>
          <p:nvSpPr>
            <p:cNvPr id="151" name="5-конечная звезда 15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5449566" y="2082591"/>
            <a:ext cx="365246" cy="173880"/>
            <a:chOff x="7472157" y="269324"/>
            <a:chExt cx="365246" cy="148082"/>
          </a:xfrm>
        </p:grpSpPr>
        <p:sp>
          <p:nvSpPr>
            <p:cNvPr id="53" name="5-конечная звезда 5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5-конечная звезда 5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8041526" y="2852936"/>
            <a:ext cx="962806" cy="128416"/>
            <a:chOff x="3405227" y="254701"/>
            <a:chExt cx="1022757" cy="198726"/>
          </a:xfrm>
        </p:grpSpPr>
        <p:sp>
          <p:nvSpPr>
            <p:cNvPr id="56" name="5-конечная звезда 5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5467037" y="2801662"/>
            <a:ext cx="365246" cy="173880"/>
            <a:chOff x="7472157" y="269324"/>
            <a:chExt cx="365246" cy="148082"/>
          </a:xfrm>
        </p:grpSpPr>
        <p:sp>
          <p:nvSpPr>
            <p:cNvPr id="62" name="5-конечная звезда 6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5457512" y="3551507"/>
            <a:ext cx="365246" cy="173880"/>
            <a:chOff x="7472157" y="269324"/>
            <a:chExt cx="365246" cy="148082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5431701" y="4300192"/>
            <a:ext cx="365246" cy="173880"/>
            <a:chOff x="7472157" y="269324"/>
            <a:chExt cx="365246" cy="148082"/>
          </a:xfrm>
        </p:grpSpPr>
        <p:sp>
          <p:nvSpPr>
            <p:cNvPr id="68" name="5-конечная звезда 6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5-конечная звезда 6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0" name="Группа 69"/>
          <p:cNvGrpSpPr/>
          <p:nvPr/>
        </p:nvGrpSpPr>
        <p:grpSpPr>
          <a:xfrm>
            <a:off x="8208118" y="4278254"/>
            <a:ext cx="664210" cy="150896"/>
            <a:chOff x="6236568" y="276066"/>
            <a:chExt cx="582325" cy="148083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4" name="5-конечная звезда 73"/>
          <p:cNvSpPr/>
          <p:nvPr/>
        </p:nvSpPr>
        <p:spPr>
          <a:xfrm>
            <a:off x="5556701" y="5069144"/>
            <a:ext cx="141505" cy="17119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5-конечная звезда 74"/>
          <p:cNvSpPr/>
          <p:nvPr/>
        </p:nvSpPr>
        <p:spPr>
          <a:xfrm>
            <a:off x="5460023" y="5858505"/>
            <a:ext cx="141505" cy="17119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6" name="Группа 75"/>
          <p:cNvGrpSpPr/>
          <p:nvPr/>
        </p:nvGrpSpPr>
        <p:grpSpPr>
          <a:xfrm>
            <a:off x="8262429" y="5858505"/>
            <a:ext cx="664210" cy="150896"/>
            <a:chOff x="6236568" y="276066"/>
            <a:chExt cx="582325" cy="148083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1981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22100" y="7665"/>
            <a:ext cx="91218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центральных районных больниц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года</a:t>
            </a:r>
            <a:endParaRPr lang="ru-RU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897975"/>
              </p:ext>
            </p:extLst>
          </p:nvPr>
        </p:nvGraphicFramePr>
        <p:xfrm>
          <a:off x="0" y="547867"/>
          <a:ext cx="9144000" cy="6193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1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36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019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960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0612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77056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=41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234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72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Айтекебийская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48,8%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63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Алгинская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27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Байганинская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100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Иргизская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85,4%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66,67%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363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«Каргалинская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51,2%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69,79%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8135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Мартукская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48,8%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457810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ах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6295642"/>
                  </a:ext>
                </a:extLst>
              </a:tr>
            </a:tbl>
          </a:graphicData>
        </a:graphic>
      </p:graphicFrame>
      <p:grpSp>
        <p:nvGrpSpPr>
          <p:cNvPr id="52" name="Группа 51"/>
          <p:cNvGrpSpPr/>
          <p:nvPr/>
        </p:nvGrpSpPr>
        <p:grpSpPr>
          <a:xfrm>
            <a:off x="8254390" y="2087538"/>
            <a:ext cx="664210" cy="150896"/>
            <a:chOff x="6236568" y="276066"/>
            <a:chExt cx="582325" cy="148083"/>
          </a:xfrm>
        </p:grpSpPr>
        <p:sp>
          <p:nvSpPr>
            <p:cNvPr id="53" name="5-конечная звезда 5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5-конечная звезда 5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5-конечная звезда 5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6" name="Группа 55"/>
          <p:cNvGrpSpPr/>
          <p:nvPr/>
        </p:nvGrpSpPr>
        <p:grpSpPr>
          <a:xfrm>
            <a:off x="5551195" y="2075779"/>
            <a:ext cx="365246" cy="173880"/>
            <a:chOff x="7472157" y="269324"/>
            <a:chExt cx="365246" cy="148082"/>
          </a:xfrm>
        </p:grpSpPr>
        <p:sp>
          <p:nvSpPr>
            <p:cNvPr id="57" name="5-конечная звезда 5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9" name="Группа 58"/>
          <p:cNvGrpSpPr/>
          <p:nvPr/>
        </p:nvGrpSpPr>
        <p:grpSpPr>
          <a:xfrm>
            <a:off x="8407442" y="2813720"/>
            <a:ext cx="365246" cy="173880"/>
            <a:chOff x="7472157" y="269324"/>
            <a:chExt cx="365246" cy="148082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2" name="Группа 61"/>
          <p:cNvGrpSpPr/>
          <p:nvPr/>
        </p:nvGrpSpPr>
        <p:grpSpPr>
          <a:xfrm>
            <a:off x="5305861" y="2780928"/>
            <a:ext cx="829192" cy="145691"/>
            <a:chOff x="4800372" y="271747"/>
            <a:chExt cx="806733" cy="148083"/>
          </a:xfrm>
        </p:grpSpPr>
        <p:sp>
          <p:nvSpPr>
            <p:cNvPr id="63" name="5-конечная звезда 6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5-конечная звезда 6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5297504" y="3501008"/>
            <a:ext cx="829192" cy="145691"/>
            <a:chOff x="4800372" y="271747"/>
            <a:chExt cx="806733" cy="148083"/>
          </a:xfrm>
        </p:grpSpPr>
        <p:sp>
          <p:nvSpPr>
            <p:cNvPr id="68" name="5-конечная звезда 6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5-конечная звезда 6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8231442" y="3501010"/>
            <a:ext cx="664210" cy="150896"/>
            <a:chOff x="6236568" y="276066"/>
            <a:chExt cx="582325" cy="148083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5253476" y="4221088"/>
            <a:ext cx="962806" cy="128416"/>
            <a:chOff x="3405227" y="254701"/>
            <a:chExt cx="1022757" cy="198726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2" name="Группа 81"/>
          <p:cNvGrpSpPr/>
          <p:nvPr/>
        </p:nvGrpSpPr>
        <p:grpSpPr>
          <a:xfrm>
            <a:off x="8257960" y="4237123"/>
            <a:ext cx="664210" cy="150896"/>
            <a:chOff x="6236568" y="276066"/>
            <a:chExt cx="582325" cy="148083"/>
          </a:xfrm>
        </p:grpSpPr>
        <p:sp>
          <p:nvSpPr>
            <p:cNvPr id="83" name="5-конечная звезда 8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8230464" y="5017825"/>
            <a:ext cx="664210" cy="150896"/>
            <a:chOff x="6236568" y="276066"/>
            <a:chExt cx="582325" cy="148083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5409667" y="5013176"/>
            <a:ext cx="664210" cy="150896"/>
            <a:chOff x="6236568" y="276066"/>
            <a:chExt cx="582325" cy="148083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5544364" y="5749285"/>
            <a:ext cx="365246" cy="173880"/>
            <a:chOff x="7472157" y="269324"/>
            <a:chExt cx="365246" cy="148082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8403594" y="5768165"/>
            <a:ext cx="365246" cy="173880"/>
            <a:chOff x="7472157" y="269324"/>
            <a:chExt cx="365246" cy="148082"/>
          </a:xfrm>
        </p:grpSpPr>
        <p:sp>
          <p:nvSpPr>
            <p:cNvPr id="98" name="5-конечная звезда 9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7377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494275"/>
              </p:ext>
            </p:extLst>
          </p:nvPr>
        </p:nvGraphicFramePr>
        <p:xfrm>
          <a:off x="19100" y="548680"/>
          <a:ext cx="9124900" cy="619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47565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469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9075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69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Мугалжарская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9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Эмбинская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районная больница» 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66,67%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9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Темирская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65,9%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45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Уилская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9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Кобдинская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99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Хромтауская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 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43,9%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674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Актюбинская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Шалкарская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Актюбинской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56,25%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652953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106" name="Группа 105"/>
          <p:cNvGrpSpPr/>
          <p:nvPr/>
        </p:nvGrpSpPr>
        <p:grpSpPr>
          <a:xfrm>
            <a:off x="5070255" y="2708920"/>
            <a:ext cx="829192" cy="145691"/>
            <a:chOff x="4800372" y="271747"/>
            <a:chExt cx="806733" cy="148083"/>
          </a:xfrm>
        </p:grpSpPr>
        <p:sp>
          <p:nvSpPr>
            <p:cNvPr id="107" name="5-конечная звезда 10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0" name="5-конечная звезда 129"/>
          <p:cNvSpPr/>
          <p:nvPr/>
        </p:nvSpPr>
        <p:spPr>
          <a:xfrm>
            <a:off x="8347540" y="4959456"/>
            <a:ext cx="164267" cy="15089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4" name="Группа 43"/>
          <p:cNvGrpSpPr/>
          <p:nvPr/>
        </p:nvGrpSpPr>
        <p:grpSpPr>
          <a:xfrm>
            <a:off x="5286213" y="2060848"/>
            <a:ext cx="365246" cy="127631"/>
            <a:chOff x="7472157" y="269324"/>
            <a:chExt cx="365246" cy="148082"/>
          </a:xfrm>
        </p:grpSpPr>
        <p:sp>
          <p:nvSpPr>
            <p:cNvPr id="45" name="5-конечная звезда 4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5-конечная звезда 4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9" name="Группа 58"/>
          <p:cNvGrpSpPr/>
          <p:nvPr/>
        </p:nvGrpSpPr>
        <p:grpSpPr>
          <a:xfrm>
            <a:off x="5291276" y="5013176"/>
            <a:ext cx="365246" cy="127631"/>
            <a:chOff x="7472157" y="269324"/>
            <a:chExt cx="365246" cy="148082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8146182" y="2091507"/>
            <a:ext cx="664210" cy="150896"/>
            <a:chOff x="6236568" y="276066"/>
            <a:chExt cx="582325" cy="148083"/>
          </a:xfrm>
        </p:grpSpPr>
        <p:sp>
          <p:nvSpPr>
            <p:cNvPr id="39" name="5-конечная звезда 3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5-конечная звезда 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5-конечная звезда 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/>
          <p:cNvGrpSpPr/>
          <p:nvPr/>
        </p:nvGrpSpPr>
        <p:grpSpPr>
          <a:xfrm>
            <a:off x="8123693" y="2678731"/>
            <a:ext cx="664210" cy="150896"/>
            <a:chOff x="6236568" y="276066"/>
            <a:chExt cx="582325" cy="148083"/>
          </a:xfrm>
        </p:grpSpPr>
        <p:sp>
          <p:nvSpPr>
            <p:cNvPr id="43" name="5-конечная звезда 4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5161224" y="3284984"/>
            <a:ext cx="664210" cy="150896"/>
            <a:chOff x="6236568" y="276066"/>
            <a:chExt cx="582325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8" name="Группа 67"/>
          <p:cNvGrpSpPr/>
          <p:nvPr/>
        </p:nvGrpSpPr>
        <p:grpSpPr>
          <a:xfrm>
            <a:off x="8093998" y="3267669"/>
            <a:ext cx="664210" cy="150896"/>
            <a:chOff x="6236568" y="276066"/>
            <a:chExt cx="582325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5034339" y="3861048"/>
            <a:ext cx="829192" cy="145691"/>
            <a:chOff x="4800372" y="271747"/>
            <a:chExt cx="806733" cy="148083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7" name="Группа 76"/>
          <p:cNvGrpSpPr/>
          <p:nvPr/>
        </p:nvGrpSpPr>
        <p:grpSpPr>
          <a:xfrm>
            <a:off x="8093998" y="3855841"/>
            <a:ext cx="664210" cy="150896"/>
            <a:chOff x="6236568" y="276066"/>
            <a:chExt cx="582325" cy="148083"/>
          </a:xfrm>
        </p:grpSpPr>
        <p:sp>
          <p:nvSpPr>
            <p:cNvPr id="78" name="5-конечная звезда 7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1" name="Группа 80"/>
          <p:cNvGrpSpPr/>
          <p:nvPr/>
        </p:nvGrpSpPr>
        <p:grpSpPr>
          <a:xfrm>
            <a:off x="5161224" y="4365104"/>
            <a:ext cx="664210" cy="150896"/>
            <a:chOff x="6236568" y="276066"/>
            <a:chExt cx="582325" cy="148083"/>
          </a:xfrm>
        </p:grpSpPr>
        <p:sp>
          <p:nvSpPr>
            <p:cNvPr id="82" name="5-конечная звезда 8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015077" y="4440551"/>
            <a:ext cx="829192" cy="145691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5276247" y="5670123"/>
            <a:ext cx="365246" cy="127631"/>
            <a:chOff x="7472157" y="269324"/>
            <a:chExt cx="365246" cy="148082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8061652" y="5670123"/>
            <a:ext cx="664210" cy="150896"/>
            <a:chOff x="6236568" y="276066"/>
            <a:chExt cx="582325" cy="148083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5953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192512"/>
              </p:ext>
            </p:extLst>
          </p:nvPr>
        </p:nvGraphicFramePr>
        <p:xfrm>
          <a:off x="19100" y="548680"/>
          <a:ext cx="9124900" cy="630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93627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677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Аксуская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80,21%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87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Алакольская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87,8%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51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Балхашская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 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69,79%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81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Енбекшиказахская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 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23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022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Кербулакская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85,42%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5739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Коксуская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области"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585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КаратальскаяЦРБ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области"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80,21%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211409"/>
                  </a:ext>
                </a:extLst>
              </a:tr>
              <a:tr h="694601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8124232" y="2558657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210274" y="3112678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5150837" y="2060848"/>
            <a:ext cx="962806" cy="128416"/>
            <a:chOff x="3405227" y="254701"/>
            <a:chExt cx="1022757" cy="198726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5150837" y="2551938"/>
            <a:ext cx="962806" cy="128416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29008" y="3645024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5150837" y="3140968"/>
            <a:ext cx="962806" cy="128416"/>
            <a:chOff x="3405227" y="254701"/>
            <a:chExt cx="1022757" cy="198726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124232" y="2037763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8109526" y="3645022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109526" y="4104077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5198442" y="4077072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5234358" y="4639234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8063349" y="4674322"/>
            <a:ext cx="962806" cy="128416"/>
            <a:chOff x="3405227" y="254701"/>
            <a:chExt cx="1022757" cy="198726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5197966" y="5232824"/>
            <a:ext cx="829192" cy="145691"/>
            <a:chOff x="4800372" y="271747"/>
            <a:chExt cx="806733" cy="148083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8105681" y="5159977"/>
            <a:ext cx="829192" cy="145691"/>
            <a:chOff x="4800372" y="271747"/>
            <a:chExt cx="806733" cy="148083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3" name="Группа 162"/>
          <p:cNvGrpSpPr/>
          <p:nvPr/>
        </p:nvGrpSpPr>
        <p:grpSpPr>
          <a:xfrm>
            <a:off x="5198442" y="5775686"/>
            <a:ext cx="829192" cy="145691"/>
            <a:chOff x="4800372" y="271747"/>
            <a:chExt cx="806733" cy="148083"/>
          </a:xfrm>
        </p:grpSpPr>
        <p:sp>
          <p:nvSpPr>
            <p:cNvPr id="164" name="5-конечная звезда 16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8" name="Группа 167"/>
          <p:cNvGrpSpPr/>
          <p:nvPr/>
        </p:nvGrpSpPr>
        <p:grpSpPr>
          <a:xfrm>
            <a:off x="8122665" y="5775684"/>
            <a:ext cx="829192" cy="145691"/>
            <a:chOff x="4800372" y="271747"/>
            <a:chExt cx="806733" cy="148083"/>
          </a:xfrm>
        </p:grpSpPr>
        <p:sp>
          <p:nvSpPr>
            <p:cNvPr id="169" name="5-конечная звезда 1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6484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936945"/>
              </p:ext>
            </p:extLst>
          </p:nvPr>
        </p:nvGraphicFramePr>
        <p:xfrm>
          <a:off x="19100" y="548680"/>
          <a:ext cx="9124900" cy="6309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86003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763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93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"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Карасайская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65,9%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94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Панфиловская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65,9%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59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Райымбекская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88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Саркандская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30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Талгарская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028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Ескельдинская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5747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«Уйгурская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5858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Илийская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211409"/>
                  </a:ext>
                </a:extLst>
              </a:tr>
              <a:tr h="695544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57" name="Группа 56"/>
          <p:cNvGrpSpPr/>
          <p:nvPr/>
        </p:nvGrpSpPr>
        <p:grpSpPr>
          <a:xfrm>
            <a:off x="5289141" y="2060848"/>
            <a:ext cx="664210" cy="150896"/>
            <a:chOff x="6236568" y="276066"/>
            <a:chExt cx="582325" cy="148083"/>
          </a:xfrm>
        </p:grpSpPr>
        <p:sp>
          <p:nvSpPr>
            <p:cNvPr id="58" name="5-конечная звезда 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5210220" y="3068960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5258033" y="2548471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8135032" y="3559854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8094370" y="3068962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118484" y="2060848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8094370" y="2554357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210220" y="3559852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088457" y="4096144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5210220" y="4023301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178412" y="4581128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8094370" y="4653971"/>
            <a:ext cx="829192" cy="145691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179112" y="5201741"/>
            <a:ext cx="829192" cy="145691"/>
            <a:chOff x="4800372" y="271747"/>
            <a:chExt cx="806733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2" name="Группа 161"/>
          <p:cNvGrpSpPr/>
          <p:nvPr/>
        </p:nvGrpSpPr>
        <p:grpSpPr>
          <a:xfrm>
            <a:off x="8088457" y="5176701"/>
            <a:ext cx="829192" cy="145691"/>
            <a:chOff x="4800372" y="271747"/>
            <a:chExt cx="806733" cy="148083"/>
          </a:xfrm>
        </p:grpSpPr>
        <p:sp>
          <p:nvSpPr>
            <p:cNvPr id="163" name="5-конечная звезда 16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7" name="Группа 166"/>
          <p:cNvGrpSpPr/>
          <p:nvPr/>
        </p:nvGrpSpPr>
        <p:grpSpPr>
          <a:xfrm>
            <a:off x="5159924" y="5728464"/>
            <a:ext cx="829192" cy="145691"/>
            <a:chOff x="4800372" y="271747"/>
            <a:chExt cx="806733" cy="148083"/>
          </a:xfrm>
        </p:grpSpPr>
        <p:sp>
          <p:nvSpPr>
            <p:cNvPr id="168" name="5-конечная звезда 16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2" name="Группа 171"/>
          <p:cNvGrpSpPr/>
          <p:nvPr/>
        </p:nvGrpSpPr>
        <p:grpSpPr>
          <a:xfrm>
            <a:off x="8088457" y="5693763"/>
            <a:ext cx="829192" cy="145691"/>
            <a:chOff x="4800372" y="271747"/>
            <a:chExt cx="806733" cy="148083"/>
          </a:xfrm>
        </p:grpSpPr>
        <p:sp>
          <p:nvSpPr>
            <p:cNvPr id="173" name="5-конечная звезда 17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5" name="5-конечная звезда 17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9833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977229"/>
              </p:ext>
            </p:extLst>
          </p:nvPr>
        </p:nvGraphicFramePr>
        <p:xfrm>
          <a:off x="19100" y="548680"/>
          <a:ext cx="9124900" cy="6264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03754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389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33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Жылыойская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44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Индерская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26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Исатайская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96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Курмангазинская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87,8%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9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Кызылкогинская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 УЗ 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551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Макатская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6344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Махамбетская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Атырауской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76781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21552" y="2701273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5181083" y="2132856"/>
            <a:ext cx="962806" cy="128416"/>
            <a:chOff x="3405227" y="254701"/>
            <a:chExt cx="1022757" cy="198726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21552" y="3356992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5155165" y="3894187"/>
            <a:ext cx="962806" cy="128416"/>
            <a:chOff x="3405227" y="254701"/>
            <a:chExt cx="1022757" cy="198726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102326" y="2161468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8101028" y="3871102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109752" y="2701275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109752" y="3340266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02326" y="4437114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222952" y="4437112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5120229" y="5082748"/>
            <a:ext cx="951321" cy="122607"/>
            <a:chOff x="3405227" y="254701"/>
            <a:chExt cx="1010557" cy="189737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4271768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8101028" y="5059664"/>
            <a:ext cx="829192" cy="145691"/>
            <a:chOff x="4800372" y="271747"/>
            <a:chExt cx="806733" cy="148083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3" name="Группа 162"/>
          <p:cNvGrpSpPr/>
          <p:nvPr/>
        </p:nvGrpSpPr>
        <p:grpSpPr>
          <a:xfrm>
            <a:off x="8101028" y="5626523"/>
            <a:ext cx="829192" cy="145691"/>
            <a:chOff x="4800372" y="271747"/>
            <a:chExt cx="806733" cy="148083"/>
          </a:xfrm>
        </p:grpSpPr>
        <p:sp>
          <p:nvSpPr>
            <p:cNvPr id="164" name="5-конечная звезда 16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8" name="Группа 167"/>
          <p:cNvGrpSpPr/>
          <p:nvPr/>
        </p:nvGrpSpPr>
        <p:grpSpPr>
          <a:xfrm>
            <a:off x="5238577" y="5626521"/>
            <a:ext cx="829192" cy="145691"/>
            <a:chOff x="4800372" y="271747"/>
            <a:chExt cx="806733" cy="148083"/>
          </a:xfrm>
        </p:grpSpPr>
        <p:sp>
          <p:nvSpPr>
            <p:cNvPr id="169" name="5-конечная звезда 1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257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240835"/>
              </p:ext>
            </p:extLst>
          </p:nvPr>
        </p:nvGraphicFramePr>
        <p:xfrm>
          <a:off x="19100" y="548680"/>
          <a:ext cx="9124900" cy="630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21213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055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7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Зыряновского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ВКО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89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«Глубоковская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56,1%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56,25%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7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Зайсанская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85,42%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53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Катон-Карагайская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 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143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Курчумская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66,67%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689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Кокпектинская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6501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Тарбагатайская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78686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8088457" y="3841436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5332969" y="2060848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313724" y="3251744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332969" y="2648189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8049294" y="3286602"/>
            <a:ext cx="962806" cy="128416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34803" y="3827273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8185798" y="4437114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213971" y="2648191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5234803" y="4437112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8217541" y="5614019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125567" y="2060850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5234803" y="5048906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25567" y="5075588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335689" y="5608487"/>
            <a:ext cx="664210" cy="150896"/>
            <a:chOff x="6236568" y="276066"/>
            <a:chExt cx="582325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990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92182"/>
              </p:ext>
            </p:extLst>
          </p:nvPr>
        </p:nvGraphicFramePr>
        <p:xfrm>
          <a:off x="19100" y="548680"/>
          <a:ext cx="9124900" cy="630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99120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1855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27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«Уланская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28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Шемонаихинская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63,4%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9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Абайская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2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Аягозская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центральная районная больница» 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85,4%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Бескарагайская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82,9%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061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Бородулихинская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58,33%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5785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Жарминская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70,83%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589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Урджарская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ВКО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70,83%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211409"/>
                  </a:ext>
                </a:extLst>
              </a:tr>
              <a:tr h="70010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57" name="Группа 56"/>
          <p:cNvGrpSpPr/>
          <p:nvPr/>
        </p:nvGrpSpPr>
        <p:grpSpPr>
          <a:xfrm>
            <a:off x="5309956" y="1988840"/>
            <a:ext cx="664210" cy="150896"/>
            <a:chOff x="6236568" y="276066"/>
            <a:chExt cx="582325" cy="148083"/>
          </a:xfrm>
        </p:grpSpPr>
        <p:sp>
          <p:nvSpPr>
            <p:cNvPr id="58" name="5-конечная звезда 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8109052" y="2008625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5289141" y="2471124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8217750" y="3545038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313526" y="4581128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205884" y="2482390"/>
            <a:ext cx="664210" cy="150896"/>
            <a:chOff x="6236568" y="276066"/>
            <a:chExt cx="582325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43620" y="3009493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5164228" y="3539228"/>
            <a:ext cx="962806" cy="128416"/>
            <a:chOff x="3405227" y="254701"/>
            <a:chExt cx="1022757" cy="198726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118484" y="4093833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243620" y="4017581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109052" y="3045488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117141" y="4599621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09052" y="5085186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234605" y="5085184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8117141" y="5717385"/>
            <a:ext cx="829192" cy="145691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230055" y="5717890"/>
            <a:ext cx="829192" cy="145691"/>
            <a:chOff x="4800372" y="271747"/>
            <a:chExt cx="806733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217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799858"/>
              </p:ext>
            </p:extLst>
          </p:nvPr>
        </p:nvGraphicFramePr>
        <p:xfrm>
          <a:off x="19100" y="548680"/>
          <a:ext cx="9124900" cy="6221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68336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1380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68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Байзакского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81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87,8%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60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Жуалынского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782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Кордайская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62,5%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018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Меркенского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102690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41147" y="2204864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218499" y="2175727"/>
            <a:ext cx="664210" cy="150896"/>
            <a:chOff x="6236568" y="276066"/>
            <a:chExt cx="582325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5160658" y="3004582"/>
            <a:ext cx="962806" cy="128416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41147" y="3797926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218499" y="4513725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091614" y="2926810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8103585" y="3797924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8217917" y="5223156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234358" y="4505044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5234358" y="5301208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7088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036395"/>
              </p:ext>
            </p:extLst>
          </p:nvPr>
        </p:nvGraphicFramePr>
        <p:xfrm>
          <a:off x="19100" y="548680"/>
          <a:ext cx="9124900" cy="626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68412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   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051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75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Мойынкумского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области"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71,8%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22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 «ЦРБ района им.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Т.Рыскулова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95,83%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962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Сарысуского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3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на ПХВ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Таласского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области"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921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«Шуйская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Жамбылской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87,5%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1014509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52425" y="2276872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8057780" y="3057470"/>
            <a:ext cx="962806" cy="128416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52425" y="3008239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5245562" y="5312544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252425" y="3864487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8213971" y="3789040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8" name="Группа 67"/>
          <p:cNvGrpSpPr/>
          <p:nvPr/>
        </p:nvGrpSpPr>
        <p:grpSpPr>
          <a:xfrm>
            <a:off x="8124587" y="2264464"/>
            <a:ext cx="829192" cy="145691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43704" y="4509120"/>
            <a:ext cx="829192" cy="145691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5287379" y="4556899"/>
            <a:ext cx="829192" cy="145691"/>
            <a:chOff x="4800372" y="271747"/>
            <a:chExt cx="806733" cy="148083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8068243" y="5321182"/>
            <a:ext cx="962806" cy="128416"/>
            <a:chOff x="3405227" y="254701"/>
            <a:chExt cx="1022757" cy="198726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13166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137930"/>
              </p:ext>
            </p:extLst>
          </p:nvPr>
        </p:nvGraphicFramePr>
        <p:xfrm>
          <a:off x="19100" y="548680"/>
          <a:ext cx="9124900" cy="630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4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61967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17868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191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89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Акжайкская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70,83%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1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Бокейординская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69,79%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21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Бурлинская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66,67%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108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Джангалинская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78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Жанибекская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6283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Зеленовская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869088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4738707" y="2276036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4827991" y="2949845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8044111" y="3569578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4831561" y="4221088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4737896" y="3645024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7966744" y="4251548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4752640" y="4869160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4831561" y="5558344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7966529" y="2276034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040541" y="2949847"/>
            <a:ext cx="664210" cy="150896"/>
            <a:chOff x="6236568" y="276066"/>
            <a:chExt cx="582325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7966744" y="4911769"/>
            <a:ext cx="829192" cy="145691"/>
            <a:chOff x="4800372" y="271747"/>
            <a:chExt cx="806733" cy="148083"/>
          </a:xfrm>
        </p:grpSpPr>
        <p:sp>
          <p:nvSpPr>
            <p:cNvPr id="98" name="5-конечная звезда 9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7961620" y="5549923"/>
            <a:ext cx="829192" cy="145691"/>
            <a:chOff x="4800372" y="271747"/>
            <a:chExt cx="806733" cy="148083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0252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999421"/>
              </p:ext>
            </p:extLst>
          </p:nvPr>
        </p:nvGraphicFramePr>
        <p:xfrm>
          <a:off x="19100" y="548680"/>
          <a:ext cx="9124900" cy="6192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4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69168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32082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976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73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ГКПна ПХВ «Казталовская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82,29%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0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Каратобинская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09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Сырымская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186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Таскалинская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873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ГКПна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Теректинская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86,46%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6364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ЗКО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ПХВ»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Чингирлауская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ЗКО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73,96%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88023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4902197" y="2132856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4950409" y="2791124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7854418" y="2802363"/>
            <a:ext cx="962806" cy="128416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7960086" y="2132854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7854418" y="4732944"/>
            <a:ext cx="962806" cy="128416"/>
            <a:chOff x="3405227" y="254701"/>
            <a:chExt cx="1022757" cy="198726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4857402" y="4106869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4857402" y="3457165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7960086" y="3457163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7928118" y="4106871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4857402" y="4797152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4857402" y="5445224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7893543" y="5403310"/>
            <a:ext cx="829192" cy="145691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51288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056688"/>
              </p:ext>
            </p:extLst>
          </p:nvPr>
        </p:nvGraphicFramePr>
        <p:xfrm>
          <a:off x="19100" y="548680"/>
          <a:ext cx="9124900" cy="6561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09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61967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69890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434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90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«Центральная больница г.Абая»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36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Абайского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014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Актогайского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50%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957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Бухар-Жырауского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66,67%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604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ЖанаАркинского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56,25%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1016460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7970459" y="2282077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5123142" y="2276872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126712" y="4725144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055572" y="3032816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7987416" y="3927849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7987416" y="4725142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7970459" y="3032818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055465" y="3933056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7970459" y="5603462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044221" y="5615587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6222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929457"/>
              </p:ext>
            </p:extLst>
          </p:nvPr>
        </p:nvGraphicFramePr>
        <p:xfrm>
          <a:off x="19100" y="548680"/>
          <a:ext cx="9124900" cy="6309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655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614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41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Каркаралинского района»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79,17%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88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Нуринского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31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Осакаровского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76%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92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Улытауского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72,92%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98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Карагандинская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«ЦРБ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Шетского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Карагандинской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64,58%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1023284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8118484" y="2204028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318431" y="4581128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27465" y="3022597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5227465" y="3861048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239510" y="5301208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8222152" y="5317986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239510" y="2276872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110152" y="3022595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18484" y="3861050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8110152" y="4586333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0361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135280"/>
              </p:ext>
            </p:extLst>
          </p:nvPr>
        </p:nvGraphicFramePr>
        <p:xfrm>
          <a:off x="19100" y="548680"/>
          <a:ext cx="9124900" cy="6309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5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41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93627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677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«Алтынсаринская ЦРБ»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 Костанайской области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51,2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77,08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87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Амангельдинская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51,2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29,17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5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ГКП на ПХВ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Аулиекольская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68,3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45,83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81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Денисовская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78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47,92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23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Жангельдинская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41,67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022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Житикаринская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73,2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45,83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5739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Камыстинская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51,2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29,17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5850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«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Карабалыкская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ЦРБ»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УЗ </a:t>
                      </a:r>
                      <a:r>
                        <a:rPr lang="ru-RU" sz="105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Костанайской</a:t>
                      </a:r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области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51,2</a:t>
                      </a: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29,17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211409"/>
                  </a:ext>
                </a:extLst>
              </a:tr>
              <a:tr h="69460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ах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57" name="Группа 56"/>
          <p:cNvGrpSpPr/>
          <p:nvPr/>
        </p:nvGrpSpPr>
        <p:grpSpPr>
          <a:xfrm>
            <a:off x="5289339" y="2060848"/>
            <a:ext cx="664210" cy="150896"/>
            <a:chOff x="6236568" y="276066"/>
            <a:chExt cx="582325" cy="148083"/>
          </a:xfrm>
        </p:grpSpPr>
        <p:sp>
          <p:nvSpPr>
            <p:cNvPr id="58" name="5-конечная звезда 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8099171" y="2060848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5289141" y="2552741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5284232" y="3116118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5" name="5-конечная звезда 64"/>
          <p:cNvSpPr/>
          <p:nvPr/>
        </p:nvSpPr>
        <p:spPr>
          <a:xfrm>
            <a:off x="8492612" y="2552744"/>
            <a:ext cx="164267" cy="15089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2" name="Группа 71"/>
          <p:cNvGrpSpPr/>
          <p:nvPr/>
        </p:nvGrpSpPr>
        <p:grpSpPr>
          <a:xfrm>
            <a:off x="8432653" y="3144409"/>
            <a:ext cx="346828" cy="122605"/>
            <a:chOff x="3405227" y="254703"/>
            <a:chExt cx="368424" cy="189735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10220" y="3645024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8410479" y="3639818"/>
            <a:ext cx="417809" cy="150895"/>
            <a:chOff x="6236568" y="276067"/>
            <a:chExt cx="366301" cy="148082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4" name="5-конечная звезда 143"/>
          <p:cNvSpPr/>
          <p:nvPr/>
        </p:nvSpPr>
        <p:spPr>
          <a:xfrm>
            <a:off x="8495882" y="5191795"/>
            <a:ext cx="148025" cy="145689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4" name="5-конечная звезда 153"/>
          <p:cNvSpPr/>
          <p:nvPr/>
        </p:nvSpPr>
        <p:spPr>
          <a:xfrm>
            <a:off x="8480096" y="5785006"/>
            <a:ext cx="164267" cy="15089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4" name="Группа 83"/>
          <p:cNvGrpSpPr/>
          <p:nvPr/>
        </p:nvGrpSpPr>
        <p:grpSpPr>
          <a:xfrm>
            <a:off x="8421026" y="4152518"/>
            <a:ext cx="417809" cy="150895"/>
            <a:chOff x="6236568" y="276067"/>
            <a:chExt cx="366301" cy="148082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8429946" y="4644801"/>
            <a:ext cx="417809" cy="150895"/>
            <a:chOff x="6236568" y="276067"/>
            <a:chExt cx="366301" cy="148082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5358245" y="5811690"/>
            <a:ext cx="664210" cy="150896"/>
            <a:chOff x="6236568" y="276066"/>
            <a:chExt cx="582325" cy="148083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5337244" y="5186588"/>
            <a:ext cx="664210" cy="150896"/>
            <a:chOff x="6236568" y="276066"/>
            <a:chExt cx="582325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5215062" y="4644802"/>
            <a:ext cx="829192" cy="145691"/>
            <a:chOff x="4800372" y="271747"/>
            <a:chExt cx="806733" cy="148083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5210220" y="4152518"/>
            <a:ext cx="829192" cy="145691"/>
            <a:chOff x="4800372" y="271747"/>
            <a:chExt cx="806733" cy="148083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7763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0295497"/>
              </p:ext>
            </p:extLst>
          </p:nvPr>
        </p:nvGraphicFramePr>
        <p:xfrm>
          <a:off x="19100" y="548680"/>
          <a:ext cx="9124900" cy="6588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928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47565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04056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809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5967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Карасуская</a:t>
                      </a:r>
                      <a:r>
                        <a:rPr lang="ru-RU" sz="105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</a:p>
                    <a:p>
                      <a:pPr marL="0" marR="0" indent="0" algn="ctr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63,4%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659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</a:t>
                      </a: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70,7%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41,7%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69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 smtClean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Мендыкаринская</a:t>
                      </a: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56,1%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42,7%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48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 smtClean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Наурзумская</a:t>
                      </a: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51,2%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52,1%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26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 smtClean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Сарыкольская</a:t>
                      </a: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68,3%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60,4%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17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 smtClean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Тарановская</a:t>
                      </a: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63,4%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479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 smtClean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Узункольская</a:t>
                      </a: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43,9%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6262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err="1" smtClean="0">
                          <a:effectLst/>
                          <a:latin typeface="Times New Roman" pitchFamily="18" charset="0"/>
                          <a:ea typeface="Times New Roman" panose="02020603050405020304" pitchFamily="18" charset="0"/>
                          <a:cs typeface="Times New Roman" pitchFamily="18" charset="0"/>
                        </a:rPr>
                        <a:t>Костанайская</a:t>
                      </a:r>
                      <a:endParaRPr lang="ru-RU" sz="1050" dirty="0" smtClean="0"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КГП "Федоровская ЦРБ" </a:t>
                      </a:r>
                      <a:r>
                        <a:rPr lang="ru-RU" sz="105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УЗаКО</a:t>
                      </a:r>
                      <a:endParaRPr lang="ru-RU" sz="105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72,9%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757920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ах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57" name="Группа 56"/>
          <p:cNvGrpSpPr/>
          <p:nvPr/>
        </p:nvGrpSpPr>
        <p:grpSpPr>
          <a:xfrm>
            <a:off x="5089589" y="1988840"/>
            <a:ext cx="664210" cy="150896"/>
            <a:chOff x="6236568" y="276066"/>
            <a:chExt cx="582325" cy="148083"/>
          </a:xfrm>
        </p:grpSpPr>
        <p:sp>
          <p:nvSpPr>
            <p:cNvPr id="58" name="5-конечная звезда 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4960894" y="2537415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5093159" y="3068960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093121" y="4292401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093159" y="3714092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5093159" y="4847277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6" name="5-конечная звезда 105"/>
          <p:cNvSpPr/>
          <p:nvPr/>
        </p:nvSpPr>
        <p:spPr>
          <a:xfrm>
            <a:off x="8406626" y="1988843"/>
            <a:ext cx="164267" cy="15089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3" name="Группа 142"/>
          <p:cNvGrpSpPr/>
          <p:nvPr/>
        </p:nvGrpSpPr>
        <p:grpSpPr>
          <a:xfrm>
            <a:off x="8164634" y="3681947"/>
            <a:ext cx="607154" cy="145690"/>
            <a:chOff x="4800372" y="271748"/>
            <a:chExt cx="590709" cy="148082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033362" y="6001336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5191549" y="5395189"/>
            <a:ext cx="417809" cy="150895"/>
            <a:chOff x="6236568" y="276067"/>
            <a:chExt cx="366301" cy="148082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5093159" y="5943343"/>
            <a:ext cx="664210" cy="150896"/>
            <a:chOff x="6236568" y="276066"/>
            <a:chExt cx="582325" cy="148083"/>
          </a:xfrm>
        </p:grpSpPr>
        <p:sp>
          <p:nvSpPr>
            <p:cNvPr id="98" name="5-конечная звезда 9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164634" y="4275293"/>
            <a:ext cx="607154" cy="145690"/>
            <a:chOff x="4800372" y="271748"/>
            <a:chExt cx="590709" cy="148082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6" name="5-конечная звезда 125"/>
          <p:cNvSpPr/>
          <p:nvPr/>
        </p:nvSpPr>
        <p:spPr>
          <a:xfrm>
            <a:off x="8387167" y="4847279"/>
            <a:ext cx="164267" cy="15089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7" name="Группа 126"/>
          <p:cNvGrpSpPr/>
          <p:nvPr/>
        </p:nvGrpSpPr>
        <p:grpSpPr>
          <a:xfrm>
            <a:off x="8261835" y="5395190"/>
            <a:ext cx="378681" cy="145689"/>
            <a:chOff x="4800372" y="271749"/>
            <a:chExt cx="368424" cy="148081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5" name="Группа 134"/>
          <p:cNvGrpSpPr/>
          <p:nvPr/>
        </p:nvGrpSpPr>
        <p:grpSpPr>
          <a:xfrm>
            <a:off x="8261835" y="3098221"/>
            <a:ext cx="378681" cy="145689"/>
            <a:chOff x="4800372" y="271749"/>
            <a:chExt cx="368424" cy="148081"/>
          </a:xfrm>
        </p:grpSpPr>
        <p:sp>
          <p:nvSpPr>
            <p:cNvPr id="140" name="5-конечная звезда 13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261835" y="2537417"/>
            <a:ext cx="378681" cy="145689"/>
            <a:chOff x="4800372" y="271749"/>
            <a:chExt cx="368424" cy="148081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77209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185734"/>
              </p:ext>
            </p:extLst>
          </p:nvPr>
        </p:nvGraphicFramePr>
        <p:xfrm>
          <a:off x="19100" y="548680"/>
          <a:ext cx="9124900" cy="6192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4210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290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971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Кызылординская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КГП  на ПХВ "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Аральская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ЦРБ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с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АПП "УЗ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Кызылординской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области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87,8%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188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Кызылординская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КГП  на ПХВ "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Казалинская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ЦРБ с АПП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"УЗ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Кызылординской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области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90,2%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68,8%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190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Кызылординская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КГП  на ПХВ "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Кармакчинская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ЦРБ с АПП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"УЗ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Кызылординской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области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70,7%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269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Кызылординская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ГККП "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Жалагашская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ЦРБ с АПП"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УЗ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Кызылординской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области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81,3%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584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Кызылординская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КГП на ПХВ "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Сырдаринская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ЦРБ с АПП"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УЗ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Кызылординской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области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65,9%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47,9%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60971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Кызылординская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КГП  на ПХВ "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Шиелииская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ЦРБ с АПП" 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УЗ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Кызылординской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области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80,5%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62,5%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843291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ах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66458" y="5519833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197405" y="5517232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331346" y="4835828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5198298" y="2341498"/>
            <a:ext cx="962806" cy="128416"/>
            <a:chOff x="3405227" y="254701"/>
            <a:chExt cx="1022757" cy="198726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52425" y="4280529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324175" y="4911274"/>
            <a:ext cx="417809" cy="150895"/>
            <a:chOff x="6236568" y="276067"/>
            <a:chExt cx="366301" cy="148082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198298" y="2932792"/>
            <a:ext cx="962806" cy="128416"/>
            <a:chOff x="3405227" y="254701"/>
            <a:chExt cx="1022757" cy="198726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5271998" y="3645024"/>
            <a:ext cx="829192" cy="145691"/>
            <a:chOff x="4800372" y="271747"/>
            <a:chExt cx="806733" cy="148083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8118484" y="4280527"/>
            <a:ext cx="829192" cy="145691"/>
            <a:chOff x="4800372" y="271747"/>
            <a:chExt cx="806733" cy="148083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5" name="Группа 124"/>
          <p:cNvGrpSpPr/>
          <p:nvPr/>
        </p:nvGrpSpPr>
        <p:grpSpPr>
          <a:xfrm>
            <a:off x="8118484" y="3645474"/>
            <a:ext cx="829192" cy="145691"/>
            <a:chOff x="4800372" y="271747"/>
            <a:chExt cx="806733" cy="148083"/>
          </a:xfrm>
        </p:grpSpPr>
        <p:sp>
          <p:nvSpPr>
            <p:cNvPr id="126" name="5-конечная звезда 12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8197405" y="2979950"/>
            <a:ext cx="664210" cy="150896"/>
            <a:chOff x="6236568" y="276066"/>
            <a:chExt cx="582325" cy="148083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118484" y="2324223"/>
            <a:ext cx="829192" cy="145691"/>
            <a:chOff x="4800372" y="271747"/>
            <a:chExt cx="806733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7141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639797"/>
              </p:ext>
            </p:extLst>
          </p:nvPr>
        </p:nvGraphicFramePr>
        <p:xfrm>
          <a:off x="19100" y="548680"/>
          <a:ext cx="9124900" cy="626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93228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3228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26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Мангистауская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Бейнеуская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75,6%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35,4%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738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Мангистауская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Каракиянская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78,0%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45,8%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16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Мангистауская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Мунайлинская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65,9%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52,1%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78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Мангистауская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Мангистауская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65,9%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64,6%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974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Мангистауская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Тупкараганская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70,7%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58,3%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1021308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ах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sz="11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27465" y="3008241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8213024" y="3865468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331346" y="3791239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339789" y="2983080"/>
            <a:ext cx="417809" cy="150895"/>
            <a:chOff x="6236568" y="276067"/>
            <a:chExt cx="366301" cy="148082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8220164" y="4581126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216594" y="5301210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5227465" y="2204864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227465" y="5301208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331346" y="4581128"/>
            <a:ext cx="664210" cy="150896"/>
            <a:chOff x="6236568" y="276066"/>
            <a:chExt cx="582325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8377295" y="2204866"/>
            <a:ext cx="417809" cy="150895"/>
            <a:chOff x="6236568" y="276067"/>
            <a:chExt cx="366301" cy="148082"/>
          </a:xfrm>
        </p:grpSpPr>
        <p:sp>
          <p:nvSpPr>
            <p:cNvPr id="92" name="5-конечная звезда 9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1415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410960"/>
              </p:ext>
            </p:extLst>
          </p:nvPr>
        </p:nvGraphicFramePr>
        <p:xfrm>
          <a:off x="19100" y="548680"/>
          <a:ext cx="9124900" cy="633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48072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05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46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Актогайская</a:t>
                      </a: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82,9%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46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ПХВ"Баянаульская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939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</a:t>
                      </a: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ПХВ"Железинская</a:t>
                      </a: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ЦРБ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70,7%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80,2%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09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КГП 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ПХВ"Иртышская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больница»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61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 "Больница района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Тереңкөл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90,2%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50%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67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ПХВ"Больница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района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Аққулы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 </a:t>
                      </a: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73,2%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4692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ПХВ"Майская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97,6%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5362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"Успенская центральная районная больница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242220"/>
                  </a:ext>
                </a:extLst>
              </a:tr>
              <a:tr h="54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Павлодарская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ПХВ"Щербактинская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78%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81,3%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211409"/>
                  </a:ext>
                </a:extLst>
              </a:tr>
              <a:tr h="648982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ах</a:t>
                      </a: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87379" y="2397456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8197405" y="3866685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5185618" y="3866685"/>
            <a:ext cx="962806" cy="128416"/>
            <a:chOff x="3405227" y="254701"/>
            <a:chExt cx="1022757" cy="198726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284066" y="1916832"/>
            <a:ext cx="829192" cy="145691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5160658" y="4847279"/>
            <a:ext cx="962806" cy="128416"/>
            <a:chOff x="3405227" y="254701"/>
            <a:chExt cx="1022757" cy="198726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099171" y="5324948"/>
            <a:ext cx="829192" cy="145691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248150" y="5324950"/>
            <a:ext cx="829192" cy="145691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124587" y="1916830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124587" y="2397458"/>
            <a:ext cx="829192" cy="145691"/>
            <a:chOff x="4800372" y="271747"/>
            <a:chExt cx="806733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29241" y="2852936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284066" y="2908337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5284066" y="3356992"/>
            <a:ext cx="829192" cy="145691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129241" y="3393340"/>
            <a:ext cx="829192" cy="145691"/>
            <a:chOff x="4800372" y="271747"/>
            <a:chExt cx="806733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2" name="Группа 161"/>
          <p:cNvGrpSpPr/>
          <p:nvPr/>
        </p:nvGrpSpPr>
        <p:grpSpPr>
          <a:xfrm>
            <a:off x="8129241" y="4365104"/>
            <a:ext cx="829192" cy="145691"/>
            <a:chOff x="4800372" y="271747"/>
            <a:chExt cx="806733" cy="148083"/>
          </a:xfrm>
        </p:grpSpPr>
        <p:sp>
          <p:nvSpPr>
            <p:cNvPr id="163" name="5-конечная звезда 16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7" name="Группа 166"/>
          <p:cNvGrpSpPr/>
          <p:nvPr/>
        </p:nvGrpSpPr>
        <p:grpSpPr>
          <a:xfrm>
            <a:off x="8129241" y="4806751"/>
            <a:ext cx="829192" cy="145691"/>
            <a:chOff x="4800372" y="271747"/>
            <a:chExt cx="806733" cy="148083"/>
          </a:xfrm>
        </p:grpSpPr>
        <p:sp>
          <p:nvSpPr>
            <p:cNvPr id="168" name="5-конечная звезда 16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2" name="Группа 171"/>
          <p:cNvGrpSpPr/>
          <p:nvPr/>
        </p:nvGrpSpPr>
        <p:grpSpPr>
          <a:xfrm>
            <a:off x="5284066" y="4365106"/>
            <a:ext cx="829192" cy="145691"/>
            <a:chOff x="4800372" y="271747"/>
            <a:chExt cx="806733" cy="148083"/>
          </a:xfrm>
        </p:grpSpPr>
        <p:sp>
          <p:nvSpPr>
            <p:cNvPr id="173" name="5-конечная звезда 17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5" name="5-конечная звезда 17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7" name="Группа 176"/>
          <p:cNvGrpSpPr/>
          <p:nvPr/>
        </p:nvGrpSpPr>
        <p:grpSpPr>
          <a:xfrm>
            <a:off x="5213366" y="5883792"/>
            <a:ext cx="829192" cy="145691"/>
            <a:chOff x="4800372" y="271747"/>
            <a:chExt cx="806733" cy="148083"/>
          </a:xfrm>
        </p:grpSpPr>
        <p:sp>
          <p:nvSpPr>
            <p:cNvPr id="178" name="5-конечная звезда 17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9" name="5-конечная звезда 17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5-конечная звезда 17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2" name="Группа 181"/>
          <p:cNvGrpSpPr/>
          <p:nvPr/>
        </p:nvGrpSpPr>
        <p:grpSpPr>
          <a:xfrm>
            <a:off x="8099171" y="5890436"/>
            <a:ext cx="829192" cy="145691"/>
            <a:chOff x="4800372" y="271747"/>
            <a:chExt cx="806733" cy="148083"/>
          </a:xfrm>
        </p:grpSpPr>
        <p:sp>
          <p:nvSpPr>
            <p:cNvPr id="183" name="5-конечная звезда 18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5" name="5-конечная звезда 18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0676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179552"/>
              </p:ext>
            </p:extLst>
          </p:nvPr>
        </p:nvGraphicFramePr>
        <p:xfrm>
          <a:off x="19100" y="548680"/>
          <a:ext cx="9124900" cy="634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7326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462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82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Айыртауская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ЦРБ«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230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56,1%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82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Акжарская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73,2%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894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Аккайынская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71,1%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66,7%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77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Явленская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63,4%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63,5%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42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Жамбылская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58,5%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77,1%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046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"ЦРБ района </a:t>
                      </a: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М.Жумабаева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61,0%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54,2%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598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200000"/>
                        </a:lnSpc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Кызылжарская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65,8%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60,4%</a:t>
                      </a:r>
                      <a:endParaRPr lang="ru-RU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774355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ах</a:t>
                      </a: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394068" y="2204865"/>
            <a:ext cx="607154" cy="145690"/>
            <a:chOff x="4800372" y="271748"/>
            <a:chExt cx="590709" cy="148082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378348" y="3931391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411090" y="4510793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098674" y="2175238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29241" y="2718377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284066" y="2707103"/>
            <a:ext cx="829192" cy="145691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5284066" y="3320493"/>
            <a:ext cx="829192" cy="145691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7" name="Группа 166"/>
          <p:cNvGrpSpPr/>
          <p:nvPr/>
        </p:nvGrpSpPr>
        <p:grpSpPr>
          <a:xfrm>
            <a:off x="8099171" y="4537843"/>
            <a:ext cx="829192" cy="145691"/>
            <a:chOff x="4800372" y="271747"/>
            <a:chExt cx="806733" cy="148083"/>
          </a:xfrm>
        </p:grpSpPr>
        <p:sp>
          <p:nvSpPr>
            <p:cNvPr id="168" name="5-конечная звезда 16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5381918" y="5085184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5361970" y="5661252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8220210" y="3361577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220210" y="3931389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8246699" y="5025600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2" name="Группа 181"/>
          <p:cNvGrpSpPr/>
          <p:nvPr/>
        </p:nvGrpSpPr>
        <p:grpSpPr>
          <a:xfrm>
            <a:off x="8220210" y="5661250"/>
            <a:ext cx="664210" cy="150896"/>
            <a:chOff x="6236568" y="276066"/>
            <a:chExt cx="582325" cy="148083"/>
          </a:xfrm>
        </p:grpSpPr>
        <p:sp>
          <p:nvSpPr>
            <p:cNvPr id="183" name="5-конечная звезда 18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5" name="5-конечная звезда 18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7079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032293"/>
              </p:ext>
            </p:extLst>
          </p:nvPr>
        </p:nvGraphicFramePr>
        <p:xfrm>
          <a:off x="19100" y="548680"/>
          <a:ext cx="9124900" cy="630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55207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3995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39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Мамлютская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68,4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68,8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95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"ЦРБ района </a:t>
                      </a: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им.Г.Мусрепова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63,4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82,3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518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Тайыншинская</a:t>
                      </a: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61,0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75,0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21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Тимирязевская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55,3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370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77,1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0191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Уалихановская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270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65,9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85,4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68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СКО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КГП на ПХВ "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ЦРБ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района Шал акына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"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73,2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405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84,4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856408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ах</a:t>
                      </a: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131" name="Группа 130"/>
          <p:cNvGrpSpPr/>
          <p:nvPr/>
        </p:nvGrpSpPr>
        <p:grpSpPr>
          <a:xfrm>
            <a:off x="5361970" y="2320929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361970" y="3645024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141289" y="2996952"/>
            <a:ext cx="829192" cy="145691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099171" y="3645024"/>
            <a:ext cx="829192" cy="145691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7" name="Группа 166"/>
          <p:cNvGrpSpPr/>
          <p:nvPr/>
        </p:nvGrpSpPr>
        <p:grpSpPr>
          <a:xfrm>
            <a:off x="8099171" y="4284160"/>
            <a:ext cx="829192" cy="145691"/>
            <a:chOff x="4800372" y="271747"/>
            <a:chExt cx="806733" cy="148083"/>
          </a:xfrm>
        </p:grpSpPr>
        <p:sp>
          <p:nvSpPr>
            <p:cNvPr id="168" name="5-конечная звезда 16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5361970" y="4293096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5361970" y="4905928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8246699" y="2362495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5361970" y="2996952"/>
            <a:ext cx="664210" cy="150896"/>
            <a:chOff x="6236568" y="276066"/>
            <a:chExt cx="582325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0" name="Группа 69"/>
          <p:cNvGrpSpPr/>
          <p:nvPr/>
        </p:nvGrpSpPr>
        <p:grpSpPr>
          <a:xfrm>
            <a:off x="5283049" y="5588406"/>
            <a:ext cx="829192" cy="145691"/>
            <a:chOff x="4800372" y="271747"/>
            <a:chExt cx="806733" cy="148083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8141289" y="5598458"/>
            <a:ext cx="829192" cy="145691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7990573" y="4981375"/>
            <a:ext cx="1019335" cy="145691"/>
            <a:chOff x="7951146" y="5598458"/>
            <a:chExt cx="1019335" cy="145691"/>
          </a:xfrm>
        </p:grpSpPr>
        <p:grpSp>
          <p:nvGrpSpPr>
            <p:cNvPr id="93" name="Группа 92"/>
            <p:cNvGrpSpPr/>
            <p:nvPr/>
          </p:nvGrpSpPr>
          <p:grpSpPr>
            <a:xfrm>
              <a:off x="8141289" y="5598458"/>
              <a:ext cx="829192" cy="145691"/>
              <a:chOff x="4800372" y="271747"/>
              <a:chExt cx="806733" cy="148083"/>
            </a:xfrm>
          </p:grpSpPr>
          <p:sp>
            <p:nvSpPr>
              <p:cNvPr id="95" name="5-конечная звезда 94"/>
              <p:cNvSpPr/>
              <p:nvPr/>
            </p:nvSpPr>
            <p:spPr>
              <a:xfrm>
                <a:off x="4800372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6" name="5-конечная звезда 95"/>
              <p:cNvSpPr/>
              <p:nvPr/>
            </p:nvSpPr>
            <p:spPr>
              <a:xfrm>
                <a:off x="5024780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7" name="5-конечная звезда 96"/>
              <p:cNvSpPr/>
              <p:nvPr/>
            </p:nvSpPr>
            <p:spPr>
              <a:xfrm>
                <a:off x="5247065" y="271748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9" name="5-конечная звезда 108"/>
              <p:cNvSpPr/>
              <p:nvPr/>
            </p:nvSpPr>
            <p:spPr>
              <a:xfrm>
                <a:off x="5463089" y="271747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94" name="5-конечная звезда 93"/>
            <p:cNvSpPr/>
            <p:nvPr/>
          </p:nvSpPr>
          <p:spPr>
            <a:xfrm>
              <a:off x="7951146" y="5598460"/>
              <a:ext cx="148025" cy="145689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351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873481"/>
              </p:ext>
            </p:extLst>
          </p:nvPr>
        </p:nvGraphicFramePr>
        <p:xfrm>
          <a:off x="19100" y="548680"/>
          <a:ext cx="9124900" cy="6447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7326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462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82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«</a:t>
                      </a:r>
                      <a:r>
                        <a:rPr lang="ru-RU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Арысская</a:t>
                      </a:r>
                      <a:r>
                        <a:rPr lang="ru-RU" sz="11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больница» </a:t>
                      </a: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УЗ Туркестанской области</a:t>
                      </a:r>
                    </a:p>
                    <a:p>
                      <a:pPr algn="ctr" fontAlgn="t"/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75,6%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54,2%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82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Байдибекская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 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68,3%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894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Казыгуртская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63,4%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43,8%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77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Жетысайская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78,0%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42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Ордабасинская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63,4%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39,6%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046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Отрарская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58,5%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295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61,5%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559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Сайрамская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68,3%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52,1%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61833730"/>
                  </a:ext>
                </a:extLst>
              </a:tr>
              <a:tr h="774355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ах</a:t>
                      </a: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5296232" y="2204864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342807" y="2888699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339643" y="4623615"/>
            <a:ext cx="664210" cy="150896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5343213" y="5238346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5343213" y="5833843"/>
            <a:ext cx="664210" cy="150896"/>
            <a:chOff x="6236568" y="276066"/>
            <a:chExt cx="582325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8203036" y="4077072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8220210" y="5243688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2" name="Группа 181"/>
          <p:cNvGrpSpPr/>
          <p:nvPr/>
        </p:nvGrpSpPr>
        <p:grpSpPr>
          <a:xfrm>
            <a:off x="8226195" y="5833847"/>
            <a:ext cx="664210" cy="150896"/>
            <a:chOff x="6236568" y="276066"/>
            <a:chExt cx="582325" cy="148083"/>
          </a:xfrm>
        </p:grpSpPr>
        <p:sp>
          <p:nvSpPr>
            <p:cNvPr id="183" name="5-конечная звезда 18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5" name="5-конечная звезда 18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8362032" y="4683534"/>
            <a:ext cx="417809" cy="150895"/>
            <a:chOff x="6236568" y="276067"/>
            <a:chExt cx="366301" cy="148082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8330898" y="3445052"/>
            <a:ext cx="417809" cy="150895"/>
            <a:chOff x="6236568" y="276067"/>
            <a:chExt cx="366301" cy="148082"/>
          </a:xfrm>
        </p:grpSpPr>
        <p:sp>
          <p:nvSpPr>
            <p:cNvPr id="70" name="5-конечная звезда 6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8203036" y="2888697"/>
            <a:ext cx="664210" cy="150896"/>
            <a:chOff x="6236568" y="276066"/>
            <a:chExt cx="582325" cy="148083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8223780" y="2204866"/>
            <a:ext cx="664210" cy="150896"/>
            <a:chOff x="6236568" y="276066"/>
            <a:chExt cx="582325" cy="148083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5260316" y="4006830"/>
            <a:ext cx="829192" cy="145691"/>
            <a:chOff x="4800372" y="271747"/>
            <a:chExt cx="806733" cy="148083"/>
          </a:xfrm>
        </p:grpSpPr>
        <p:sp>
          <p:nvSpPr>
            <p:cNvPr id="90" name="5-конечная звезда 8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5342807" y="3445053"/>
            <a:ext cx="664210" cy="150896"/>
            <a:chOff x="6236568" y="276066"/>
            <a:chExt cx="582325" cy="148083"/>
          </a:xfrm>
        </p:grpSpPr>
        <p:sp>
          <p:nvSpPr>
            <p:cNvPr id="96" name="5-конечная звезда 9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244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центральных районных больниц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293151"/>
              </p:ext>
            </p:extLst>
          </p:nvPr>
        </p:nvGraphicFramePr>
        <p:xfrm>
          <a:off x="19100" y="548680"/>
          <a:ext cx="9124900" cy="630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22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87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302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67594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</a:p>
                    <a:p>
                      <a:pPr algn="ctr"/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1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r>
                        <a:rPr lang="ru-RU" sz="11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                       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606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ПБ*100</a:t>
                      </a: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КР(%)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=ФБ/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00" b="1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ахПБ</a:t>
                      </a:r>
                      <a:r>
                        <a:rPr lang="ru-RU" sz="10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*100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05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4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Сайрамская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районная больница "Карабулак"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75,6%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43,8%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203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Сарыагашская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58,5%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50,0%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537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Келесская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районная больница" Абай" 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58,5%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58,3%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4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Сузакская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63,4%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41,7%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20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Тюлькубасская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75,6%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62,5%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70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Туркестанская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ГКП на ПХВ "</a:t>
                      </a:r>
                      <a:r>
                        <a:rPr lang="ru-RU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Шардаринская</a:t>
                      </a:r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 центральная районная больница" УЗ Туркестанской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63,4%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340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70,8%</a:t>
                      </a:r>
                      <a:endParaRPr lang="ru-RU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196433"/>
                  </a:ext>
                </a:extLst>
              </a:tr>
              <a:tr h="858851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ах</a:t>
                      </a:r>
                      <a:r>
                        <a:rPr lang="en-US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 - максимальный пороговый балл; ФБ - фактический балл; КР – коэффициент результативности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385407"/>
                  </a:ext>
                </a:extLst>
              </a:tr>
            </a:tbl>
          </a:graphicData>
        </a:graphic>
      </p:graphicFrame>
      <p:grpSp>
        <p:nvGrpSpPr>
          <p:cNvPr id="79" name="Группа 78"/>
          <p:cNvGrpSpPr/>
          <p:nvPr/>
        </p:nvGrpSpPr>
        <p:grpSpPr>
          <a:xfrm>
            <a:off x="8058798" y="5589240"/>
            <a:ext cx="829192" cy="145691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5342807" y="3625638"/>
            <a:ext cx="664210" cy="150896"/>
            <a:chOff x="6236568" y="276066"/>
            <a:chExt cx="582325" cy="148083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5343213" y="5589240"/>
            <a:ext cx="664210" cy="150896"/>
            <a:chOff x="6236568" y="276066"/>
            <a:chExt cx="582325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8185822" y="2964144"/>
            <a:ext cx="664210" cy="150896"/>
            <a:chOff x="6236568" y="276066"/>
            <a:chExt cx="582325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343213" y="2964146"/>
            <a:ext cx="664210" cy="150896"/>
            <a:chOff x="6236568" y="276066"/>
            <a:chExt cx="582325" cy="148083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8312592" y="4217648"/>
            <a:ext cx="417809" cy="150895"/>
            <a:chOff x="6236568" y="276067"/>
            <a:chExt cx="366301" cy="148082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8335872" y="2204868"/>
            <a:ext cx="417809" cy="150895"/>
            <a:chOff x="6236568" y="276067"/>
            <a:chExt cx="366301" cy="148082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5264292" y="4941168"/>
            <a:ext cx="829192" cy="145691"/>
            <a:chOff x="4800372" y="271747"/>
            <a:chExt cx="806733" cy="148083"/>
          </a:xfrm>
        </p:grpSpPr>
        <p:sp>
          <p:nvSpPr>
            <p:cNvPr id="90" name="5-конечная звезда 8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5342807" y="4293096"/>
            <a:ext cx="664210" cy="150896"/>
            <a:chOff x="6236568" y="276066"/>
            <a:chExt cx="582325" cy="148083"/>
          </a:xfrm>
        </p:grpSpPr>
        <p:sp>
          <p:nvSpPr>
            <p:cNvPr id="96" name="5-конечная звезда 9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0" name="Группа 59"/>
          <p:cNvGrpSpPr/>
          <p:nvPr/>
        </p:nvGrpSpPr>
        <p:grpSpPr>
          <a:xfrm>
            <a:off x="8206823" y="3550189"/>
            <a:ext cx="664210" cy="150896"/>
            <a:chOff x="6236568" y="276066"/>
            <a:chExt cx="582325" cy="148083"/>
          </a:xfrm>
        </p:grpSpPr>
        <p:sp>
          <p:nvSpPr>
            <p:cNvPr id="61" name="5-конечная звезда 6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206823" y="4865722"/>
            <a:ext cx="664210" cy="150896"/>
            <a:chOff x="6236568" y="276066"/>
            <a:chExt cx="582325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5263886" y="2232984"/>
            <a:ext cx="829192" cy="145691"/>
            <a:chOff x="4800372" y="271747"/>
            <a:chExt cx="806733" cy="148083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45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</TotalTime>
  <Words>4323</Words>
  <Application>Microsoft Office PowerPoint</Application>
  <PresentationFormat>Экран (4:3)</PresentationFormat>
  <Paragraphs>1477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РЕСПУБЛИКАНСКИЙ ЦЕНТР РАЗВИТИЯ ЗДРАВООХРАНЕНИЯ МИНИСТЕРСТВА ЗДРАВООХРАНЕНИЯ РЕСПУБЛИКИ КАЗАХСТАН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  <vt:lpstr>Итоги распределения звезд центральных районных больниц по итогам 2018 года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РЕСПУБЛИКАНСКИЙ ЦЕНТР РАЗВИТИЯ ЗДРАВООХРАНЕНИЯ МИНИСТЕРСТВА ЗДРАВООХРАНЕНИЯ РЕСПУБЛИКИ КАЗАХСТАН</dc:title>
  <dc:creator>Елюбаев Асанали Санатович</dc:creator>
  <cp:lastModifiedBy>Елюбаев Асанали Санатович</cp:lastModifiedBy>
  <cp:revision>192</cp:revision>
  <dcterms:created xsi:type="dcterms:W3CDTF">2018-06-05T11:39:25Z</dcterms:created>
  <dcterms:modified xsi:type="dcterms:W3CDTF">2019-07-08T13:06:22Z</dcterms:modified>
</cp:coreProperties>
</file>